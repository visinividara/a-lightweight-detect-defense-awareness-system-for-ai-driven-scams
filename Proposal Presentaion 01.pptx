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69" r:id="rId6"/>
    <p:sldId id="258" r:id="rId7"/>
    <p:sldId id="270" r:id="rId8"/>
    <p:sldId id="259" r:id="rId9"/>
    <p:sldId id="271" r:id="rId10"/>
    <p:sldId id="260" r:id="rId11"/>
    <p:sldId id="272" r:id="rId12"/>
    <p:sldId id="273" r:id="rId13"/>
    <p:sldId id="261" r:id="rId14"/>
    <p:sldId id="274" r:id="rId15"/>
    <p:sldId id="275" r:id="rId16"/>
    <p:sldId id="262" r:id="rId17"/>
    <p:sldId id="276" r:id="rId18"/>
    <p:sldId id="277" r:id="rId19"/>
    <p:sldId id="278" r:id="rId20"/>
    <p:sldId id="263" r:id="rId21"/>
    <p:sldId id="279" r:id="rId22"/>
    <p:sldId id="264" r:id="rId23"/>
    <p:sldId id="281" r:id="rId24"/>
    <p:sldId id="280" r:id="rId25"/>
    <p:sldId id="265" r:id="rId26"/>
    <p:sldId id="282" r:id="rId27"/>
    <p:sldId id="266" r:id="rId28"/>
    <p:sldId id="267" r:id="rId29"/>
    <p:sldId id="268" r:id="rId30"/>
    <p:sldId id="283" r:id="rId31"/>
    <p:sldId id="284"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93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272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41E45-134F-14E7-C374-802452218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BA56B-C1D6-F6FF-8BBD-39967A6BD5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B620E6-DE50-37CB-17E3-22C7D61042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FFD54D-B8FB-2AB5-43EE-56927AE0281A}"/>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83098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1304B-8A54-9E7E-46EE-78D20752F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50C32-6827-A44B-528D-5CDD8F36F6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5BCAE6-4D8E-77A5-9201-C9FB21D0FA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E5E631-BE90-1CDB-4475-49B1D0915C9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84845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AB6FD-61CA-F2A0-2FE2-BD6F5182A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F979C-EFE2-DB5D-D0F7-3493AE97F1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3CDB66-1EC9-095E-34FB-209353888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587E54-F00D-7A03-98BD-E5E3BD10042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12864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2FCD-864A-F2F4-7B5A-906CB4EF7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AE3DD-30EB-6150-E2EB-F3FCD8ADE2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8919E9-A25A-DFC6-FA69-D3494B8E94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304E59-30CC-07F4-BC0C-FD1F213789D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32455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6DAC-6C74-39BC-6A5E-861E79BA5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59FF9-1A83-D4A4-C9EE-11DE0F21F4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E0022F-F996-F5AB-78B5-3CAECC2420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F93AE2-36B6-4ED0-03DB-A08D4D35BCA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3490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CF6C-619A-B3AA-F419-B55DB2457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A9754-5D8E-52EB-0111-F52370ED90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450599-B34E-8AF4-3DBD-58334D89C8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D12AB-59A9-31E6-6A35-5CD6263F6C7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59551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D180F-432B-F0B8-F1DC-89C697E29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EF78A-D17E-4E37-3A5B-028CC70451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12D26F-DA3F-CF7A-9870-E0E727BB1C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4DE7E2-68CC-0091-21B0-A73545801C9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065464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36A1-A4B9-244E-5E9F-3884E8507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B7415-E39C-2FA2-B1A9-E6E39C6E4C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C238A9-7523-567D-C35F-8AE78DFBE5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C34B1-C7C9-D8F5-BE9F-C94F2F5EB32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77674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0055D-8067-996A-4DFB-38C4D75CD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F6EEC-B63C-9CDE-BCAA-653DA292FE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A63F82-D595-5201-72EF-D401D6587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00C3-D498-878D-F62B-9145EB7595B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222476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69AB0-2D45-46EE-53D8-D49CE195A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A3EBA-8EAA-62B1-F4F5-D08CD2DFB1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71BF70-B976-E32D-AB25-A08ACA0FD9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D1C9F1-98A6-E2C4-6694-4F5B45D54DC3}"/>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52192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FEF5F-83C5-7FC4-64CF-402DA2478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0C9B2-F0F5-A13E-53BE-FD0019114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254D8B-070D-ED0D-5644-549577FA79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0CB30C-F92F-1C6C-FCA7-D554569FAF0D}"/>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82757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3EC3-2CA3-9359-41A2-E67EB88AF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9625C-A718-5623-E1B6-98F4834886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BCA21-FEF2-D15C-3703-134DFEAE0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5A5A0-508A-7869-83CD-51A6035A0D3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44365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5ECFC-1D66-34CA-1340-C5E9656C3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317D2-7F4F-0E88-3AA5-008133F1CA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1377FC-7665-886F-9DC9-8BD32D5F89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EEE9A1-2C2F-568C-2318-80D251983FF1}"/>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090489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B4FE9-1310-CABF-2660-EB2288E4A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039AB-ED7A-A42B-B06E-26418FCF11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0AD7C1-C996-7FD9-22BD-7607BF5F5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D128F9-D2B8-DFFF-7ECA-B68E936D09C3}"/>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677808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61D70-33ED-FAD3-ADB2-B827B9F59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99FCF-B6AD-6F1A-5A0A-37D28D4886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C90103-9DD4-D879-1EEB-8D22209AC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16B096-0E26-7535-381A-A35B6638888A}"/>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4122067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p:spPr>
        <p:txBody>
          <a:bodyPr/>
          <a:lstStyle/>
          <a:p>
            <a:endParaRPr lang="en-US"/>
          </a:p>
        </p:txBody>
      </p:sp>
      <p:sp>
        <p:nvSpPr>
          <p:cNvPr id="3" name="Shape 1"/>
          <p:cNvSpPr/>
          <p:nvPr/>
        </p:nvSpPr>
        <p:spPr>
          <a:xfrm>
            <a:off x="6583680" y="-731520"/>
            <a:ext cx="4114800" cy="4114800"/>
          </a:xfrm>
          <a:prstGeom prst="ellipse">
            <a:avLst/>
          </a:prstGeom>
          <a:solidFill>
            <a:srgbClr val="0A9396">
              <a:alpha val="20000"/>
            </a:srgbClr>
          </a:solidFill>
          <a:ln/>
        </p:spPr>
        <p:txBody>
          <a:bodyPr/>
          <a:lstStyle/>
          <a:p>
            <a:endParaRPr lang="en-US"/>
          </a:p>
        </p:txBody>
      </p:sp>
      <p:sp>
        <p:nvSpPr>
          <p:cNvPr id="4" name="Shape 2"/>
          <p:cNvSpPr/>
          <p:nvPr/>
        </p:nvSpPr>
        <p:spPr>
          <a:xfrm>
            <a:off x="7132320" y="2560320"/>
            <a:ext cx="2743200" cy="2743200"/>
          </a:xfrm>
          <a:prstGeom prst="ellipse">
            <a:avLst/>
          </a:prstGeom>
          <a:solidFill>
            <a:srgbClr val="EE9B00">
              <a:alpha val="15000"/>
            </a:srgbClr>
          </a:solidFill>
          <a:ln/>
        </p:spPr>
        <p:txBody>
          <a:bodyPr/>
          <a:lstStyle/>
          <a:p>
            <a:endParaRPr lang="en-US"/>
          </a:p>
        </p:txBody>
      </p:sp>
      <p:sp>
        <p:nvSpPr>
          <p:cNvPr id="5" name="Text 3"/>
          <p:cNvSpPr/>
          <p:nvPr/>
        </p:nvSpPr>
        <p:spPr>
          <a:xfrm>
            <a:off x="457200" y="914400"/>
            <a:ext cx="8229600" cy="777240"/>
          </a:xfrm>
          <a:prstGeom prst="rect">
            <a:avLst/>
          </a:prstGeom>
          <a:noFill/>
          <a:ln/>
        </p:spPr>
        <p:txBody>
          <a:bodyPr wrap="square" lIns="0" tIns="0" rIns="0" bIns="0" rtlCol="0" anchor="ctr"/>
          <a:lstStyle/>
          <a:p>
            <a:pPr marL="0" indent="0" algn="l">
              <a:buNone/>
            </a:pPr>
            <a:r>
              <a:rPr lang="en-US" sz="3600" b="1" dirty="0">
                <a:solidFill>
                  <a:srgbClr val="FFFFFF"/>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A Lightweight Defense Framework</a:t>
            </a:r>
            <a:endParaRPr lang="en-US"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4"/>
          <p:cNvSpPr/>
          <p:nvPr/>
        </p:nvSpPr>
        <p:spPr>
          <a:xfrm>
            <a:off x="457200" y="1691640"/>
            <a:ext cx="8229600" cy="685800"/>
          </a:xfrm>
          <a:prstGeom prst="rect">
            <a:avLst/>
          </a:prstGeom>
          <a:noFill/>
          <a:ln/>
        </p:spPr>
        <p:txBody>
          <a:bodyPr wrap="square" lIns="0" tIns="0" rIns="0" bIns="0" rtlCol="0" anchor="ctr"/>
          <a:lstStyle/>
          <a:p>
            <a:pPr marL="0" indent="0" algn="l">
              <a:buNone/>
            </a:pPr>
            <a:r>
              <a:rPr lang="en-US" sz="3600" b="1" dirty="0">
                <a:solidFill>
                  <a:schemeClr val="bg1"/>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for AI-Driven Scams</a:t>
            </a:r>
            <a:endParaRPr lang="en-US" sz="3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Shape 5"/>
          <p:cNvSpPr/>
          <p:nvPr/>
        </p:nvSpPr>
        <p:spPr>
          <a:xfrm>
            <a:off x="457200" y="2560320"/>
            <a:ext cx="5029200" cy="45720"/>
          </a:xfrm>
          <a:prstGeom prst="rect">
            <a:avLst/>
          </a:prstGeom>
          <a:solidFill>
            <a:srgbClr val="94D2BD"/>
          </a:solidFill>
          <a:ln/>
        </p:spPr>
        <p:txBody>
          <a:bodyPr/>
          <a:lstStyle/>
          <a:p>
            <a:endParaRPr lang="en-US"/>
          </a:p>
        </p:txBody>
      </p:sp>
      <p:sp>
        <p:nvSpPr>
          <p:cNvPr id="8" name="Text 6"/>
          <p:cNvSpPr/>
          <p:nvPr/>
        </p:nvSpPr>
        <p:spPr>
          <a:xfrm>
            <a:off x="457200" y="2743200"/>
            <a:ext cx="8229600" cy="822960"/>
          </a:xfrm>
          <a:prstGeom prst="rect">
            <a:avLst/>
          </a:prstGeom>
          <a:noFill/>
          <a:ln/>
        </p:spPr>
        <p:txBody>
          <a:bodyPr wrap="square" lIns="0" tIns="0" rIns="0" bIns="0" rtlCol="0" anchor="ctr"/>
          <a:lstStyle/>
          <a:p>
            <a:pPr marL="0" indent="0" algn="l">
              <a:buNone/>
            </a:pPr>
            <a:r>
              <a:rPr lang="en-US" sz="2800" b="1" dirty="0">
                <a:solidFill>
                  <a:srgbClr val="94D2BD"/>
                </a:solidFill>
                <a:latin typeface="Times New Roman" panose="02020603050405020304" pitchFamily="18" charset="0"/>
                <a:ea typeface="Calibri" pitchFamily="34" charset="-122"/>
                <a:cs typeface="Times New Roman" panose="02020603050405020304" pitchFamily="18" charset="0"/>
              </a:rPr>
              <a:t>Project ID – R26 – CS-011</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6582FEE-6F01-57C6-A717-541F64DDC47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FC4FE8-B600-E962-11AD-DF06127F63DB}"/>
              </a:ext>
            </a:extLst>
          </p:cNvPr>
          <p:cNvSpPr/>
          <p:nvPr/>
        </p:nvSpPr>
        <p:spPr>
          <a:xfrm>
            <a:off x="0" y="0"/>
            <a:ext cx="9144000" cy="685800"/>
          </a:xfrm>
          <a:prstGeom prst="rect">
            <a:avLst/>
          </a:prstGeom>
          <a:solidFill>
            <a:srgbClr val="0D1B2A"/>
          </a:solidFill>
          <a:ln/>
        </p:spPr>
        <p:txBody>
          <a:bodyPr/>
          <a:lstStyle/>
          <a:p>
            <a:endParaRPr lang="en-US"/>
          </a:p>
        </p:txBody>
      </p:sp>
      <p:sp>
        <p:nvSpPr>
          <p:cNvPr id="3" name="Text 1">
            <a:extLst>
              <a:ext uri="{FF2B5EF4-FFF2-40B4-BE49-F238E27FC236}">
                <a16:creationId xmlns:a16="http://schemas.microsoft.com/office/drawing/2014/main" id="{76E2482F-8BD8-6CAB-3385-C9BD8851099C}"/>
              </a:ext>
            </a:extLst>
          </p:cNvPr>
          <p:cNvSpPr/>
          <p:nvPr/>
        </p:nvSpPr>
        <p:spPr>
          <a:xfrm>
            <a:off x="365760" y="0"/>
            <a:ext cx="84124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Lightweight Defense Framework for AI-Driven Scams</a:t>
            </a:r>
          </a:p>
          <a:p>
            <a:pPr marL="0" indent="0">
              <a:buNone/>
            </a:pPr>
            <a:r>
              <a:rPr lang="en-US" sz="2600" b="1" dirty="0">
                <a:solidFill>
                  <a:srgbClr val="FFFFFF"/>
                </a:solidFill>
                <a:latin typeface="Calibri" pitchFamily="34" charset="0"/>
                <a:ea typeface="Calibri" pitchFamily="34" charset="-122"/>
                <a:cs typeface="Calibri" pitchFamily="34" charset="-120"/>
              </a:rPr>
              <a:t>Introduction</a:t>
            </a:r>
            <a:endParaRPr lang="en-US" sz="2600" dirty="0"/>
          </a:p>
        </p:txBody>
      </p:sp>
      <p:sp>
        <p:nvSpPr>
          <p:cNvPr id="7" name="Shape 5">
            <a:extLst>
              <a:ext uri="{FF2B5EF4-FFF2-40B4-BE49-F238E27FC236}">
                <a16:creationId xmlns:a16="http://schemas.microsoft.com/office/drawing/2014/main" id="{2913DE05-B19C-B673-459C-B0954386ED5D}"/>
              </a:ext>
            </a:extLst>
          </p:cNvPr>
          <p:cNvSpPr/>
          <p:nvPr/>
        </p:nvSpPr>
        <p:spPr>
          <a:xfrm>
            <a:off x="3749040" y="742068"/>
            <a:ext cx="512064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8" name="Shape 6">
            <a:extLst>
              <a:ext uri="{FF2B5EF4-FFF2-40B4-BE49-F238E27FC236}">
                <a16:creationId xmlns:a16="http://schemas.microsoft.com/office/drawing/2014/main" id="{10B1381C-EDE4-09DA-DBC0-77FEC87D3E2E}"/>
              </a:ext>
            </a:extLst>
          </p:cNvPr>
          <p:cNvSpPr/>
          <p:nvPr/>
        </p:nvSpPr>
        <p:spPr>
          <a:xfrm>
            <a:off x="3749040" y="749102"/>
            <a:ext cx="64008" cy="749808"/>
          </a:xfrm>
          <a:prstGeom prst="rect">
            <a:avLst/>
          </a:prstGeom>
          <a:solidFill>
            <a:srgbClr val="EE9B00"/>
          </a:solidFill>
          <a:ln/>
        </p:spPr>
        <p:txBody>
          <a:bodyPr/>
          <a:lstStyle/>
          <a:p>
            <a:endParaRPr lang="en-US"/>
          </a:p>
        </p:txBody>
      </p:sp>
      <p:sp>
        <p:nvSpPr>
          <p:cNvPr id="9" name="Text 7">
            <a:extLst>
              <a:ext uri="{FF2B5EF4-FFF2-40B4-BE49-F238E27FC236}">
                <a16:creationId xmlns:a16="http://schemas.microsoft.com/office/drawing/2014/main" id="{90CF7BBC-3909-6A08-D08C-118EE515F159}"/>
              </a:ext>
            </a:extLst>
          </p:cNvPr>
          <p:cNvSpPr/>
          <p:nvPr/>
        </p:nvSpPr>
        <p:spPr>
          <a:xfrm>
            <a:off x="3886200" y="742068"/>
            <a:ext cx="4937760" cy="749808"/>
          </a:xfrm>
          <a:prstGeom prst="rect">
            <a:avLst/>
          </a:prstGeom>
          <a:noFill/>
          <a:ln/>
        </p:spPr>
        <p:txBody>
          <a:bodyPr wrap="square" lIns="50800" tIns="50800" rIns="50800" bIns="508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AI technologies increasingly used by cybercriminals to generate highly convincing scam &amp; phishing messages.</a:t>
            </a:r>
            <a:endParaRPr lang="en-US" sz="1200" dirty="0"/>
          </a:p>
        </p:txBody>
      </p:sp>
      <p:sp>
        <p:nvSpPr>
          <p:cNvPr id="10" name="Shape 8">
            <a:extLst>
              <a:ext uri="{FF2B5EF4-FFF2-40B4-BE49-F238E27FC236}">
                <a16:creationId xmlns:a16="http://schemas.microsoft.com/office/drawing/2014/main" id="{E28DC4C0-60DF-73E0-FC15-326C58FB442F}"/>
              </a:ext>
            </a:extLst>
          </p:cNvPr>
          <p:cNvSpPr/>
          <p:nvPr/>
        </p:nvSpPr>
        <p:spPr>
          <a:xfrm>
            <a:off x="3749040" y="1551667"/>
            <a:ext cx="512064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Shape 9">
            <a:extLst>
              <a:ext uri="{FF2B5EF4-FFF2-40B4-BE49-F238E27FC236}">
                <a16:creationId xmlns:a16="http://schemas.microsoft.com/office/drawing/2014/main" id="{77B0950E-49E0-DC4F-07CE-94B73DAA23AC}"/>
              </a:ext>
            </a:extLst>
          </p:cNvPr>
          <p:cNvSpPr/>
          <p:nvPr/>
        </p:nvSpPr>
        <p:spPr>
          <a:xfrm>
            <a:off x="3746578" y="1551671"/>
            <a:ext cx="64008" cy="749808"/>
          </a:xfrm>
          <a:prstGeom prst="rect">
            <a:avLst/>
          </a:prstGeom>
          <a:solidFill>
            <a:srgbClr val="EE9B00"/>
          </a:solidFill>
          <a:ln/>
        </p:spPr>
        <p:txBody>
          <a:bodyPr/>
          <a:lstStyle/>
          <a:p>
            <a:endParaRPr lang="en-US"/>
          </a:p>
        </p:txBody>
      </p:sp>
      <p:sp>
        <p:nvSpPr>
          <p:cNvPr id="12" name="Text 10">
            <a:extLst>
              <a:ext uri="{FF2B5EF4-FFF2-40B4-BE49-F238E27FC236}">
                <a16:creationId xmlns:a16="http://schemas.microsoft.com/office/drawing/2014/main" id="{63F9458C-80F7-B02D-9842-4BB78540B536}"/>
              </a:ext>
            </a:extLst>
          </p:cNvPr>
          <p:cNvSpPr/>
          <p:nvPr/>
        </p:nvSpPr>
        <p:spPr>
          <a:xfrm>
            <a:off x="3886200" y="1551667"/>
            <a:ext cx="4937760" cy="749808"/>
          </a:xfrm>
          <a:prstGeom prst="rect">
            <a:avLst/>
          </a:prstGeom>
          <a:noFill/>
          <a:ln/>
        </p:spPr>
        <p:txBody>
          <a:bodyPr wrap="square" lIns="50800" tIns="50800" rIns="50800" bIns="508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SL-CERT has reported a significant rise in phishing and online scam incidents in Sri Lanka.</a:t>
            </a:r>
            <a:endParaRPr lang="en-US" sz="1200" dirty="0"/>
          </a:p>
        </p:txBody>
      </p:sp>
      <p:sp>
        <p:nvSpPr>
          <p:cNvPr id="13" name="Shape 11">
            <a:extLst>
              <a:ext uri="{FF2B5EF4-FFF2-40B4-BE49-F238E27FC236}">
                <a16:creationId xmlns:a16="http://schemas.microsoft.com/office/drawing/2014/main" id="{2D152CA3-44BC-E269-9310-945F6EBDD0C4}"/>
              </a:ext>
            </a:extLst>
          </p:cNvPr>
          <p:cNvSpPr/>
          <p:nvPr/>
        </p:nvSpPr>
        <p:spPr>
          <a:xfrm>
            <a:off x="3749040" y="2375329"/>
            <a:ext cx="512064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Shape 12">
            <a:extLst>
              <a:ext uri="{FF2B5EF4-FFF2-40B4-BE49-F238E27FC236}">
                <a16:creationId xmlns:a16="http://schemas.microsoft.com/office/drawing/2014/main" id="{323CE085-5887-AF35-E7FD-F3EDFF83BA4B}"/>
              </a:ext>
            </a:extLst>
          </p:cNvPr>
          <p:cNvSpPr/>
          <p:nvPr/>
        </p:nvSpPr>
        <p:spPr>
          <a:xfrm>
            <a:off x="3749040" y="2375329"/>
            <a:ext cx="64008" cy="749808"/>
          </a:xfrm>
          <a:prstGeom prst="rect">
            <a:avLst/>
          </a:prstGeom>
          <a:solidFill>
            <a:srgbClr val="EE9B00"/>
          </a:solidFill>
          <a:ln/>
        </p:spPr>
        <p:txBody>
          <a:bodyPr/>
          <a:lstStyle/>
          <a:p>
            <a:endParaRPr lang="en-US"/>
          </a:p>
        </p:txBody>
      </p:sp>
      <p:sp>
        <p:nvSpPr>
          <p:cNvPr id="15" name="Text 13">
            <a:extLst>
              <a:ext uri="{FF2B5EF4-FFF2-40B4-BE49-F238E27FC236}">
                <a16:creationId xmlns:a16="http://schemas.microsoft.com/office/drawing/2014/main" id="{AE4AFA3C-1086-66A7-2CF6-ED6E7E2416D4}"/>
              </a:ext>
            </a:extLst>
          </p:cNvPr>
          <p:cNvSpPr/>
          <p:nvPr/>
        </p:nvSpPr>
        <p:spPr>
          <a:xfrm>
            <a:off x="3886200" y="2375329"/>
            <a:ext cx="4937760" cy="749808"/>
          </a:xfrm>
          <a:prstGeom prst="rect">
            <a:avLst/>
          </a:prstGeom>
          <a:noFill/>
          <a:ln/>
        </p:spPr>
        <p:txBody>
          <a:bodyPr wrap="square" lIns="50800" tIns="50800" rIns="50800" bIns="508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Scams lead to financial losses, identity theft, data breaches, and reduced trust in digital platforms.</a:t>
            </a:r>
            <a:endParaRPr lang="en-US" sz="1200" dirty="0"/>
          </a:p>
        </p:txBody>
      </p:sp>
      <p:sp>
        <p:nvSpPr>
          <p:cNvPr id="16" name="Shape 14">
            <a:extLst>
              <a:ext uri="{FF2B5EF4-FFF2-40B4-BE49-F238E27FC236}">
                <a16:creationId xmlns:a16="http://schemas.microsoft.com/office/drawing/2014/main" id="{148B1FD9-B179-D047-CB90-36847FA7BA5D}"/>
              </a:ext>
            </a:extLst>
          </p:cNvPr>
          <p:cNvSpPr/>
          <p:nvPr/>
        </p:nvSpPr>
        <p:spPr>
          <a:xfrm>
            <a:off x="3749040" y="3220095"/>
            <a:ext cx="512064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Shape 15">
            <a:extLst>
              <a:ext uri="{FF2B5EF4-FFF2-40B4-BE49-F238E27FC236}">
                <a16:creationId xmlns:a16="http://schemas.microsoft.com/office/drawing/2014/main" id="{C320DE6B-42D8-5947-4C79-9FA5F7338C9F}"/>
              </a:ext>
            </a:extLst>
          </p:cNvPr>
          <p:cNvSpPr/>
          <p:nvPr/>
        </p:nvSpPr>
        <p:spPr>
          <a:xfrm>
            <a:off x="3749040" y="3220095"/>
            <a:ext cx="64008" cy="749808"/>
          </a:xfrm>
          <a:prstGeom prst="rect">
            <a:avLst/>
          </a:prstGeom>
          <a:solidFill>
            <a:srgbClr val="EE9B00"/>
          </a:solidFill>
          <a:ln/>
        </p:spPr>
        <p:txBody>
          <a:bodyPr/>
          <a:lstStyle/>
          <a:p>
            <a:endParaRPr lang="en-US"/>
          </a:p>
        </p:txBody>
      </p:sp>
      <p:sp>
        <p:nvSpPr>
          <p:cNvPr id="18" name="Text 16">
            <a:extLst>
              <a:ext uri="{FF2B5EF4-FFF2-40B4-BE49-F238E27FC236}">
                <a16:creationId xmlns:a16="http://schemas.microsoft.com/office/drawing/2014/main" id="{018C0BF6-FF39-3473-2077-59802840E8E0}"/>
              </a:ext>
            </a:extLst>
          </p:cNvPr>
          <p:cNvSpPr/>
          <p:nvPr/>
        </p:nvSpPr>
        <p:spPr>
          <a:xfrm>
            <a:off x="3886200" y="3220095"/>
            <a:ext cx="4937760" cy="749808"/>
          </a:xfrm>
          <a:prstGeom prst="rect">
            <a:avLst/>
          </a:prstGeom>
          <a:noFill/>
          <a:ln/>
        </p:spPr>
        <p:txBody>
          <a:bodyPr wrap="square" lIns="50800" tIns="50800" rIns="50800" bIns="508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Existing solutions focus on network/malware attacks — not AI-driven social engineering.</a:t>
            </a:r>
            <a:endParaRPr lang="en-US" sz="1200" dirty="0"/>
          </a:p>
        </p:txBody>
      </p:sp>
      <p:sp>
        <p:nvSpPr>
          <p:cNvPr id="21" name="Shape 14">
            <a:extLst>
              <a:ext uri="{FF2B5EF4-FFF2-40B4-BE49-F238E27FC236}">
                <a16:creationId xmlns:a16="http://schemas.microsoft.com/office/drawing/2014/main" id="{5A6C5329-F371-3BCA-C926-220D07ABAE86}"/>
              </a:ext>
            </a:extLst>
          </p:cNvPr>
          <p:cNvSpPr/>
          <p:nvPr/>
        </p:nvSpPr>
        <p:spPr>
          <a:xfrm>
            <a:off x="3749040" y="4097681"/>
            <a:ext cx="5120640" cy="749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sz="1200" dirty="0">
              <a:solidFill>
                <a:srgbClr val="1E293B"/>
              </a:solidFill>
              <a:latin typeface="Calibri" pitchFamily="34" charset="0"/>
              <a:ea typeface="Calibri" pitchFamily="34" charset="-122"/>
              <a:cs typeface="Calibri" pitchFamily="34" charset="-120"/>
            </a:endParaRPr>
          </a:p>
          <a:p>
            <a:r>
              <a:rPr lang="en-US" sz="1200" dirty="0">
                <a:solidFill>
                  <a:srgbClr val="1E293B"/>
                </a:solidFill>
                <a:latin typeface="Calibri" pitchFamily="34" charset="0"/>
                <a:ea typeface="Calibri" pitchFamily="34" charset="-122"/>
                <a:cs typeface="Calibri" pitchFamily="34" charset="-120"/>
              </a:rPr>
              <a:t>   Users: Individuals &amp; SMBs  </a:t>
            </a:r>
          </a:p>
          <a:p>
            <a:r>
              <a:rPr lang="en-US" sz="1200" dirty="0">
                <a:solidFill>
                  <a:srgbClr val="1E293B"/>
                </a:solidFill>
                <a:latin typeface="Calibri" pitchFamily="34" charset="0"/>
                <a:ea typeface="Calibri" pitchFamily="34" charset="-122"/>
                <a:cs typeface="Calibri" pitchFamily="34" charset="-120"/>
              </a:rPr>
              <a:t>   Stakeholders: Platform providers, cybersecurity orgs, regulatory authorities</a:t>
            </a:r>
          </a:p>
        </p:txBody>
      </p:sp>
      <p:sp>
        <p:nvSpPr>
          <p:cNvPr id="22" name="Shape 15">
            <a:extLst>
              <a:ext uri="{FF2B5EF4-FFF2-40B4-BE49-F238E27FC236}">
                <a16:creationId xmlns:a16="http://schemas.microsoft.com/office/drawing/2014/main" id="{3C049510-FFCA-9D87-D0CC-3CE463BBC8A6}"/>
              </a:ext>
            </a:extLst>
          </p:cNvPr>
          <p:cNvSpPr/>
          <p:nvPr/>
        </p:nvSpPr>
        <p:spPr>
          <a:xfrm>
            <a:off x="3743530" y="4095102"/>
            <a:ext cx="64008" cy="749808"/>
          </a:xfrm>
          <a:prstGeom prst="rect">
            <a:avLst/>
          </a:prstGeom>
          <a:solidFill>
            <a:srgbClr val="EE9B00"/>
          </a:solidFill>
          <a:ln/>
        </p:spPr>
        <p:txBody>
          <a:bodyPr/>
          <a:lstStyle/>
          <a:p>
            <a:endParaRPr lang="en-US"/>
          </a:p>
        </p:txBody>
      </p:sp>
      <p:sp>
        <p:nvSpPr>
          <p:cNvPr id="23" name="TextBox 22">
            <a:extLst>
              <a:ext uri="{FF2B5EF4-FFF2-40B4-BE49-F238E27FC236}">
                <a16:creationId xmlns:a16="http://schemas.microsoft.com/office/drawing/2014/main" id="{38132C0B-AFA4-FCB8-55E6-EC31153DE03B}"/>
              </a:ext>
            </a:extLst>
          </p:cNvPr>
          <p:cNvSpPr txBox="1"/>
          <p:nvPr/>
        </p:nvSpPr>
        <p:spPr>
          <a:xfrm>
            <a:off x="3025139" y="4820037"/>
            <a:ext cx="3215640" cy="338554"/>
          </a:xfrm>
          <a:prstGeom prst="rect">
            <a:avLst/>
          </a:prstGeom>
          <a:noFill/>
        </p:spPr>
        <p:txBody>
          <a:bodyPr wrap="square" rtlCol="0">
            <a:spAutoFit/>
          </a:bodyPr>
          <a:lstStyle/>
          <a:p>
            <a:pPr algn="ctr"/>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pic>
        <p:nvPicPr>
          <p:cNvPr id="9218" name="Picture 2" descr="Scam - Myth Png, Transparent Png - kindpng">
            <a:extLst>
              <a:ext uri="{FF2B5EF4-FFF2-40B4-BE49-F238E27FC236}">
                <a16:creationId xmlns:a16="http://schemas.microsoft.com/office/drawing/2014/main" id="{FEA65057-E457-E6DC-1F84-BF1617F20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6" y="1613460"/>
            <a:ext cx="3531200" cy="227457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35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a:t>
            </a:r>
            <a:r>
              <a:rPr lang="en-US" sz="1400" b="1" dirty="0">
                <a:solidFill>
                  <a:srgbClr val="FFFFFF"/>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Lightweight Defense Framework for AI-Driven Scams</a:t>
            </a:r>
          </a:p>
          <a:p>
            <a:pPr marL="0" indent="0">
              <a:buNone/>
            </a:pPr>
            <a:r>
              <a:rPr lang="en-US" sz="2400" b="1" dirty="0">
                <a:solidFill>
                  <a:srgbClr val="FFFFFF"/>
                </a:solidFill>
                <a:latin typeface="Calibri" pitchFamily="34" charset="0"/>
                <a:ea typeface="Calibri" pitchFamily="34" charset="-122"/>
                <a:cs typeface="Calibri" pitchFamily="34" charset="-120"/>
              </a:rPr>
              <a:t>Existing Solutions &amp; Their Limitations</a:t>
            </a:r>
            <a:endParaRPr lang="en-US" sz="2400" dirty="0"/>
          </a:p>
        </p:txBody>
      </p:sp>
      <p:sp>
        <p:nvSpPr>
          <p:cNvPr id="4" name="Shape 2"/>
          <p:cNvSpPr/>
          <p:nvPr/>
        </p:nvSpPr>
        <p:spPr>
          <a:xfrm>
            <a:off x="274320" y="868680"/>
            <a:ext cx="3840480" cy="39319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868680"/>
            <a:ext cx="3840480" cy="457200"/>
          </a:xfrm>
          <a:prstGeom prst="rect">
            <a:avLst/>
          </a:prstGeom>
          <a:solidFill>
            <a:srgbClr val="0A9396"/>
          </a:solidFill>
          <a:ln/>
        </p:spPr>
        <p:txBody>
          <a:bodyPr/>
          <a:lstStyle/>
          <a:p>
            <a:endParaRPr lang="en-US"/>
          </a:p>
        </p:txBody>
      </p:sp>
      <p:sp>
        <p:nvSpPr>
          <p:cNvPr id="6" name="Text 4"/>
          <p:cNvSpPr/>
          <p:nvPr/>
        </p:nvSpPr>
        <p:spPr>
          <a:xfrm>
            <a:off x="274320" y="868680"/>
            <a:ext cx="3840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Current Security Tools</a:t>
            </a:r>
            <a:endParaRPr lang="en-US" sz="1400" dirty="0"/>
          </a:p>
        </p:txBody>
      </p:sp>
      <p:sp>
        <p:nvSpPr>
          <p:cNvPr id="7" name="Text 5"/>
          <p:cNvSpPr/>
          <p:nvPr/>
        </p:nvSpPr>
        <p:spPr>
          <a:xfrm>
            <a:off x="457200" y="1463040"/>
            <a:ext cx="3474720" cy="475488"/>
          </a:xfrm>
          <a:prstGeom prst="rect">
            <a:avLst/>
          </a:prstGeom>
          <a:noFill/>
          <a:ln/>
        </p:spPr>
        <p:txBody>
          <a:bodyPr wrap="square" lIns="50800" tIns="50800" rIns="50800" bIns="5080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1. Firewalls</a:t>
            </a:r>
            <a:endParaRPr lang="en-US" sz="1300" dirty="0"/>
          </a:p>
        </p:txBody>
      </p:sp>
      <p:sp>
        <p:nvSpPr>
          <p:cNvPr id="8" name="Text 6"/>
          <p:cNvSpPr/>
          <p:nvPr/>
        </p:nvSpPr>
        <p:spPr>
          <a:xfrm>
            <a:off x="457200" y="2048256"/>
            <a:ext cx="3474720" cy="475488"/>
          </a:xfrm>
          <a:prstGeom prst="rect">
            <a:avLst/>
          </a:prstGeom>
          <a:noFill/>
          <a:ln/>
        </p:spPr>
        <p:txBody>
          <a:bodyPr wrap="square" lIns="50800" tIns="50800" rIns="50800" bIns="5080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2. Intrusion Detection Systems (IDS)</a:t>
            </a:r>
            <a:endParaRPr lang="en-US" sz="1300" dirty="0"/>
          </a:p>
        </p:txBody>
      </p:sp>
      <p:sp>
        <p:nvSpPr>
          <p:cNvPr id="9" name="Text 7"/>
          <p:cNvSpPr/>
          <p:nvPr/>
        </p:nvSpPr>
        <p:spPr>
          <a:xfrm>
            <a:off x="457200" y="2633472"/>
            <a:ext cx="3474720" cy="475488"/>
          </a:xfrm>
          <a:prstGeom prst="rect">
            <a:avLst/>
          </a:prstGeom>
          <a:noFill/>
          <a:ln/>
        </p:spPr>
        <p:txBody>
          <a:bodyPr wrap="square" lIns="50800" tIns="50800" rIns="50800" bIns="5080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3. Intrusion Prevention Systems (IPS)</a:t>
            </a:r>
            <a:endParaRPr lang="en-US" sz="1300" dirty="0"/>
          </a:p>
        </p:txBody>
      </p:sp>
      <p:sp>
        <p:nvSpPr>
          <p:cNvPr id="10" name="Text 8"/>
          <p:cNvSpPr/>
          <p:nvPr/>
        </p:nvSpPr>
        <p:spPr>
          <a:xfrm>
            <a:off x="457200" y="3218688"/>
            <a:ext cx="3474720" cy="475488"/>
          </a:xfrm>
          <a:prstGeom prst="rect">
            <a:avLst/>
          </a:prstGeom>
          <a:noFill/>
          <a:ln/>
        </p:spPr>
        <p:txBody>
          <a:bodyPr wrap="square" lIns="50800" tIns="50800" rIns="50800" bIns="5080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4. Endpoint Detection &amp; Response (EDR)</a:t>
            </a:r>
            <a:endParaRPr lang="en-US" sz="1300" dirty="0"/>
          </a:p>
        </p:txBody>
      </p:sp>
      <p:sp>
        <p:nvSpPr>
          <p:cNvPr id="11" name="Text 9"/>
          <p:cNvSpPr/>
          <p:nvPr/>
        </p:nvSpPr>
        <p:spPr>
          <a:xfrm>
            <a:off x="457200" y="3803904"/>
            <a:ext cx="3474720" cy="475488"/>
          </a:xfrm>
          <a:prstGeom prst="rect">
            <a:avLst/>
          </a:prstGeom>
          <a:noFill/>
          <a:ln/>
        </p:spPr>
        <p:txBody>
          <a:bodyPr wrap="square" lIns="50800" tIns="50800" rIns="50800" bIns="5080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5. Spam Filtering Systems</a:t>
            </a:r>
            <a:endParaRPr lang="en-US" sz="1300" dirty="0"/>
          </a:p>
        </p:txBody>
      </p:sp>
      <p:sp>
        <p:nvSpPr>
          <p:cNvPr id="12" name="Shape 10"/>
          <p:cNvSpPr/>
          <p:nvPr/>
        </p:nvSpPr>
        <p:spPr>
          <a:xfrm>
            <a:off x="4572000" y="868680"/>
            <a:ext cx="4297680" cy="39319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4572000" y="868680"/>
            <a:ext cx="4297680" cy="457200"/>
          </a:xfrm>
          <a:prstGeom prst="rect">
            <a:avLst/>
          </a:prstGeom>
          <a:solidFill>
            <a:srgbClr val="EE9B00"/>
          </a:solidFill>
          <a:ln/>
        </p:spPr>
        <p:txBody>
          <a:bodyPr/>
          <a:lstStyle/>
          <a:p>
            <a:endParaRPr lang="en-US"/>
          </a:p>
        </p:txBody>
      </p:sp>
      <p:sp>
        <p:nvSpPr>
          <p:cNvPr id="14" name="Text 12"/>
          <p:cNvSpPr/>
          <p:nvPr/>
        </p:nvSpPr>
        <p:spPr>
          <a:xfrm>
            <a:off x="4572000" y="868680"/>
            <a:ext cx="4297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Limitations</a:t>
            </a:r>
            <a:endParaRPr lang="en-US" sz="1400" dirty="0"/>
          </a:p>
        </p:txBody>
      </p:sp>
      <p:sp>
        <p:nvSpPr>
          <p:cNvPr id="15" name="Shape 13"/>
          <p:cNvSpPr/>
          <p:nvPr/>
        </p:nvSpPr>
        <p:spPr>
          <a:xfrm>
            <a:off x="4663440" y="1435608"/>
            <a:ext cx="228600" cy="228600"/>
          </a:xfrm>
          <a:prstGeom prst="ellipse">
            <a:avLst/>
          </a:prstGeom>
          <a:solidFill>
            <a:srgbClr val="EE9B00"/>
          </a:solidFill>
          <a:ln/>
        </p:spPr>
        <p:txBody>
          <a:bodyPr/>
          <a:lstStyle/>
          <a:p>
            <a:endParaRPr lang="en-US"/>
          </a:p>
        </p:txBody>
      </p:sp>
      <p:sp>
        <p:nvSpPr>
          <p:cNvPr id="16" name="Text 14"/>
          <p:cNvSpPr/>
          <p:nvPr/>
        </p:nvSpPr>
        <p:spPr>
          <a:xfrm>
            <a:off x="4983480" y="1345543"/>
            <a:ext cx="3749040" cy="566928"/>
          </a:xfrm>
          <a:prstGeom prst="rect">
            <a:avLst/>
          </a:prstGeom>
          <a:noFill/>
          <a:ln/>
        </p:spPr>
        <p:txBody>
          <a:bodyPr wrap="square" lIns="25400" tIns="25400" rIns="25400" bIns="254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Focus mainly on network-level or system-level attacks</a:t>
            </a:r>
            <a:endParaRPr lang="en-US" sz="1200" dirty="0"/>
          </a:p>
        </p:txBody>
      </p:sp>
      <p:sp>
        <p:nvSpPr>
          <p:cNvPr id="17" name="Shape 15"/>
          <p:cNvSpPr/>
          <p:nvPr/>
        </p:nvSpPr>
        <p:spPr>
          <a:xfrm>
            <a:off x="4663440" y="2221992"/>
            <a:ext cx="228600" cy="228600"/>
          </a:xfrm>
          <a:prstGeom prst="ellipse">
            <a:avLst/>
          </a:prstGeom>
          <a:solidFill>
            <a:srgbClr val="EE9B00"/>
          </a:solidFill>
          <a:ln/>
        </p:spPr>
        <p:txBody>
          <a:bodyPr/>
          <a:lstStyle/>
          <a:p>
            <a:endParaRPr lang="en-US"/>
          </a:p>
        </p:txBody>
      </p:sp>
      <p:sp>
        <p:nvSpPr>
          <p:cNvPr id="18" name="Text 16"/>
          <p:cNvSpPr/>
          <p:nvPr/>
        </p:nvSpPr>
        <p:spPr>
          <a:xfrm>
            <a:off x="4983480" y="2185416"/>
            <a:ext cx="3749040" cy="566928"/>
          </a:xfrm>
          <a:prstGeom prst="rect">
            <a:avLst/>
          </a:prstGeom>
          <a:noFill/>
          <a:ln/>
        </p:spPr>
        <p:txBody>
          <a:bodyPr wrap="square" lIns="25400" tIns="25400" rIns="25400" bIns="254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Limited ability to detect AI-generated scam content and social engineering tactics</a:t>
            </a:r>
            <a:endParaRPr lang="en-US" sz="1200" dirty="0"/>
          </a:p>
        </p:txBody>
      </p:sp>
      <p:sp>
        <p:nvSpPr>
          <p:cNvPr id="19" name="Shape 17"/>
          <p:cNvSpPr/>
          <p:nvPr/>
        </p:nvSpPr>
        <p:spPr>
          <a:xfrm>
            <a:off x="4663440" y="3008376"/>
            <a:ext cx="228600" cy="228600"/>
          </a:xfrm>
          <a:prstGeom prst="ellipse">
            <a:avLst/>
          </a:prstGeom>
          <a:solidFill>
            <a:srgbClr val="EE9B00"/>
          </a:solidFill>
          <a:ln/>
        </p:spPr>
        <p:txBody>
          <a:bodyPr/>
          <a:lstStyle/>
          <a:p>
            <a:endParaRPr lang="en-US"/>
          </a:p>
        </p:txBody>
      </p:sp>
      <p:sp>
        <p:nvSpPr>
          <p:cNvPr id="20" name="Text 18"/>
          <p:cNvSpPr/>
          <p:nvPr/>
        </p:nvSpPr>
        <p:spPr>
          <a:xfrm>
            <a:off x="4983480" y="2971800"/>
            <a:ext cx="3749040" cy="566928"/>
          </a:xfrm>
          <a:prstGeom prst="rect">
            <a:avLst/>
          </a:prstGeom>
          <a:noFill/>
          <a:ln/>
        </p:spPr>
        <p:txBody>
          <a:bodyPr wrap="square" lIns="25400" tIns="25400" rIns="25400" bIns="254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Expensive &amp; complex for individuals and SMBs</a:t>
            </a:r>
            <a:endParaRPr lang="en-US" sz="1200" dirty="0"/>
          </a:p>
        </p:txBody>
      </p:sp>
      <p:sp>
        <p:nvSpPr>
          <p:cNvPr id="21" name="Shape 19"/>
          <p:cNvSpPr/>
          <p:nvPr/>
        </p:nvSpPr>
        <p:spPr>
          <a:xfrm>
            <a:off x="4663440" y="3794760"/>
            <a:ext cx="228600" cy="228600"/>
          </a:xfrm>
          <a:prstGeom prst="ellipse">
            <a:avLst/>
          </a:prstGeom>
          <a:solidFill>
            <a:srgbClr val="EE9B00"/>
          </a:solidFill>
          <a:ln/>
        </p:spPr>
        <p:txBody>
          <a:bodyPr/>
          <a:lstStyle/>
          <a:p>
            <a:endParaRPr lang="en-US"/>
          </a:p>
        </p:txBody>
      </p:sp>
      <p:sp>
        <p:nvSpPr>
          <p:cNvPr id="22" name="Text 20"/>
          <p:cNvSpPr/>
          <p:nvPr/>
        </p:nvSpPr>
        <p:spPr>
          <a:xfrm>
            <a:off x="4983480" y="3758184"/>
            <a:ext cx="3749040" cy="566928"/>
          </a:xfrm>
          <a:prstGeom prst="rect">
            <a:avLst/>
          </a:prstGeom>
          <a:noFill/>
          <a:ln/>
        </p:spPr>
        <p:txBody>
          <a:bodyPr wrap="square" lIns="25400" tIns="25400" rIns="25400" bIns="254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Lack of integrated, lightweight protection for scam detection &amp; user awareness</a:t>
            </a:r>
            <a:endParaRPr lang="en-US" sz="1200" dirty="0"/>
          </a:p>
        </p:txBody>
      </p:sp>
      <p:sp>
        <p:nvSpPr>
          <p:cNvPr id="23" name="TextBox 22">
            <a:extLst>
              <a:ext uri="{FF2B5EF4-FFF2-40B4-BE49-F238E27FC236}">
                <a16:creationId xmlns:a16="http://schemas.microsoft.com/office/drawing/2014/main" id="{BF12FE1F-9DC7-EBFF-6144-78897E243DB8}"/>
              </a:ext>
            </a:extLst>
          </p:cNvPr>
          <p:cNvSpPr txBox="1"/>
          <p:nvPr/>
        </p:nvSpPr>
        <p:spPr>
          <a:xfrm>
            <a:off x="3291839" y="4815691"/>
            <a:ext cx="3215640" cy="338554"/>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BD5462-5BBB-63AD-6597-80DA02932752}"/>
            </a:ext>
          </a:extLst>
        </p:cNvPr>
        <p:cNvGrpSpPr/>
        <p:nvPr/>
      </p:nvGrpSpPr>
      <p:grpSpPr>
        <a:xfrm>
          <a:off x="0" y="0"/>
          <a:ext cx="0" cy="0"/>
          <a:chOff x="0" y="0"/>
          <a:chExt cx="0" cy="0"/>
        </a:xfrm>
      </p:grpSpPr>
      <p:sp>
        <p:nvSpPr>
          <p:cNvPr id="1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00075" y="1118507"/>
            <a:ext cx="2500312"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4A041DB-D814-4E7A-96E8-77C20AC125E7}"/>
              </a:ext>
            </a:extLst>
          </p:cNvPr>
          <p:cNvSpPr txBox="1"/>
          <p:nvPr/>
        </p:nvSpPr>
        <p:spPr>
          <a:xfrm>
            <a:off x="771525" y="1475449"/>
            <a:ext cx="1971675" cy="1910443"/>
          </a:xfrm>
          <a:prstGeom prst="rect">
            <a:avLst/>
          </a:prstGeom>
          <a:solidFill>
            <a:srgbClr val="0A9396"/>
          </a:solidFill>
        </p:spPr>
        <p:txBody>
          <a:bodyPr vert="horz" lIns="91440" tIns="45720" rIns="91440" bIns="45720" rtlCol="0" anchor="ctr">
            <a:normAutofit/>
          </a:bodyPr>
          <a:lstStyle/>
          <a:p>
            <a:pPr algn="ctr">
              <a:lnSpc>
                <a:spcPct val="90000"/>
              </a:lnSpc>
              <a:spcBef>
                <a:spcPct val="0"/>
              </a:spcBef>
              <a:spcAft>
                <a:spcPts val="600"/>
              </a:spcAft>
            </a:pPr>
            <a:r>
              <a:rPr lang="en-US" sz="2700" b="1" kern="1200">
                <a:solidFill>
                  <a:srgbClr val="FFFFFF"/>
                </a:solidFill>
                <a:effectLst>
                  <a:outerShdw blurRad="38100" dist="38100" dir="2700000" algn="tl">
                    <a:srgbClr val="000000">
                      <a:alpha val="43137"/>
                    </a:srgbClr>
                  </a:outerShdw>
                </a:effectLst>
                <a:latin typeface="+mj-lt"/>
                <a:ea typeface="+mj-ea"/>
                <a:cs typeface="+mj-cs"/>
              </a:rPr>
              <a:t>Overview of System</a:t>
            </a:r>
            <a:endParaRPr lang="en-US" sz="2700" b="1" kern="1200" dirty="0">
              <a:solidFill>
                <a:srgbClr val="FFFFFF"/>
              </a:solidFill>
              <a:effectLst>
                <a:outerShdw blurRad="38100" dist="38100" dir="2700000" algn="tl">
                  <a:srgbClr val="000000">
                    <a:alpha val="43137"/>
                  </a:srgbClr>
                </a:outerShdw>
              </a:effectLst>
              <a:latin typeface="+mj-lt"/>
              <a:ea typeface="+mj-ea"/>
              <a:cs typeface="+mj-cs"/>
            </a:endParaRPr>
          </a:p>
        </p:txBody>
      </p:sp>
      <p:pic>
        <p:nvPicPr>
          <p:cNvPr id="6" name="Picture 5">
            <a:extLst>
              <a:ext uri="{FF2B5EF4-FFF2-40B4-BE49-F238E27FC236}">
                <a16:creationId xmlns:a16="http://schemas.microsoft.com/office/drawing/2014/main" id="{47F92E9A-C03F-3E2E-289D-6FD4C6308A8D}"/>
              </a:ext>
            </a:extLst>
          </p:cNvPr>
          <p:cNvPicPr>
            <a:picLocks noChangeAspect="1"/>
          </p:cNvPicPr>
          <p:nvPr/>
        </p:nvPicPr>
        <p:blipFill>
          <a:blip r:embed="rId3"/>
          <a:stretch>
            <a:fillRect/>
          </a:stretch>
        </p:blipFill>
        <p:spPr>
          <a:xfrm>
            <a:off x="3775470" y="421069"/>
            <a:ext cx="3227310" cy="4415992"/>
          </a:xfrm>
          <a:prstGeom prst="rect">
            <a:avLst/>
          </a:prstGeom>
        </p:spPr>
      </p:pic>
      <p:pic>
        <p:nvPicPr>
          <p:cNvPr id="7170" name="Picture 2" descr="Idea emoji">
            <a:extLst>
              <a:ext uri="{FF2B5EF4-FFF2-40B4-BE49-F238E27FC236}">
                <a16:creationId xmlns:a16="http://schemas.microsoft.com/office/drawing/2014/main" id="{FE2DF22E-30ED-296A-C179-515D8CC4F9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4223" y="3680826"/>
            <a:ext cx="1939359" cy="1156235"/>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C8FF44C-F2A4-F915-6055-E7B88C8C5981}"/>
              </a:ext>
            </a:extLst>
          </p:cNvPr>
          <p:cNvSpPr txBox="1"/>
          <p:nvPr/>
        </p:nvSpPr>
        <p:spPr>
          <a:xfrm>
            <a:off x="155034" y="48163"/>
            <a:ext cx="6418485" cy="369332"/>
          </a:xfrm>
          <a:prstGeom prst="rect">
            <a:avLst/>
          </a:prstGeom>
          <a:noFill/>
        </p:spPr>
        <p:txBody>
          <a:bodyPr wrap="square">
            <a:spAutoFit/>
          </a:bodyPr>
          <a:lstStyle/>
          <a:p>
            <a:pPr marL="0" indent="0">
              <a:buNone/>
            </a:pPr>
            <a:r>
              <a:rPr lang="en-US" sz="1800" b="1" dirty="0">
                <a:latin typeface="Calibri" pitchFamily="34" charset="0"/>
                <a:ea typeface="Calibri" pitchFamily="34" charset="-122"/>
                <a:cs typeface="Calibri" pitchFamily="34" charset="-120"/>
              </a:rPr>
              <a:t>A</a:t>
            </a:r>
            <a:r>
              <a:rPr lang="en-US" sz="1600" b="1" dirty="0">
                <a:latin typeface="Calibri" pitchFamily="34" charset="0"/>
                <a:ea typeface="Calibri" pitchFamily="34" charset="-122"/>
                <a:cs typeface="Calibri" pitchFamily="34" charset="-120"/>
              </a:rPr>
              <a:t> </a:t>
            </a:r>
            <a:r>
              <a:rPr lang="en-US" sz="1800" b="1" dirty="0">
                <a:latin typeface="Calibri" pitchFamily="34" charset="0"/>
                <a:ea typeface="Calibri" pitchFamily="34" charset="-122"/>
                <a:cs typeface="Calibri" pitchFamily="34" charset="-120"/>
              </a:rPr>
              <a:t>Lightweight Defense Framework for AI-Driven Scams</a:t>
            </a:r>
          </a:p>
        </p:txBody>
      </p:sp>
      <p:sp>
        <p:nvSpPr>
          <p:cNvPr id="24" name="TextBox 23">
            <a:extLst>
              <a:ext uri="{FF2B5EF4-FFF2-40B4-BE49-F238E27FC236}">
                <a16:creationId xmlns:a16="http://schemas.microsoft.com/office/drawing/2014/main" id="{DE3C50C9-DC38-3155-FB11-68F77419A6FA}"/>
              </a:ext>
            </a:extLst>
          </p:cNvPr>
          <p:cNvSpPr txBox="1"/>
          <p:nvPr/>
        </p:nvSpPr>
        <p:spPr>
          <a:xfrm>
            <a:off x="3291839" y="4815691"/>
            <a:ext cx="3215640" cy="338554"/>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extLst>
      <p:ext uri="{BB962C8B-B14F-4D97-AF65-F5344CB8AC3E}">
        <p14:creationId xmlns:p14="http://schemas.microsoft.com/office/powerpoint/2010/main" val="945650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9396"/>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endParaRPr lang="en-US" sz="2200" b="1" dirty="0">
              <a:solidFill>
                <a:srgbClr val="FFFFFF"/>
              </a:solidFill>
              <a:latin typeface="Calibri" pitchFamily="34" charset="0"/>
              <a:ea typeface="Calibri" pitchFamily="34" charset="-122"/>
              <a:cs typeface="Calibri" pitchFamily="34" charset="-120"/>
            </a:endParaRPr>
          </a:p>
          <a:p>
            <a:pPr marL="0" indent="0">
              <a:buNone/>
            </a:pPr>
            <a:r>
              <a:rPr lang="en-US" sz="2200" b="1" dirty="0">
                <a:solidFill>
                  <a:srgbClr val="FFFFFF"/>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How Our Framework Overcomes the Limitations</a:t>
            </a:r>
            <a:endParaRPr lang="en-US" sz="2200" dirty="0">
              <a:effectLst>
                <a:outerShdw blurRad="38100" dist="38100" dir="2700000" algn="tl">
                  <a:srgbClr val="000000">
                    <a:alpha val="43137"/>
                  </a:srgbClr>
                </a:outerShdw>
              </a:effectLst>
            </a:endParaRPr>
          </a:p>
        </p:txBody>
      </p:sp>
      <p:sp>
        <p:nvSpPr>
          <p:cNvPr id="4" name="Shape 2"/>
          <p:cNvSpPr/>
          <p:nvPr/>
        </p:nvSpPr>
        <p:spPr>
          <a:xfrm>
            <a:off x="274320" y="868680"/>
            <a:ext cx="3566160" cy="804672"/>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868680"/>
            <a:ext cx="64008" cy="804672"/>
          </a:xfrm>
          <a:prstGeom prst="rect">
            <a:avLst/>
          </a:prstGeom>
          <a:solidFill>
            <a:srgbClr val="EE9B00"/>
          </a:solidFill>
          <a:ln/>
        </p:spPr>
        <p:txBody>
          <a:bodyPr/>
          <a:lstStyle/>
          <a:p>
            <a:endParaRPr lang="en-US"/>
          </a:p>
        </p:txBody>
      </p:sp>
      <p:sp>
        <p:nvSpPr>
          <p:cNvPr id="6" name="Text 4"/>
          <p:cNvSpPr/>
          <p:nvPr/>
        </p:nvSpPr>
        <p:spPr>
          <a:xfrm>
            <a:off x="411480" y="868680"/>
            <a:ext cx="3383280" cy="804672"/>
          </a:xfrm>
          <a:prstGeom prst="rect">
            <a:avLst/>
          </a:prstGeom>
          <a:noFill/>
          <a:ln/>
        </p:spPr>
        <p:txBody>
          <a:bodyPr wrap="square" lIns="50800" tIns="50800" rIns="50800" bIns="50800" rtlCol="0" anchor="ctr"/>
          <a:lstStyle/>
          <a:p>
            <a:pPr marL="0" indent="0">
              <a:buNone/>
            </a:pPr>
            <a:r>
              <a:rPr lang="en-US" sz="1200" dirty="0">
                <a:solidFill>
                  <a:srgbClr val="94D2BD"/>
                </a:solidFill>
                <a:latin typeface="Calibri" pitchFamily="34" charset="0"/>
                <a:ea typeface="Calibri" pitchFamily="34" charset="-122"/>
                <a:cs typeface="Calibri" pitchFamily="34" charset="-120"/>
              </a:rPr>
              <a:t>Network/system-level focus only</a:t>
            </a:r>
            <a:endParaRPr lang="en-US" sz="1200" dirty="0"/>
          </a:p>
        </p:txBody>
      </p:sp>
      <p:sp>
        <p:nvSpPr>
          <p:cNvPr id="7" name="Shape 5"/>
          <p:cNvSpPr/>
          <p:nvPr/>
        </p:nvSpPr>
        <p:spPr>
          <a:xfrm>
            <a:off x="3931920" y="1197864"/>
            <a:ext cx="457200" cy="91440"/>
          </a:xfrm>
          <a:prstGeom prst="rect">
            <a:avLst/>
          </a:prstGeom>
          <a:solidFill>
            <a:srgbClr val="EE9B00"/>
          </a:solidFill>
          <a:ln/>
        </p:spPr>
        <p:txBody>
          <a:bodyPr/>
          <a:lstStyle/>
          <a:p>
            <a:endParaRPr lang="en-US"/>
          </a:p>
        </p:txBody>
      </p:sp>
      <p:sp>
        <p:nvSpPr>
          <p:cNvPr id="8" name="Shape 6"/>
          <p:cNvSpPr/>
          <p:nvPr/>
        </p:nvSpPr>
        <p:spPr>
          <a:xfrm>
            <a:off x="4480560" y="868680"/>
            <a:ext cx="4389120" cy="804672"/>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4526280" y="868680"/>
            <a:ext cx="4297680" cy="804672"/>
          </a:xfrm>
          <a:prstGeom prst="rect">
            <a:avLst/>
          </a:prstGeom>
          <a:noFill/>
          <a:ln/>
        </p:spPr>
        <p:txBody>
          <a:bodyPr wrap="square" lIns="76200" tIns="76200" rIns="76200" bIns="762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Analyzes message content &amp; behavioral patterns to detect social engineering scams.</a:t>
            </a:r>
            <a:endParaRPr lang="en-US" sz="1200" dirty="0"/>
          </a:p>
        </p:txBody>
      </p:sp>
      <p:sp>
        <p:nvSpPr>
          <p:cNvPr id="10" name="Shape 8"/>
          <p:cNvSpPr/>
          <p:nvPr/>
        </p:nvSpPr>
        <p:spPr>
          <a:xfrm>
            <a:off x="274320" y="1865376"/>
            <a:ext cx="3566160" cy="804672"/>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74320" y="1865376"/>
            <a:ext cx="64008" cy="804672"/>
          </a:xfrm>
          <a:prstGeom prst="rect">
            <a:avLst/>
          </a:prstGeom>
          <a:solidFill>
            <a:srgbClr val="EE9B00"/>
          </a:solidFill>
          <a:ln/>
        </p:spPr>
        <p:txBody>
          <a:bodyPr/>
          <a:lstStyle/>
          <a:p>
            <a:endParaRPr lang="en-US"/>
          </a:p>
        </p:txBody>
      </p:sp>
      <p:sp>
        <p:nvSpPr>
          <p:cNvPr id="12" name="Text 10"/>
          <p:cNvSpPr/>
          <p:nvPr/>
        </p:nvSpPr>
        <p:spPr>
          <a:xfrm>
            <a:off x="411480" y="1865376"/>
            <a:ext cx="3383280" cy="804672"/>
          </a:xfrm>
          <a:prstGeom prst="rect">
            <a:avLst/>
          </a:prstGeom>
          <a:noFill/>
          <a:ln/>
        </p:spPr>
        <p:txBody>
          <a:bodyPr wrap="square" lIns="50800" tIns="50800" rIns="50800" bIns="50800" rtlCol="0" anchor="ctr"/>
          <a:lstStyle/>
          <a:p>
            <a:pPr marL="0" indent="0">
              <a:buNone/>
            </a:pPr>
            <a:r>
              <a:rPr lang="en-US" sz="1200" dirty="0">
                <a:solidFill>
                  <a:srgbClr val="94D2BD"/>
                </a:solidFill>
                <a:latin typeface="Calibri" pitchFamily="34" charset="0"/>
                <a:ea typeface="Calibri" pitchFamily="34" charset="-122"/>
                <a:cs typeface="Calibri" pitchFamily="34" charset="-120"/>
              </a:rPr>
              <a:t>Cannot detect AI-generated scam content</a:t>
            </a:r>
            <a:endParaRPr lang="en-US" sz="1200" dirty="0"/>
          </a:p>
        </p:txBody>
      </p:sp>
      <p:sp>
        <p:nvSpPr>
          <p:cNvPr id="13" name="Shape 11"/>
          <p:cNvSpPr/>
          <p:nvPr/>
        </p:nvSpPr>
        <p:spPr>
          <a:xfrm>
            <a:off x="3931920" y="2194560"/>
            <a:ext cx="457200" cy="91440"/>
          </a:xfrm>
          <a:prstGeom prst="rect">
            <a:avLst/>
          </a:prstGeom>
          <a:solidFill>
            <a:srgbClr val="EE9B00"/>
          </a:solidFill>
          <a:ln/>
        </p:spPr>
        <p:txBody>
          <a:bodyPr/>
          <a:lstStyle/>
          <a:p>
            <a:endParaRPr lang="en-US"/>
          </a:p>
        </p:txBody>
      </p:sp>
      <p:sp>
        <p:nvSpPr>
          <p:cNvPr id="14" name="Shape 12"/>
          <p:cNvSpPr/>
          <p:nvPr/>
        </p:nvSpPr>
        <p:spPr>
          <a:xfrm>
            <a:off x="4480560" y="1865376"/>
            <a:ext cx="4389120" cy="804672"/>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4526280" y="1865376"/>
            <a:ext cx="4297680" cy="804672"/>
          </a:xfrm>
          <a:prstGeom prst="rect">
            <a:avLst/>
          </a:prstGeom>
          <a:noFill/>
          <a:ln/>
        </p:spPr>
        <p:txBody>
          <a:bodyPr wrap="square" lIns="76200" tIns="76200" rIns="76200" bIns="762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Uses AI-driven risk analysis to identify suspicious language in AI-generated messages.</a:t>
            </a:r>
            <a:endParaRPr lang="en-US" sz="1200" dirty="0"/>
          </a:p>
        </p:txBody>
      </p:sp>
      <p:sp>
        <p:nvSpPr>
          <p:cNvPr id="16" name="Shape 14"/>
          <p:cNvSpPr/>
          <p:nvPr/>
        </p:nvSpPr>
        <p:spPr>
          <a:xfrm>
            <a:off x="274320" y="2862072"/>
            <a:ext cx="3566160" cy="804672"/>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274320" y="2862072"/>
            <a:ext cx="64008" cy="804672"/>
          </a:xfrm>
          <a:prstGeom prst="rect">
            <a:avLst/>
          </a:prstGeom>
          <a:solidFill>
            <a:srgbClr val="EE9B00"/>
          </a:solidFill>
          <a:ln/>
        </p:spPr>
        <p:txBody>
          <a:bodyPr/>
          <a:lstStyle/>
          <a:p>
            <a:endParaRPr lang="en-US"/>
          </a:p>
        </p:txBody>
      </p:sp>
      <p:sp>
        <p:nvSpPr>
          <p:cNvPr id="18" name="Text 16"/>
          <p:cNvSpPr/>
          <p:nvPr/>
        </p:nvSpPr>
        <p:spPr>
          <a:xfrm>
            <a:off x="411480" y="2862072"/>
            <a:ext cx="3383280" cy="804672"/>
          </a:xfrm>
          <a:prstGeom prst="rect">
            <a:avLst/>
          </a:prstGeom>
          <a:noFill/>
          <a:ln/>
        </p:spPr>
        <p:txBody>
          <a:bodyPr wrap="square" lIns="50800" tIns="50800" rIns="50800" bIns="50800" rtlCol="0" anchor="ctr"/>
          <a:lstStyle/>
          <a:p>
            <a:pPr marL="0" indent="0">
              <a:buNone/>
            </a:pPr>
            <a:r>
              <a:rPr lang="en-US" sz="1200" dirty="0">
                <a:solidFill>
                  <a:srgbClr val="94D2BD"/>
                </a:solidFill>
                <a:latin typeface="Calibri" pitchFamily="34" charset="0"/>
                <a:ea typeface="Calibri" pitchFamily="34" charset="-122"/>
                <a:cs typeface="Calibri" pitchFamily="34" charset="-120"/>
              </a:rPr>
              <a:t>Too expensive for SMBs &amp; individuals</a:t>
            </a:r>
            <a:endParaRPr lang="en-US" sz="1200" dirty="0"/>
          </a:p>
        </p:txBody>
      </p:sp>
      <p:sp>
        <p:nvSpPr>
          <p:cNvPr id="19" name="Shape 17"/>
          <p:cNvSpPr/>
          <p:nvPr/>
        </p:nvSpPr>
        <p:spPr>
          <a:xfrm>
            <a:off x="3931920" y="3191256"/>
            <a:ext cx="457200" cy="91440"/>
          </a:xfrm>
          <a:prstGeom prst="rect">
            <a:avLst/>
          </a:prstGeom>
          <a:solidFill>
            <a:srgbClr val="EE9B00"/>
          </a:solidFill>
          <a:ln/>
        </p:spPr>
        <p:txBody>
          <a:bodyPr/>
          <a:lstStyle/>
          <a:p>
            <a:endParaRPr lang="en-US"/>
          </a:p>
        </p:txBody>
      </p:sp>
      <p:sp>
        <p:nvSpPr>
          <p:cNvPr id="20" name="Shape 18"/>
          <p:cNvSpPr/>
          <p:nvPr/>
        </p:nvSpPr>
        <p:spPr>
          <a:xfrm>
            <a:off x="4480560" y="2862072"/>
            <a:ext cx="4389120" cy="804672"/>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4526280" y="2862072"/>
            <a:ext cx="4297680" cy="804672"/>
          </a:xfrm>
          <a:prstGeom prst="rect">
            <a:avLst/>
          </a:prstGeom>
          <a:noFill/>
          <a:ln/>
        </p:spPr>
        <p:txBody>
          <a:bodyPr wrap="square" lIns="76200" tIns="76200" rIns="76200" bIns="762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Lightweight, low-cost cloud-based solution accessible via simple APIs.</a:t>
            </a:r>
            <a:endParaRPr lang="en-US" sz="1200" dirty="0"/>
          </a:p>
        </p:txBody>
      </p:sp>
      <p:sp>
        <p:nvSpPr>
          <p:cNvPr id="22" name="Shape 20"/>
          <p:cNvSpPr/>
          <p:nvPr/>
        </p:nvSpPr>
        <p:spPr>
          <a:xfrm>
            <a:off x="274320" y="3858768"/>
            <a:ext cx="3566160" cy="804672"/>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274320" y="3858768"/>
            <a:ext cx="64008" cy="804672"/>
          </a:xfrm>
          <a:prstGeom prst="rect">
            <a:avLst/>
          </a:prstGeom>
          <a:solidFill>
            <a:srgbClr val="EE9B00"/>
          </a:solidFill>
          <a:ln/>
        </p:spPr>
        <p:txBody>
          <a:bodyPr/>
          <a:lstStyle/>
          <a:p>
            <a:endParaRPr lang="en-US"/>
          </a:p>
        </p:txBody>
      </p:sp>
      <p:sp>
        <p:nvSpPr>
          <p:cNvPr id="24" name="Text 22"/>
          <p:cNvSpPr/>
          <p:nvPr/>
        </p:nvSpPr>
        <p:spPr>
          <a:xfrm>
            <a:off x="411480" y="3858768"/>
            <a:ext cx="3383280" cy="804672"/>
          </a:xfrm>
          <a:prstGeom prst="rect">
            <a:avLst/>
          </a:prstGeom>
          <a:noFill/>
          <a:ln/>
        </p:spPr>
        <p:txBody>
          <a:bodyPr wrap="square" lIns="50800" tIns="50800" rIns="50800" bIns="50800" rtlCol="0" anchor="ctr"/>
          <a:lstStyle/>
          <a:p>
            <a:pPr marL="0" indent="0">
              <a:buNone/>
            </a:pPr>
            <a:r>
              <a:rPr lang="en-US" sz="1200" dirty="0">
                <a:solidFill>
                  <a:srgbClr val="94D2BD"/>
                </a:solidFill>
                <a:latin typeface="Calibri" pitchFamily="34" charset="0"/>
                <a:ea typeface="Calibri" pitchFamily="34" charset="-122"/>
                <a:cs typeface="Calibri" pitchFamily="34" charset="-120"/>
              </a:rPr>
              <a:t>No integrated scam awareness tool</a:t>
            </a:r>
            <a:endParaRPr lang="en-US" sz="1200" dirty="0"/>
          </a:p>
        </p:txBody>
      </p:sp>
      <p:sp>
        <p:nvSpPr>
          <p:cNvPr id="25" name="Shape 23"/>
          <p:cNvSpPr/>
          <p:nvPr/>
        </p:nvSpPr>
        <p:spPr>
          <a:xfrm>
            <a:off x="3931920" y="4187952"/>
            <a:ext cx="457200" cy="91440"/>
          </a:xfrm>
          <a:prstGeom prst="rect">
            <a:avLst/>
          </a:prstGeom>
          <a:solidFill>
            <a:srgbClr val="EE9B00"/>
          </a:solidFill>
          <a:ln/>
        </p:spPr>
        <p:txBody>
          <a:bodyPr/>
          <a:lstStyle/>
          <a:p>
            <a:endParaRPr lang="en-US"/>
          </a:p>
        </p:txBody>
      </p:sp>
      <p:sp>
        <p:nvSpPr>
          <p:cNvPr id="26" name="Shape 24"/>
          <p:cNvSpPr/>
          <p:nvPr/>
        </p:nvSpPr>
        <p:spPr>
          <a:xfrm>
            <a:off x="4480560" y="3858768"/>
            <a:ext cx="4389120" cy="804672"/>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27" name="Text 25"/>
          <p:cNvSpPr/>
          <p:nvPr/>
        </p:nvSpPr>
        <p:spPr>
          <a:xfrm>
            <a:off x="4526280" y="3858768"/>
            <a:ext cx="4297680" cy="804672"/>
          </a:xfrm>
          <a:prstGeom prst="rect">
            <a:avLst/>
          </a:prstGeom>
          <a:noFill/>
          <a:ln/>
        </p:spPr>
        <p:txBody>
          <a:bodyPr wrap="square" lIns="76200" tIns="76200" rIns="76200" bIns="762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Combines scam detection, path analysis &amp; human-centered awareness in one framework.</a:t>
            </a:r>
            <a:endParaRPr lang="en-US" sz="1200" dirty="0"/>
          </a:p>
        </p:txBody>
      </p:sp>
      <p:sp>
        <p:nvSpPr>
          <p:cNvPr id="28" name="TextBox 27">
            <a:extLst>
              <a:ext uri="{FF2B5EF4-FFF2-40B4-BE49-F238E27FC236}">
                <a16:creationId xmlns:a16="http://schemas.microsoft.com/office/drawing/2014/main" id="{7EC6CDA8-8186-04C3-C6AE-676AC72CD5DC}"/>
              </a:ext>
            </a:extLst>
          </p:cNvPr>
          <p:cNvSpPr txBox="1"/>
          <p:nvPr/>
        </p:nvSpPr>
        <p:spPr>
          <a:xfrm>
            <a:off x="155034" y="48163"/>
            <a:ext cx="6418485" cy="323165"/>
          </a:xfrm>
          <a:prstGeom prst="rect">
            <a:avLst/>
          </a:prstGeom>
          <a:noFill/>
        </p:spPr>
        <p:txBody>
          <a:bodyPr wrap="square">
            <a:spAutoFit/>
          </a:bodyPr>
          <a:lstStyle/>
          <a:p>
            <a:pPr marL="0" indent="0">
              <a:buNone/>
            </a:pPr>
            <a:r>
              <a:rPr lang="en-US" sz="1500" b="1" dirty="0">
                <a:solidFill>
                  <a:schemeClr val="bg1"/>
                </a:solidFill>
                <a:latin typeface="Calibri" pitchFamily="34" charset="0"/>
                <a:ea typeface="Calibri" pitchFamily="34" charset="-122"/>
                <a:cs typeface="Calibri" pitchFamily="34" charset="-120"/>
              </a:rPr>
              <a:t>  A Lightweight Defense Framework for AI-Driven Scams</a:t>
            </a:r>
          </a:p>
        </p:txBody>
      </p:sp>
      <p:sp>
        <p:nvSpPr>
          <p:cNvPr id="29" name="TextBox 28">
            <a:extLst>
              <a:ext uri="{FF2B5EF4-FFF2-40B4-BE49-F238E27FC236}">
                <a16:creationId xmlns:a16="http://schemas.microsoft.com/office/drawing/2014/main" id="{2B175BC5-1F68-0253-2598-842D1E7E3353}"/>
              </a:ext>
            </a:extLst>
          </p:cNvPr>
          <p:cNvSpPr txBox="1"/>
          <p:nvPr/>
        </p:nvSpPr>
        <p:spPr>
          <a:xfrm>
            <a:off x="3291839" y="4815691"/>
            <a:ext cx="3215640" cy="338554"/>
          </a:xfrm>
          <a:prstGeom prst="rect">
            <a:avLst/>
          </a:prstGeom>
          <a:noFill/>
        </p:spPr>
        <p:txBody>
          <a:bodyPr wrap="square" rtlCol="0">
            <a:spAutoFit/>
          </a:bodyPr>
          <a:lstStyle/>
          <a:p>
            <a:r>
              <a:rPr 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13C18F84-B6F1-B05E-131E-4DE693B7CA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C1E482-76EE-D756-7567-E6EBB8F4F0FD}"/>
              </a:ext>
            </a:extLst>
          </p:cNvPr>
          <p:cNvSpPr/>
          <p:nvPr/>
        </p:nvSpPr>
        <p:spPr>
          <a:xfrm>
            <a:off x="0" y="0"/>
            <a:ext cx="164592" cy="5143500"/>
          </a:xfrm>
          <a:prstGeom prst="rect">
            <a:avLst/>
          </a:prstGeom>
          <a:solidFill>
            <a:srgbClr val="0A9396"/>
          </a:solidFill>
          <a:ln/>
        </p:spPr>
        <p:txBody>
          <a:bodyPr/>
          <a:lstStyle/>
          <a:p>
            <a:endParaRPr lang="en-US"/>
          </a:p>
        </p:txBody>
      </p:sp>
      <p:sp>
        <p:nvSpPr>
          <p:cNvPr id="3" name="Shape 1">
            <a:extLst>
              <a:ext uri="{FF2B5EF4-FFF2-40B4-BE49-F238E27FC236}">
                <a16:creationId xmlns:a16="http://schemas.microsoft.com/office/drawing/2014/main" id="{C7CBB8E8-CCB1-0063-D363-947EFC363566}"/>
              </a:ext>
            </a:extLst>
          </p:cNvPr>
          <p:cNvSpPr/>
          <p:nvPr/>
        </p:nvSpPr>
        <p:spPr>
          <a:xfrm>
            <a:off x="6583680" y="-731520"/>
            <a:ext cx="4114800" cy="4114800"/>
          </a:xfrm>
          <a:prstGeom prst="ellipse">
            <a:avLst/>
          </a:prstGeom>
          <a:solidFill>
            <a:srgbClr val="0A9396">
              <a:alpha val="20000"/>
            </a:srgbClr>
          </a:solidFill>
          <a:ln/>
        </p:spPr>
        <p:txBody>
          <a:bodyPr/>
          <a:lstStyle/>
          <a:p>
            <a:endParaRPr lang="en-US"/>
          </a:p>
        </p:txBody>
      </p:sp>
      <p:sp>
        <p:nvSpPr>
          <p:cNvPr id="4" name="Shape 2">
            <a:extLst>
              <a:ext uri="{FF2B5EF4-FFF2-40B4-BE49-F238E27FC236}">
                <a16:creationId xmlns:a16="http://schemas.microsoft.com/office/drawing/2014/main" id="{F69CF7FF-5D04-EDCC-ACDF-503339D03659}"/>
              </a:ext>
            </a:extLst>
          </p:cNvPr>
          <p:cNvSpPr/>
          <p:nvPr/>
        </p:nvSpPr>
        <p:spPr>
          <a:xfrm>
            <a:off x="7132320" y="2560320"/>
            <a:ext cx="2743200" cy="2743200"/>
          </a:xfrm>
          <a:prstGeom prst="ellipse">
            <a:avLst/>
          </a:prstGeom>
          <a:solidFill>
            <a:srgbClr val="EE9B00">
              <a:alpha val="15000"/>
            </a:srgbClr>
          </a:solidFill>
          <a:ln/>
        </p:spPr>
        <p:txBody>
          <a:bodyPr/>
          <a:lstStyle/>
          <a:p>
            <a:endParaRPr lang="en-US"/>
          </a:p>
        </p:txBody>
      </p:sp>
      <p:sp>
        <p:nvSpPr>
          <p:cNvPr id="5" name="Text 3">
            <a:extLst>
              <a:ext uri="{FF2B5EF4-FFF2-40B4-BE49-F238E27FC236}">
                <a16:creationId xmlns:a16="http://schemas.microsoft.com/office/drawing/2014/main" id="{4CD1E6FA-2896-B1DB-98A2-257FA35B0DBB}"/>
              </a:ext>
            </a:extLst>
          </p:cNvPr>
          <p:cNvSpPr/>
          <p:nvPr/>
        </p:nvSpPr>
        <p:spPr>
          <a:xfrm>
            <a:off x="457200" y="914400"/>
            <a:ext cx="8229600" cy="777240"/>
          </a:xfrm>
          <a:prstGeom prst="rect">
            <a:avLst/>
          </a:prstGeom>
          <a:noFill/>
          <a:ln/>
        </p:spPr>
        <p:txBody>
          <a:bodyPr wrap="square" lIns="0" tIns="0" rIns="0" bIns="0" rtlCol="0" anchor="ctr"/>
          <a:lstStyle/>
          <a:p>
            <a:pPr marL="0" indent="0" algn="l">
              <a:buNone/>
            </a:pPr>
            <a:endParaRPr lang="en-US" sz="3600" dirty="0"/>
          </a:p>
        </p:txBody>
      </p:sp>
      <p:sp>
        <p:nvSpPr>
          <p:cNvPr id="6" name="Text 4">
            <a:extLst>
              <a:ext uri="{FF2B5EF4-FFF2-40B4-BE49-F238E27FC236}">
                <a16:creationId xmlns:a16="http://schemas.microsoft.com/office/drawing/2014/main" id="{CA49A791-7525-1ED9-0DA4-4E8D0E37F576}"/>
              </a:ext>
            </a:extLst>
          </p:cNvPr>
          <p:cNvSpPr/>
          <p:nvPr/>
        </p:nvSpPr>
        <p:spPr>
          <a:xfrm>
            <a:off x="457200" y="1691640"/>
            <a:ext cx="8229600" cy="685800"/>
          </a:xfrm>
          <a:prstGeom prst="rect">
            <a:avLst/>
          </a:prstGeom>
          <a:noFill/>
          <a:ln/>
        </p:spPr>
        <p:txBody>
          <a:bodyPr wrap="square" lIns="0" tIns="0" rIns="0" bIns="0" rtlCol="0" anchor="ctr"/>
          <a:lstStyle/>
          <a:p>
            <a:r>
              <a:rPr lang="en-US" sz="3600" b="1" dirty="0">
                <a:solidFill>
                  <a:srgbClr val="FFFFFF"/>
                </a:solidFill>
                <a:latin typeface="Calibri" pitchFamily="34" charset="0"/>
                <a:ea typeface="Calibri" pitchFamily="34" charset="-122"/>
                <a:cs typeface="Calibri" pitchFamily="34" charset="-120"/>
              </a:rPr>
              <a:t>AI-Generated Scam Content Risk Analysis</a:t>
            </a:r>
            <a:endParaRPr lang="en-US" sz="3600" dirty="0"/>
          </a:p>
        </p:txBody>
      </p:sp>
      <p:sp>
        <p:nvSpPr>
          <p:cNvPr id="7" name="Shape 5">
            <a:extLst>
              <a:ext uri="{FF2B5EF4-FFF2-40B4-BE49-F238E27FC236}">
                <a16:creationId xmlns:a16="http://schemas.microsoft.com/office/drawing/2014/main" id="{B82B616E-ECEF-DFF8-F03B-8CB931FA8EF8}"/>
              </a:ext>
            </a:extLst>
          </p:cNvPr>
          <p:cNvSpPr/>
          <p:nvPr/>
        </p:nvSpPr>
        <p:spPr>
          <a:xfrm>
            <a:off x="457200" y="2560320"/>
            <a:ext cx="5029200" cy="45720"/>
          </a:xfrm>
          <a:prstGeom prst="rect">
            <a:avLst/>
          </a:prstGeom>
          <a:solidFill>
            <a:srgbClr val="94D2BD"/>
          </a:solidFill>
          <a:ln/>
        </p:spPr>
        <p:txBody>
          <a:bodyPr/>
          <a:lstStyle/>
          <a:p>
            <a:endParaRPr lang="en-US"/>
          </a:p>
        </p:txBody>
      </p:sp>
      <p:sp>
        <p:nvSpPr>
          <p:cNvPr id="8" name="Text 6">
            <a:extLst>
              <a:ext uri="{FF2B5EF4-FFF2-40B4-BE49-F238E27FC236}">
                <a16:creationId xmlns:a16="http://schemas.microsoft.com/office/drawing/2014/main" id="{C8B14257-C295-3F11-7F9B-84AFB76D0D6F}"/>
              </a:ext>
            </a:extLst>
          </p:cNvPr>
          <p:cNvSpPr/>
          <p:nvPr/>
        </p:nvSpPr>
        <p:spPr>
          <a:xfrm>
            <a:off x="457200" y="2743200"/>
            <a:ext cx="8229600" cy="990600"/>
          </a:xfrm>
          <a:prstGeom prst="rect">
            <a:avLst/>
          </a:prstGeom>
          <a:noFill/>
          <a:ln/>
        </p:spPr>
        <p:txBody>
          <a:bodyPr wrap="square" lIns="0" tIns="0" rIns="0" bIns="0" rtlCol="0" anchor="ctr"/>
          <a:lstStyle/>
          <a:p>
            <a:r>
              <a:rPr lang="en-US" sz="2000" b="1" dirty="0">
                <a:solidFill>
                  <a:srgbClr val="0A9396"/>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Aberathna H.M.M.K  |  IT22277268  |  </a:t>
            </a:r>
            <a:endPar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endParaRPr>
          </a:p>
          <a:p>
            <a:pPr marL="0" indent="0" algn="l">
              <a:buNone/>
            </a:pPr>
            <a:r>
              <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BSc (Hons) in Information Technology – Cyber Security</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D12D6C6D-80A8-C606-8046-34A915EDED30}"/>
              </a:ext>
            </a:extLst>
          </p:cNvPr>
          <p:cNvSpPr/>
          <p:nvPr/>
        </p:nvSpPr>
        <p:spPr>
          <a:xfrm>
            <a:off x="457200" y="4572000"/>
            <a:ext cx="8229600" cy="365760"/>
          </a:xfrm>
          <a:prstGeom prst="rect">
            <a:avLst/>
          </a:prstGeom>
          <a:noFill/>
          <a:ln/>
        </p:spPr>
        <p:txBody>
          <a:bodyPr wrap="square" lIns="0" tIns="0" rIns="0" bIns="0" rtlCol="0" anchor="ctr"/>
          <a:lstStyle/>
          <a:p>
            <a:pPr marL="0" indent="0" algn="l">
              <a:buNone/>
            </a:pPr>
            <a:endParaRPr lang="en-US" sz="1100" dirty="0"/>
          </a:p>
        </p:txBody>
      </p:sp>
      <p:sp>
        <p:nvSpPr>
          <p:cNvPr id="10" name="TextBox 9">
            <a:extLst>
              <a:ext uri="{FF2B5EF4-FFF2-40B4-BE49-F238E27FC236}">
                <a16:creationId xmlns:a16="http://schemas.microsoft.com/office/drawing/2014/main" id="{D7AE3570-90F7-82C0-C5CE-26DCCCEC8432}"/>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solidFill>
                  <a:schemeClr val="bg1"/>
                </a:solidFill>
                <a:latin typeface="Calibri" pitchFamily="34" charset="0"/>
                <a:ea typeface="Calibri" pitchFamily="34" charset="-122"/>
                <a:cs typeface="Calibri" pitchFamily="34" charset="-120"/>
              </a:rPr>
              <a:t>IT22277268 | Manodya Kavindi | R26-CS-011</a:t>
            </a:r>
            <a:endParaRPr lang="en-US" sz="1200" dirty="0">
              <a:solidFill>
                <a:schemeClr val="bg1"/>
              </a:solidFill>
            </a:endParaRPr>
          </a:p>
        </p:txBody>
      </p:sp>
      <p:pic>
        <p:nvPicPr>
          <p:cNvPr id="12" name="Picture 11">
            <a:extLst>
              <a:ext uri="{FF2B5EF4-FFF2-40B4-BE49-F238E27FC236}">
                <a16:creationId xmlns:a16="http://schemas.microsoft.com/office/drawing/2014/main" id="{E21A15E9-FF48-768B-BC65-79D69EB47842}"/>
              </a:ext>
            </a:extLst>
          </p:cNvPr>
          <p:cNvPicPr>
            <a:picLocks noChangeAspect="1"/>
          </p:cNvPicPr>
          <p:nvPr/>
        </p:nvPicPr>
        <p:blipFill>
          <a:blip r:embed="rId3"/>
          <a:srcRect l="16238" r="31743" b="60752"/>
          <a:stretch>
            <a:fillRect/>
          </a:stretch>
        </p:blipFill>
        <p:spPr>
          <a:xfrm>
            <a:off x="7526386" y="324410"/>
            <a:ext cx="1279989" cy="12287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49602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1"/>
            <a:ext cx="9144000" cy="81686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AI-Generated Scam Content Risk Analysis</a:t>
            </a:r>
            <a:endParaRPr lang="en-US" sz="1400" dirty="0"/>
          </a:p>
          <a:p>
            <a:r>
              <a:rPr lang="en-US" sz="2800" b="1" dirty="0">
                <a:solidFill>
                  <a:srgbClr val="FFFFFF"/>
                </a:solidFill>
                <a:latin typeface="Calibri" pitchFamily="34" charset="0"/>
                <a:ea typeface="Calibri" pitchFamily="34" charset="-122"/>
                <a:cs typeface="Calibri" pitchFamily="34" charset="-120"/>
              </a:rPr>
              <a:t>Problem</a:t>
            </a:r>
            <a:r>
              <a:rPr lang="en-US" sz="2800" dirty="0">
                <a:solidFill>
                  <a:schemeClr val="bg1"/>
                </a:solidFill>
              </a:rPr>
              <a:t> </a:t>
            </a:r>
            <a:r>
              <a:rPr lang="en-US" sz="2800" b="1" dirty="0">
                <a:solidFill>
                  <a:srgbClr val="FFFFFF"/>
                </a:solidFill>
                <a:latin typeface="Calibri" pitchFamily="34" charset="0"/>
                <a:ea typeface="Calibri" pitchFamily="34" charset="-122"/>
                <a:cs typeface="Calibri" pitchFamily="34" charset="-120"/>
              </a:rPr>
              <a:t>statement</a:t>
            </a:r>
          </a:p>
        </p:txBody>
      </p:sp>
      <p:sp>
        <p:nvSpPr>
          <p:cNvPr id="5" name="Shape 3"/>
          <p:cNvSpPr/>
          <p:nvPr/>
        </p:nvSpPr>
        <p:spPr>
          <a:xfrm>
            <a:off x="274320" y="1135380"/>
            <a:ext cx="8595360" cy="14127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274320" y="1143000"/>
            <a:ext cx="73152" cy="1405128"/>
          </a:xfrm>
          <a:prstGeom prst="rect">
            <a:avLst/>
          </a:prstGeom>
          <a:solidFill>
            <a:srgbClr val="EE9B00"/>
          </a:solidFill>
          <a:ln/>
        </p:spPr>
        <p:txBody>
          <a:bodyPr/>
          <a:lstStyle/>
          <a:p>
            <a:endParaRPr lang="en-US"/>
          </a:p>
        </p:txBody>
      </p:sp>
      <p:sp>
        <p:nvSpPr>
          <p:cNvPr id="8" name="Text 6"/>
          <p:cNvSpPr/>
          <p:nvPr/>
        </p:nvSpPr>
        <p:spPr>
          <a:xfrm>
            <a:off x="457200" y="1490472"/>
            <a:ext cx="8321040" cy="685800"/>
          </a:xfrm>
          <a:prstGeom prst="rect">
            <a:avLst/>
          </a:prstGeom>
          <a:noFill/>
          <a:ln/>
        </p:spPr>
        <p:txBody>
          <a:bodyPr wrap="square" lIns="0" tIns="0" rIns="0" bIns="0" rtlCol="0" anchor="ctr"/>
          <a:lstStyle/>
          <a:p>
            <a:pPr marL="0" indent="0" algn="just">
              <a:buNone/>
            </a:pPr>
            <a:r>
              <a:rPr lang="en-US" sz="2000" dirty="0">
                <a:solidFill>
                  <a:srgbClr val="1E293B"/>
                </a:solidFill>
                <a:latin typeface="Times New Roman" panose="02020603050405020304" pitchFamily="18" charset="0"/>
                <a:ea typeface="Calibri" pitchFamily="34" charset="-122"/>
                <a:cs typeface="Times New Roman" panose="02020603050405020304" pitchFamily="18" charset="0"/>
              </a:rPr>
              <a:t>AI-generated scam content (deepfakes, fake voice messages, fraudulent ads) tricks users into sharing sensitive information. Traditional tools focus on malware and cannot identify persuasive scam media on social platforms or messaging apps.</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F366C4F-102C-8594-1828-4CF13E790B9A}"/>
              </a:ext>
            </a:extLst>
          </p:cNvPr>
          <p:cNvSpPr txBox="1"/>
          <p:nvPr/>
        </p:nvSpPr>
        <p:spPr>
          <a:xfrm>
            <a:off x="2636520" y="4807958"/>
            <a:ext cx="4518660" cy="276999"/>
          </a:xfrm>
          <a:prstGeom prst="rect">
            <a:avLst/>
          </a:prstGeom>
          <a:noFill/>
        </p:spPr>
        <p:txBody>
          <a:bodyPr wrap="square" rtlCol="0">
            <a:spAutoFit/>
          </a:bodyPr>
          <a:lstStyle/>
          <a:p>
            <a:pPr algn="ctr"/>
            <a:r>
              <a:rPr lang="en-US" sz="1200" b="1" dirty="0">
                <a:solidFill>
                  <a:schemeClr val="tx1">
                    <a:lumMod val="85000"/>
                    <a:lumOff val="15000"/>
                  </a:schemeClr>
                </a:solidFill>
                <a:latin typeface="Calibri" pitchFamily="34" charset="0"/>
                <a:ea typeface="Calibri" pitchFamily="34" charset="-122"/>
                <a:cs typeface="Calibri" pitchFamily="34" charset="-120"/>
              </a:rPr>
              <a:t>IT22277268 | Manodya Kavindi | R26-CS-011</a:t>
            </a:r>
            <a:endParaRPr lang="en-US" sz="1200" dirty="0">
              <a:solidFill>
                <a:schemeClr val="tx1">
                  <a:lumMod val="85000"/>
                  <a:lumOff val="15000"/>
                </a:schemeClr>
              </a:solidFill>
            </a:endParaRPr>
          </a:p>
        </p:txBody>
      </p:sp>
      <p:pic>
        <p:nvPicPr>
          <p:cNvPr id="2050" name="Picture 2" descr="Thinking Shocked Open Mouth - Sticker Thinking Emoji Transparent PNG -  384x384 - Free Download on NicePNG">
            <a:extLst>
              <a:ext uri="{FF2B5EF4-FFF2-40B4-BE49-F238E27FC236}">
                <a16:creationId xmlns:a16="http://schemas.microsoft.com/office/drawing/2014/main" id="{F5DF9B7F-9DDC-9BE3-674B-BA752B7C2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3560" y="2822435"/>
            <a:ext cx="2849880" cy="14249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85C752-576B-E70A-6B06-6796630B5907}"/>
            </a:ext>
          </a:extLst>
        </p:cNvPr>
        <p:cNvGrpSpPr/>
        <p:nvPr/>
      </p:nvGrpSpPr>
      <p:grpSpPr>
        <a:xfrm>
          <a:off x="0" y="0"/>
          <a:ext cx="0" cy="0"/>
          <a:chOff x="0" y="0"/>
          <a:chExt cx="0" cy="0"/>
        </a:xfrm>
      </p:grpSpPr>
      <p:sp>
        <p:nvSpPr>
          <p:cNvPr id="4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00075" y="1118507"/>
            <a:ext cx="2500312"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8FCF7A08-DAF2-C4CE-0A48-98DEE938878F}"/>
              </a:ext>
            </a:extLst>
          </p:cNvPr>
          <p:cNvSpPr txBox="1"/>
          <p:nvPr/>
        </p:nvSpPr>
        <p:spPr>
          <a:xfrm>
            <a:off x="771525" y="1475449"/>
            <a:ext cx="1971675" cy="1910443"/>
          </a:xfrm>
          <a:prstGeom prst="rect">
            <a:avLst/>
          </a:prstGeom>
          <a:solidFill>
            <a:srgbClr val="0A9396"/>
          </a:solidFill>
        </p:spPr>
        <p:txBody>
          <a:bodyPr vert="horz" lIns="91440" tIns="45720" rIns="91440" bIns="45720" rtlCol="0" anchor="ctr">
            <a:normAutofit/>
          </a:bodyPr>
          <a:lstStyle/>
          <a:p>
            <a:pPr algn="ctr">
              <a:lnSpc>
                <a:spcPct val="90000"/>
              </a:lnSpc>
              <a:spcBef>
                <a:spcPct val="0"/>
              </a:spcBef>
              <a:spcAft>
                <a:spcPts val="600"/>
              </a:spcAft>
            </a:pPr>
            <a:r>
              <a:rPr lang="en-US" sz="2700" kern="1200" dirty="0">
                <a:solidFill>
                  <a:srgbClr val="FFFFFF"/>
                </a:solidFill>
                <a:latin typeface="+mj-lt"/>
                <a:ea typeface="+mj-ea"/>
                <a:cs typeface="+mj-cs"/>
              </a:rPr>
              <a:t>System Diagram</a:t>
            </a:r>
          </a:p>
        </p:txBody>
      </p:sp>
      <p:pic>
        <p:nvPicPr>
          <p:cNvPr id="43" name="Picture 42">
            <a:extLst>
              <a:ext uri="{FF2B5EF4-FFF2-40B4-BE49-F238E27FC236}">
                <a16:creationId xmlns:a16="http://schemas.microsoft.com/office/drawing/2014/main" id="{A9085599-23AB-4692-16AF-6E2DD75B7B13}"/>
              </a:ext>
            </a:extLst>
          </p:cNvPr>
          <p:cNvPicPr>
            <a:picLocks noChangeAspect="1"/>
          </p:cNvPicPr>
          <p:nvPr/>
        </p:nvPicPr>
        <p:blipFill>
          <a:blip r:embed="rId3"/>
          <a:stretch>
            <a:fillRect/>
          </a:stretch>
        </p:blipFill>
        <p:spPr>
          <a:xfrm>
            <a:off x="4444678" y="194458"/>
            <a:ext cx="3460831" cy="4754584"/>
          </a:xfrm>
          <a:prstGeom prst="rect">
            <a:avLst/>
          </a:prstGeom>
        </p:spPr>
      </p:pic>
      <p:sp>
        <p:nvSpPr>
          <p:cNvPr id="46" name="Shape 0">
            <a:extLst>
              <a:ext uri="{FF2B5EF4-FFF2-40B4-BE49-F238E27FC236}">
                <a16:creationId xmlns:a16="http://schemas.microsoft.com/office/drawing/2014/main" id="{7F631C52-C8AB-3042-697D-D13105C2E1F2}"/>
              </a:ext>
            </a:extLst>
          </p:cNvPr>
          <p:cNvSpPr/>
          <p:nvPr/>
        </p:nvSpPr>
        <p:spPr>
          <a:xfrm>
            <a:off x="0" y="1"/>
            <a:ext cx="4444678" cy="402335"/>
          </a:xfrm>
          <a:prstGeom prst="rect">
            <a:avLst/>
          </a:prstGeom>
          <a:solidFill>
            <a:schemeClr val="bg1"/>
          </a:solidFill>
          <a:ln/>
        </p:spPr>
        <p:txBody>
          <a:bodyPr/>
          <a:lstStyle/>
          <a:p>
            <a:r>
              <a:rPr lang="en-US" sz="1400" b="1" dirty="0">
                <a:solidFill>
                  <a:sysClr val="windowText" lastClr="000000"/>
                </a:solidFill>
                <a:latin typeface="Calibri" pitchFamily="34" charset="0"/>
                <a:ea typeface="Calibri" pitchFamily="34" charset="-122"/>
                <a:cs typeface="Calibri" pitchFamily="34" charset="-120"/>
              </a:rPr>
              <a:t>AI-Generated Scam Content Risk Analysis</a:t>
            </a:r>
            <a:endParaRPr lang="en-US" sz="1400" dirty="0">
              <a:solidFill>
                <a:sysClr val="windowText" lastClr="000000"/>
              </a:solidFill>
            </a:endParaRPr>
          </a:p>
        </p:txBody>
      </p:sp>
      <p:sp>
        <p:nvSpPr>
          <p:cNvPr id="47" name="TextBox 46">
            <a:extLst>
              <a:ext uri="{FF2B5EF4-FFF2-40B4-BE49-F238E27FC236}">
                <a16:creationId xmlns:a16="http://schemas.microsoft.com/office/drawing/2014/main" id="{62DB0862-E111-1B47-12E7-DD8A882ED656}"/>
              </a:ext>
            </a:extLst>
          </p:cNvPr>
          <p:cNvSpPr txBox="1"/>
          <p:nvPr/>
        </p:nvSpPr>
        <p:spPr>
          <a:xfrm>
            <a:off x="2636520" y="4807958"/>
            <a:ext cx="4518660" cy="276999"/>
          </a:xfrm>
          <a:prstGeom prst="rect">
            <a:avLst/>
          </a:prstGeom>
          <a:noFill/>
        </p:spPr>
        <p:txBody>
          <a:bodyPr wrap="square" rtlCol="0">
            <a:spAutoFit/>
          </a:bodyPr>
          <a:lstStyle/>
          <a:p>
            <a:pPr algn="ctr"/>
            <a:r>
              <a:rPr lang="en-US" sz="1200" b="1" dirty="0">
                <a:solidFill>
                  <a:schemeClr val="tx1">
                    <a:lumMod val="85000"/>
                    <a:lumOff val="15000"/>
                  </a:schemeClr>
                </a:solidFill>
                <a:latin typeface="Calibri" pitchFamily="34" charset="0"/>
                <a:ea typeface="Calibri" pitchFamily="34" charset="-122"/>
                <a:cs typeface="Calibri" pitchFamily="34" charset="-120"/>
              </a:rPr>
              <a:t>IT22277268 | Manodya Kavindi | R26-CS-011</a:t>
            </a:r>
            <a:endParaRPr lang="en-US" sz="1200" dirty="0">
              <a:solidFill>
                <a:schemeClr val="tx1">
                  <a:lumMod val="85000"/>
                  <a:lumOff val="15000"/>
                </a:schemeClr>
              </a:solidFill>
            </a:endParaRPr>
          </a:p>
        </p:txBody>
      </p:sp>
      <p:pic>
        <p:nvPicPr>
          <p:cNvPr id="10242" name="Picture 2" descr="Emoji Idea Lightbulb Thinking Expression Creative Concept Innovation Stock  Illustration - Illustration of idea, creative: 379340858">
            <a:extLst>
              <a:ext uri="{FF2B5EF4-FFF2-40B4-BE49-F238E27FC236}">
                <a16:creationId xmlns:a16="http://schemas.microsoft.com/office/drawing/2014/main" id="{21B53C43-18DB-2EF6-7A07-506355759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395" y="3139440"/>
            <a:ext cx="1118548" cy="15773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358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690F0D1-EF13-9F9F-B271-F7B9D8734BC2}"/>
            </a:ext>
          </a:extLst>
        </p:cNvPr>
        <p:cNvGrpSpPr/>
        <p:nvPr/>
      </p:nvGrpSpPr>
      <p:grpSpPr>
        <a:xfrm>
          <a:off x="0" y="0"/>
          <a:ext cx="0" cy="0"/>
          <a:chOff x="0" y="0"/>
          <a:chExt cx="0" cy="0"/>
        </a:xfrm>
      </p:grpSpPr>
      <p:sp>
        <p:nvSpPr>
          <p:cNvPr id="3" name="Shape 7">
            <a:extLst>
              <a:ext uri="{FF2B5EF4-FFF2-40B4-BE49-F238E27FC236}">
                <a16:creationId xmlns:a16="http://schemas.microsoft.com/office/drawing/2014/main" id="{FBB470B7-56F1-47BC-4AE1-CFDAB3DE8ACE}"/>
              </a:ext>
            </a:extLst>
          </p:cNvPr>
          <p:cNvSpPr/>
          <p:nvPr/>
        </p:nvSpPr>
        <p:spPr>
          <a:xfrm>
            <a:off x="274320" y="184099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 name="Shape 8">
            <a:extLst>
              <a:ext uri="{FF2B5EF4-FFF2-40B4-BE49-F238E27FC236}">
                <a16:creationId xmlns:a16="http://schemas.microsoft.com/office/drawing/2014/main" id="{A82EDCC4-1747-CD1A-0B17-5B9A94F98502}"/>
              </a:ext>
            </a:extLst>
          </p:cNvPr>
          <p:cNvSpPr/>
          <p:nvPr/>
        </p:nvSpPr>
        <p:spPr>
          <a:xfrm>
            <a:off x="274320" y="1840992"/>
            <a:ext cx="4206240" cy="73152"/>
          </a:xfrm>
          <a:prstGeom prst="rect">
            <a:avLst/>
          </a:prstGeom>
          <a:solidFill>
            <a:srgbClr val="0A9396"/>
          </a:solidFill>
          <a:ln/>
        </p:spPr>
        <p:txBody>
          <a:bodyPr/>
          <a:lstStyle/>
          <a:p>
            <a:endParaRPr lang="en-US"/>
          </a:p>
        </p:txBody>
      </p:sp>
      <p:sp>
        <p:nvSpPr>
          <p:cNvPr id="26" name="Text 9">
            <a:extLst>
              <a:ext uri="{FF2B5EF4-FFF2-40B4-BE49-F238E27FC236}">
                <a16:creationId xmlns:a16="http://schemas.microsoft.com/office/drawing/2014/main" id="{268C835F-3A25-55A8-FD4D-BF51C3D08BE6}"/>
              </a:ext>
            </a:extLst>
          </p:cNvPr>
          <p:cNvSpPr/>
          <p:nvPr/>
        </p:nvSpPr>
        <p:spPr>
          <a:xfrm>
            <a:off x="365760" y="1950720"/>
            <a:ext cx="402336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Multi-modal Analysis</a:t>
            </a:r>
            <a:endParaRPr lang="en-US" sz="1300" dirty="0"/>
          </a:p>
        </p:txBody>
      </p:sp>
      <p:sp>
        <p:nvSpPr>
          <p:cNvPr id="27" name="Text 10">
            <a:extLst>
              <a:ext uri="{FF2B5EF4-FFF2-40B4-BE49-F238E27FC236}">
                <a16:creationId xmlns:a16="http://schemas.microsoft.com/office/drawing/2014/main" id="{E26E68A3-682D-85A1-7346-C7C60417B214}"/>
              </a:ext>
            </a:extLst>
          </p:cNvPr>
          <p:cNvSpPr/>
          <p:nvPr/>
        </p:nvSpPr>
        <p:spPr>
          <a:xfrm>
            <a:off x="365760" y="2234184"/>
            <a:ext cx="402336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Combines text, audio, video &amp; linguistic cues for comprehensive scam detection</a:t>
            </a:r>
            <a:endParaRPr lang="en-US" sz="1100" dirty="0"/>
          </a:p>
        </p:txBody>
      </p:sp>
      <p:sp>
        <p:nvSpPr>
          <p:cNvPr id="28" name="Shape 11">
            <a:extLst>
              <a:ext uri="{FF2B5EF4-FFF2-40B4-BE49-F238E27FC236}">
                <a16:creationId xmlns:a16="http://schemas.microsoft.com/office/drawing/2014/main" id="{74E16A1F-DFEF-D378-5EB0-015B939756CF}"/>
              </a:ext>
            </a:extLst>
          </p:cNvPr>
          <p:cNvSpPr/>
          <p:nvPr/>
        </p:nvSpPr>
        <p:spPr>
          <a:xfrm>
            <a:off x="4709160" y="184099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9" name="Shape 12">
            <a:extLst>
              <a:ext uri="{FF2B5EF4-FFF2-40B4-BE49-F238E27FC236}">
                <a16:creationId xmlns:a16="http://schemas.microsoft.com/office/drawing/2014/main" id="{AF6A8F70-A732-68B3-6E9B-BEA62BFA7172}"/>
              </a:ext>
            </a:extLst>
          </p:cNvPr>
          <p:cNvSpPr/>
          <p:nvPr/>
        </p:nvSpPr>
        <p:spPr>
          <a:xfrm>
            <a:off x="4709160" y="1840992"/>
            <a:ext cx="4206240" cy="73152"/>
          </a:xfrm>
          <a:prstGeom prst="rect">
            <a:avLst/>
          </a:prstGeom>
          <a:solidFill>
            <a:srgbClr val="0A9396"/>
          </a:solidFill>
          <a:ln/>
        </p:spPr>
        <p:txBody>
          <a:bodyPr/>
          <a:lstStyle/>
          <a:p>
            <a:endParaRPr lang="en-US"/>
          </a:p>
        </p:txBody>
      </p:sp>
      <p:sp>
        <p:nvSpPr>
          <p:cNvPr id="30" name="Text 13">
            <a:extLst>
              <a:ext uri="{FF2B5EF4-FFF2-40B4-BE49-F238E27FC236}">
                <a16:creationId xmlns:a16="http://schemas.microsoft.com/office/drawing/2014/main" id="{3DFAAA92-AF8A-61B3-2AC5-ED7626CE351D}"/>
              </a:ext>
            </a:extLst>
          </p:cNvPr>
          <p:cNvSpPr/>
          <p:nvPr/>
        </p:nvSpPr>
        <p:spPr>
          <a:xfrm>
            <a:off x="4800600" y="1950720"/>
            <a:ext cx="402336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Lightweight Detection</a:t>
            </a:r>
            <a:endParaRPr lang="en-US" sz="1300" dirty="0"/>
          </a:p>
        </p:txBody>
      </p:sp>
      <p:sp>
        <p:nvSpPr>
          <p:cNvPr id="31" name="Text 14">
            <a:extLst>
              <a:ext uri="{FF2B5EF4-FFF2-40B4-BE49-F238E27FC236}">
                <a16:creationId xmlns:a16="http://schemas.microsoft.com/office/drawing/2014/main" id="{7216E822-6712-183D-5878-44536D8E8B31}"/>
              </a:ext>
            </a:extLst>
          </p:cNvPr>
          <p:cNvSpPr/>
          <p:nvPr/>
        </p:nvSpPr>
        <p:spPr>
          <a:xfrm>
            <a:off x="4800600" y="2234184"/>
            <a:ext cx="402336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Optimized for low-resource environments &amp; affordable deployment</a:t>
            </a:r>
            <a:endParaRPr lang="en-US" sz="1100" dirty="0"/>
          </a:p>
        </p:txBody>
      </p:sp>
      <p:sp>
        <p:nvSpPr>
          <p:cNvPr id="32" name="Shape 15">
            <a:extLst>
              <a:ext uri="{FF2B5EF4-FFF2-40B4-BE49-F238E27FC236}">
                <a16:creationId xmlns:a16="http://schemas.microsoft.com/office/drawing/2014/main" id="{2C44B98C-A02C-8933-7DD5-8262DC1123D2}"/>
              </a:ext>
            </a:extLst>
          </p:cNvPr>
          <p:cNvSpPr/>
          <p:nvPr/>
        </p:nvSpPr>
        <p:spPr>
          <a:xfrm>
            <a:off x="274320" y="293827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3" name="Shape 16">
            <a:extLst>
              <a:ext uri="{FF2B5EF4-FFF2-40B4-BE49-F238E27FC236}">
                <a16:creationId xmlns:a16="http://schemas.microsoft.com/office/drawing/2014/main" id="{116ED714-D21A-41CD-117B-5383B240331C}"/>
              </a:ext>
            </a:extLst>
          </p:cNvPr>
          <p:cNvSpPr/>
          <p:nvPr/>
        </p:nvSpPr>
        <p:spPr>
          <a:xfrm>
            <a:off x="274320" y="2938272"/>
            <a:ext cx="4206240" cy="73152"/>
          </a:xfrm>
          <a:prstGeom prst="rect">
            <a:avLst/>
          </a:prstGeom>
          <a:solidFill>
            <a:srgbClr val="0A9396"/>
          </a:solidFill>
          <a:ln/>
        </p:spPr>
        <p:txBody>
          <a:bodyPr/>
          <a:lstStyle/>
          <a:p>
            <a:endParaRPr lang="en-US"/>
          </a:p>
        </p:txBody>
      </p:sp>
      <p:sp>
        <p:nvSpPr>
          <p:cNvPr id="34" name="Text 17">
            <a:extLst>
              <a:ext uri="{FF2B5EF4-FFF2-40B4-BE49-F238E27FC236}">
                <a16:creationId xmlns:a16="http://schemas.microsoft.com/office/drawing/2014/main" id="{04E28995-40A5-4650-8008-9358363F8581}"/>
              </a:ext>
            </a:extLst>
          </p:cNvPr>
          <p:cNvSpPr/>
          <p:nvPr/>
        </p:nvSpPr>
        <p:spPr>
          <a:xfrm>
            <a:off x="365760" y="3048000"/>
            <a:ext cx="402336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Risk Scoring</a:t>
            </a:r>
            <a:endParaRPr lang="en-US" sz="1300" dirty="0"/>
          </a:p>
        </p:txBody>
      </p:sp>
      <p:sp>
        <p:nvSpPr>
          <p:cNvPr id="35" name="Text 18">
            <a:extLst>
              <a:ext uri="{FF2B5EF4-FFF2-40B4-BE49-F238E27FC236}">
                <a16:creationId xmlns:a16="http://schemas.microsoft.com/office/drawing/2014/main" id="{39688D6E-30E5-C393-8BC3-594F5130E2AD}"/>
              </a:ext>
            </a:extLst>
          </p:cNvPr>
          <p:cNvSpPr/>
          <p:nvPr/>
        </p:nvSpPr>
        <p:spPr>
          <a:xfrm>
            <a:off x="365760" y="3331464"/>
            <a:ext cx="402336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Feature-based real-time risk assessment for early user warnings</a:t>
            </a:r>
            <a:endParaRPr lang="en-US" sz="1100" dirty="0"/>
          </a:p>
        </p:txBody>
      </p:sp>
      <p:sp>
        <p:nvSpPr>
          <p:cNvPr id="36" name="Shape 19">
            <a:extLst>
              <a:ext uri="{FF2B5EF4-FFF2-40B4-BE49-F238E27FC236}">
                <a16:creationId xmlns:a16="http://schemas.microsoft.com/office/drawing/2014/main" id="{2CF7F3E7-6DD7-F68A-44F4-828B285E84E2}"/>
              </a:ext>
            </a:extLst>
          </p:cNvPr>
          <p:cNvSpPr/>
          <p:nvPr/>
        </p:nvSpPr>
        <p:spPr>
          <a:xfrm>
            <a:off x="4709160" y="293827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7" name="Shape 20">
            <a:extLst>
              <a:ext uri="{FF2B5EF4-FFF2-40B4-BE49-F238E27FC236}">
                <a16:creationId xmlns:a16="http://schemas.microsoft.com/office/drawing/2014/main" id="{5264357A-6FB2-5FF4-593F-69143764E4D6}"/>
              </a:ext>
            </a:extLst>
          </p:cNvPr>
          <p:cNvSpPr/>
          <p:nvPr/>
        </p:nvSpPr>
        <p:spPr>
          <a:xfrm>
            <a:off x="4709160" y="2938272"/>
            <a:ext cx="4206240" cy="73152"/>
          </a:xfrm>
          <a:prstGeom prst="rect">
            <a:avLst/>
          </a:prstGeom>
          <a:solidFill>
            <a:srgbClr val="0A9396"/>
          </a:solidFill>
          <a:ln/>
        </p:spPr>
        <p:txBody>
          <a:bodyPr/>
          <a:lstStyle/>
          <a:p>
            <a:endParaRPr lang="en-US"/>
          </a:p>
        </p:txBody>
      </p:sp>
      <p:sp>
        <p:nvSpPr>
          <p:cNvPr id="38" name="Text 21">
            <a:extLst>
              <a:ext uri="{FF2B5EF4-FFF2-40B4-BE49-F238E27FC236}">
                <a16:creationId xmlns:a16="http://schemas.microsoft.com/office/drawing/2014/main" id="{54980673-A2E2-B840-4C1E-CA9B234BB234}"/>
              </a:ext>
            </a:extLst>
          </p:cNvPr>
          <p:cNvSpPr/>
          <p:nvPr/>
        </p:nvSpPr>
        <p:spPr>
          <a:xfrm>
            <a:off x="4800600" y="3048000"/>
            <a:ext cx="402336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NLP Pattern Analysis</a:t>
            </a:r>
            <a:endParaRPr lang="en-US" sz="1300" dirty="0"/>
          </a:p>
        </p:txBody>
      </p:sp>
      <p:sp>
        <p:nvSpPr>
          <p:cNvPr id="39" name="Text 22">
            <a:extLst>
              <a:ext uri="{FF2B5EF4-FFF2-40B4-BE49-F238E27FC236}">
                <a16:creationId xmlns:a16="http://schemas.microsoft.com/office/drawing/2014/main" id="{2DDA6B3E-FE1D-3C1A-7362-61AE4B0574EB}"/>
              </a:ext>
            </a:extLst>
          </p:cNvPr>
          <p:cNvSpPr/>
          <p:nvPr/>
        </p:nvSpPr>
        <p:spPr>
          <a:xfrm>
            <a:off x="4800600" y="3331464"/>
            <a:ext cx="4023360" cy="43891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Identifies deceptive language patterns in AI-generated content</a:t>
            </a:r>
            <a:endParaRPr lang="en-US" sz="1100" dirty="0"/>
          </a:p>
        </p:txBody>
      </p:sp>
      <p:sp>
        <p:nvSpPr>
          <p:cNvPr id="40" name="TextBox 39">
            <a:extLst>
              <a:ext uri="{FF2B5EF4-FFF2-40B4-BE49-F238E27FC236}">
                <a16:creationId xmlns:a16="http://schemas.microsoft.com/office/drawing/2014/main" id="{8CFA083F-05A5-3A05-CDE0-749A58D6DFE6}"/>
              </a:ext>
            </a:extLst>
          </p:cNvPr>
          <p:cNvSpPr txBox="1"/>
          <p:nvPr/>
        </p:nvSpPr>
        <p:spPr>
          <a:xfrm>
            <a:off x="2636520" y="4807958"/>
            <a:ext cx="4518660" cy="276999"/>
          </a:xfrm>
          <a:prstGeom prst="rect">
            <a:avLst/>
          </a:prstGeom>
          <a:noFill/>
        </p:spPr>
        <p:txBody>
          <a:bodyPr wrap="square" rtlCol="0">
            <a:spAutoFit/>
          </a:bodyPr>
          <a:lstStyle/>
          <a:p>
            <a:pPr algn="ctr"/>
            <a:r>
              <a:rPr lang="en-US" sz="1200" b="1" dirty="0">
                <a:solidFill>
                  <a:schemeClr val="tx1">
                    <a:lumMod val="85000"/>
                    <a:lumOff val="15000"/>
                  </a:schemeClr>
                </a:solidFill>
                <a:latin typeface="Calibri" pitchFamily="34" charset="0"/>
                <a:ea typeface="Calibri" pitchFamily="34" charset="-122"/>
                <a:cs typeface="Calibri" pitchFamily="34" charset="-120"/>
              </a:rPr>
              <a:t>IT22277268 | Manodya Kavindi | R26-CS-011</a:t>
            </a:r>
            <a:endParaRPr lang="en-US" sz="1200" dirty="0">
              <a:solidFill>
                <a:schemeClr val="tx1">
                  <a:lumMod val="85000"/>
                  <a:lumOff val="15000"/>
                </a:schemeClr>
              </a:solidFill>
            </a:endParaRPr>
          </a:p>
        </p:txBody>
      </p:sp>
      <p:sp>
        <p:nvSpPr>
          <p:cNvPr id="2" name="Shape 0">
            <a:extLst>
              <a:ext uri="{FF2B5EF4-FFF2-40B4-BE49-F238E27FC236}">
                <a16:creationId xmlns:a16="http://schemas.microsoft.com/office/drawing/2014/main" id="{B6C5A2B2-BDA7-69DD-9E5D-5BDBA6DEB346}"/>
              </a:ext>
            </a:extLst>
          </p:cNvPr>
          <p:cNvSpPr/>
          <p:nvPr/>
        </p:nvSpPr>
        <p:spPr>
          <a:xfrm>
            <a:off x="0" y="0"/>
            <a:ext cx="9144000" cy="812555"/>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AI-Generated Scam Content Risk Analysis</a:t>
            </a:r>
          </a:p>
          <a:p>
            <a:r>
              <a:rPr lang="en-US" sz="2800" b="1" dirty="0">
                <a:solidFill>
                  <a:srgbClr val="FFFFFF"/>
                </a:solidFill>
                <a:latin typeface="Calibri" pitchFamily="34" charset="0"/>
                <a:ea typeface="Calibri" pitchFamily="34" charset="-122"/>
                <a:cs typeface="Calibri" pitchFamily="34" charset="-120"/>
              </a:rPr>
              <a:t>Novelties</a:t>
            </a:r>
          </a:p>
        </p:txBody>
      </p:sp>
    </p:spTree>
    <p:extLst>
      <p:ext uri="{BB962C8B-B14F-4D97-AF65-F5344CB8AC3E}">
        <p14:creationId xmlns:p14="http://schemas.microsoft.com/office/powerpoint/2010/main" val="737074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txBody>
          <a:bodyPr/>
          <a:lstStyle/>
          <a:p>
            <a:endParaRPr lang="en-US" dirty="0"/>
          </a:p>
        </p:txBody>
      </p:sp>
      <p:sp>
        <p:nvSpPr>
          <p:cNvPr id="3" name="Text 1"/>
          <p:cNvSpPr/>
          <p:nvPr/>
        </p:nvSpPr>
        <p:spPr>
          <a:xfrm>
            <a:off x="365760" y="0"/>
            <a:ext cx="8412480" cy="68580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AI-Generated Scam Content Risk Analysis</a:t>
            </a:r>
          </a:p>
          <a:p>
            <a:pPr marL="0" indent="0">
              <a:buNone/>
            </a:pPr>
            <a:r>
              <a:rPr lang="en-US" sz="2200" b="1" dirty="0">
                <a:solidFill>
                  <a:srgbClr val="FFFFFF"/>
                </a:solidFill>
                <a:latin typeface="Calibri" pitchFamily="34" charset="0"/>
                <a:ea typeface="Calibri" pitchFamily="34" charset="-122"/>
                <a:cs typeface="Calibri" pitchFamily="34" charset="-120"/>
              </a:rPr>
              <a:t>Objectives and Technologies</a:t>
            </a:r>
            <a:endParaRPr lang="en-US" sz="2200" dirty="0"/>
          </a:p>
        </p:txBody>
      </p:sp>
      <p:sp>
        <p:nvSpPr>
          <p:cNvPr id="4" name="Shape 2"/>
          <p:cNvSpPr/>
          <p:nvPr/>
        </p:nvSpPr>
        <p:spPr>
          <a:xfrm>
            <a:off x="274320" y="713232"/>
            <a:ext cx="8595360" cy="777240"/>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65760" y="713232"/>
            <a:ext cx="228600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Main Objective</a:t>
            </a:r>
            <a:endParaRPr lang="en-US" sz="1200" dirty="0"/>
          </a:p>
        </p:txBody>
      </p:sp>
      <p:sp>
        <p:nvSpPr>
          <p:cNvPr id="6" name="Text 4"/>
          <p:cNvSpPr/>
          <p:nvPr/>
        </p:nvSpPr>
        <p:spPr>
          <a:xfrm>
            <a:off x="365760" y="1051560"/>
            <a:ext cx="841248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Develop a lightweight method for analyzing AI-generated content and assessing its potential risk as scam material, enabling early warnings for individuals and SMBs.</a:t>
            </a:r>
            <a:endParaRPr lang="en-US" sz="1200" dirty="0"/>
          </a:p>
        </p:txBody>
      </p:sp>
      <p:sp>
        <p:nvSpPr>
          <p:cNvPr id="7" name="Text 5"/>
          <p:cNvSpPr/>
          <p:nvPr/>
        </p:nvSpPr>
        <p:spPr>
          <a:xfrm>
            <a:off x="274320" y="1517904"/>
            <a:ext cx="4114800" cy="34747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Sub-Objectives</a:t>
            </a:r>
            <a:endParaRPr lang="en-US" sz="1100" dirty="0"/>
          </a:p>
        </p:txBody>
      </p:sp>
      <p:sp>
        <p:nvSpPr>
          <p:cNvPr id="8" name="Shape 6"/>
          <p:cNvSpPr/>
          <p:nvPr/>
        </p:nvSpPr>
        <p:spPr>
          <a:xfrm>
            <a:off x="274320" y="1859280"/>
            <a:ext cx="256032" cy="256032"/>
          </a:xfrm>
          <a:prstGeom prst="ellipse">
            <a:avLst/>
          </a:prstGeom>
          <a:solidFill>
            <a:srgbClr val="EE9B00"/>
          </a:solidFill>
          <a:ln/>
        </p:spPr>
        <p:txBody>
          <a:bodyPr/>
          <a:lstStyle/>
          <a:p>
            <a:endParaRPr lang="en-US"/>
          </a:p>
        </p:txBody>
      </p:sp>
      <p:sp>
        <p:nvSpPr>
          <p:cNvPr id="9" name="Text 7"/>
          <p:cNvSpPr/>
          <p:nvPr/>
        </p:nvSpPr>
        <p:spPr>
          <a:xfrm>
            <a:off x="640080" y="1731264"/>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Identify distinguishing characteristics of AI-generated scam content across text, audio, and video formats</a:t>
            </a:r>
            <a:endParaRPr lang="en-US" sz="1200" dirty="0"/>
          </a:p>
        </p:txBody>
      </p:sp>
      <p:sp>
        <p:nvSpPr>
          <p:cNvPr id="10" name="Shape 8"/>
          <p:cNvSpPr/>
          <p:nvPr/>
        </p:nvSpPr>
        <p:spPr>
          <a:xfrm>
            <a:off x="274320" y="2234184"/>
            <a:ext cx="256032" cy="256032"/>
          </a:xfrm>
          <a:prstGeom prst="ellipse">
            <a:avLst/>
          </a:prstGeom>
          <a:solidFill>
            <a:srgbClr val="EE9B00"/>
          </a:solidFill>
          <a:ln/>
        </p:spPr>
        <p:txBody>
          <a:bodyPr/>
          <a:lstStyle/>
          <a:p>
            <a:endParaRPr lang="en-US"/>
          </a:p>
        </p:txBody>
      </p:sp>
      <p:sp>
        <p:nvSpPr>
          <p:cNvPr id="11" name="Text 9"/>
          <p:cNvSpPr/>
          <p:nvPr/>
        </p:nvSpPr>
        <p:spPr>
          <a:xfrm>
            <a:off x="640080" y="2103120"/>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Design a lightweight risk assessment approach for low-resource environments</a:t>
            </a:r>
            <a:endParaRPr lang="en-US" sz="1200" dirty="0"/>
          </a:p>
        </p:txBody>
      </p:sp>
      <p:sp>
        <p:nvSpPr>
          <p:cNvPr id="12" name="Shape 10"/>
          <p:cNvSpPr/>
          <p:nvPr/>
        </p:nvSpPr>
        <p:spPr>
          <a:xfrm>
            <a:off x="274320" y="2657856"/>
            <a:ext cx="256032" cy="256032"/>
          </a:xfrm>
          <a:prstGeom prst="ellipse">
            <a:avLst/>
          </a:prstGeom>
          <a:solidFill>
            <a:srgbClr val="EE9B00"/>
          </a:solidFill>
          <a:ln/>
        </p:spPr>
        <p:txBody>
          <a:bodyPr/>
          <a:lstStyle/>
          <a:p>
            <a:endParaRPr lang="en-US"/>
          </a:p>
        </p:txBody>
      </p:sp>
      <p:sp>
        <p:nvSpPr>
          <p:cNvPr id="13" name="Text 11"/>
          <p:cNvSpPr/>
          <p:nvPr/>
        </p:nvSpPr>
        <p:spPr>
          <a:xfrm>
            <a:off x="640080" y="2490216"/>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Explore multi-modal analysis techniques combining different content types</a:t>
            </a:r>
            <a:endParaRPr lang="en-US" sz="1200" dirty="0"/>
          </a:p>
        </p:txBody>
      </p:sp>
      <p:sp>
        <p:nvSpPr>
          <p:cNvPr id="14" name="Text 12"/>
          <p:cNvSpPr/>
          <p:nvPr/>
        </p:nvSpPr>
        <p:spPr>
          <a:xfrm>
            <a:off x="274320" y="2977896"/>
            <a:ext cx="4572000" cy="347472"/>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Technologies &amp; Approach</a:t>
            </a:r>
            <a:endParaRPr lang="en-US" sz="1400" dirty="0"/>
          </a:p>
        </p:txBody>
      </p:sp>
      <p:sp>
        <p:nvSpPr>
          <p:cNvPr id="15" name="Shape 13"/>
          <p:cNvSpPr/>
          <p:nvPr/>
        </p:nvSpPr>
        <p:spPr>
          <a:xfrm>
            <a:off x="1078992" y="3297936"/>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1078992" y="3297936"/>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Deepfake detection</a:t>
            </a:r>
            <a:endParaRPr lang="en-US" sz="1000" dirty="0"/>
          </a:p>
        </p:txBody>
      </p:sp>
      <p:sp>
        <p:nvSpPr>
          <p:cNvPr id="17" name="Shape 15"/>
          <p:cNvSpPr/>
          <p:nvPr/>
        </p:nvSpPr>
        <p:spPr>
          <a:xfrm>
            <a:off x="2798064" y="3297936"/>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8" name="Text 16"/>
          <p:cNvSpPr/>
          <p:nvPr/>
        </p:nvSpPr>
        <p:spPr>
          <a:xfrm>
            <a:off x="2798064" y="3297936"/>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NLP scam models</a:t>
            </a:r>
            <a:endParaRPr lang="en-US" sz="1000" dirty="0"/>
          </a:p>
        </p:txBody>
      </p:sp>
      <p:sp>
        <p:nvSpPr>
          <p:cNvPr id="19" name="Shape 17"/>
          <p:cNvSpPr/>
          <p:nvPr/>
        </p:nvSpPr>
        <p:spPr>
          <a:xfrm>
            <a:off x="4517136" y="3297936"/>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0" name="Text 18"/>
          <p:cNvSpPr/>
          <p:nvPr/>
        </p:nvSpPr>
        <p:spPr>
          <a:xfrm>
            <a:off x="4517136" y="3297936"/>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Multi-modal ML</a:t>
            </a:r>
            <a:endParaRPr lang="en-US" sz="1000" dirty="0"/>
          </a:p>
        </p:txBody>
      </p:sp>
      <p:sp>
        <p:nvSpPr>
          <p:cNvPr id="21" name="Shape 19"/>
          <p:cNvSpPr/>
          <p:nvPr/>
        </p:nvSpPr>
        <p:spPr>
          <a:xfrm>
            <a:off x="6236208" y="3297936"/>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2" name="Text 20"/>
          <p:cNvSpPr/>
          <p:nvPr/>
        </p:nvSpPr>
        <p:spPr>
          <a:xfrm>
            <a:off x="6236208" y="3297936"/>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Lightweight scoring</a:t>
            </a:r>
            <a:endParaRPr lang="en-US" sz="1000" dirty="0"/>
          </a:p>
        </p:txBody>
      </p:sp>
      <p:sp>
        <p:nvSpPr>
          <p:cNvPr id="23" name="Shape 21"/>
          <p:cNvSpPr/>
          <p:nvPr/>
        </p:nvSpPr>
        <p:spPr>
          <a:xfrm>
            <a:off x="1078992" y="4178808"/>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4" name="Text 22"/>
          <p:cNvSpPr/>
          <p:nvPr/>
        </p:nvSpPr>
        <p:spPr>
          <a:xfrm>
            <a:off x="1078992" y="4178808"/>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Public scam datasets</a:t>
            </a:r>
            <a:endParaRPr lang="en-US" sz="1000" dirty="0"/>
          </a:p>
        </p:txBody>
      </p:sp>
      <p:sp>
        <p:nvSpPr>
          <p:cNvPr id="25" name="Text 12">
            <a:extLst>
              <a:ext uri="{FF2B5EF4-FFF2-40B4-BE49-F238E27FC236}">
                <a16:creationId xmlns:a16="http://schemas.microsoft.com/office/drawing/2014/main" id="{1C8DDBB6-2EA0-79B5-EB52-F375EBFB3937}"/>
              </a:ext>
            </a:extLst>
          </p:cNvPr>
          <p:cNvSpPr/>
          <p:nvPr/>
        </p:nvSpPr>
        <p:spPr>
          <a:xfrm>
            <a:off x="274320" y="3800856"/>
            <a:ext cx="4572000" cy="347472"/>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Data and Ethics</a:t>
            </a:r>
            <a:endParaRPr lang="en-US" sz="1400" dirty="0"/>
          </a:p>
        </p:txBody>
      </p:sp>
      <p:sp>
        <p:nvSpPr>
          <p:cNvPr id="26" name="Shape 21">
            <a:extLst>
              <a:ext uri="{FF2B5EF4-FFF2-40B4-BE49-F238E27FC236}">
                <a16:creationId xmlns:a16="http://schemas.microsoft.com/office/drawing/2014/main" id="{3724DDCF-3B91-E8E4-B4FB-5C714E0A88E3}"/>
              </a:ext>
            </a:extLst>
          </p:cNvPr>
          <p:cNvSpPr/>
          <p:nvPr/>
        </p:nvSpPr>
        <p:spPr>
          <a:xfrm>
            <a:off x="2798064" y="4187952"/>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7" name="Text 22">
            <a:extLst>
              <a:ext uri="{FF2B5EF4-FFF2-40B4-BE49-F238E27FC236}">
                <a16:creationId xmlns:a16="http://schemas.microsoft.com/office/drawing/2014/main" id="{C6CD8C92-B17D-C4C9-90C2-2928C776DC4B}"/>
              </a:ext>
            </a:extLst>
          </p:cNvPr>
          <p:cNvSpPr/>
          <p:nvPr/>
        </p:nvSpPr>
        <p:spPr>
          <a:xfrm>
            <a:off x="2798064" y="4187952"/>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No Personal data collect</a:t>
            </a:r>
            <a:endParaRPr lang="en-US" sz="1000" dirty="0"/>
          </a:p>
        </p:txBody>
      </p:sp>
      <p:sp>
        <p:nvSpPr>
          <p:cNvPr id="28" name="Shape 21">
            <a:extLst>
              <a:ext uri="{FF2B5EF4-FFF2-40B4-BE49-F238E27FC236}">
                <a16:creationId xmlns:a16="http://schemas.microsoft.com/office/drawing/2014/main" id="{2B2F7E9F-B82F-5BD5-C602-F521B8022BD6}"/>
              </a:ext>
            </a:extLst>
          </p:cNvPr>
          <p:cNvSpPr/>
          <p:nvPr/>
        </p:nvSpPr>
        <p:spPr>
          <a:xfrm>
            <a:off x="4517136" y="4186428"/>
            <a:ext cx="1572768" cy="50292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9" name="Text 22">
            <a:extLst>
              <a:ext uri="{FF2B5EF4-FFF2-40B4-BE49-F238E27FC236}">
                <a16:creationId xmlns:a16="http://schemas.microsoft.com/office/drawing/2014/main" id="{FCB426A2-784E-E3F9-56A1-C06079B9787C}"/>
              </a:ext>
            </a:extLst>
          </p:cNvPr>
          <p:cNvSpPr/>
          <p:nvPr/>
        </p:nvSpPr>
        <p:spPr>
          <a:xfrm>
            <a:off x="4517136" y="4186428"/>
            <a:ext cx="1572768" cy="502920"/>
          </a:xfrm>
          <a:prstGeom prst="rect">
            <a:avLst/>
          </a:prstGeom>
          <a:noFill/>
          <a:ln/>
        </p:spPr>
        <p:txBody>
          <a:bodyPr wrap="square" lIns="25400" tIns="25400" rIns="25400" bIns="254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Use cybersecurity best practices</a:t>
            </a:r>
            <a:endParaRPr lang="en-US" sz="1000" dirty="0"/>
          </a:p>
        </p:txBody>
      </p:sp>
      <p:sp>
        <p:nvSpPr>
          <p:cNvPr id="30" name="TextBox 29">
            <a:extLst>
              <a:ext uri="{FF2B5EF4-FFF2-40B4-BE49-F238E27FC236}">
                <a16:creationId xmlns:a16="http://schemas.microsoft.com/office/drawing/2014/main" id="{78384EDB-E307-DAE9-0F0D-826EA976B7FC}"/>
              </a:ext>
            </a:extLst>
          </p:cNvPr>
          <p:cNvSpPr txBox="1"/>
          <p:nvPr/>
        </p:nvSpPr>
        <p:spPr>
          <a:xfrm>
            <a:off x="2636520" y="4807958"/>
            <a:ext cx="4518660" cy="276999"/>
          </a:xfrm>
          <a:prstGeom prst="rect">
            <a:avLst/>
          </a:prstGeom>
          <a:noFill/>
        </p:spPr>
        <p:txBody>
          <a:bodyPr wrap="square" rtlCol="0">
            <a:spAutoFit/>
          </a:bodyPr>
          <a:lstStyle/>
          <a:p>
            <a:pPr algn="ctr"/>
            <a:r>
              <a:rPr lang="en-US" sz="1200" b="1" dirty="0">
                <a:solidFill>
                  <a:schemeClr val="tx1">
                    <a:lumMod val="85000"/>
                    <a:lumOff val="15000"/>
                  </a:schemeClr>
                </a:solidFill>
                <a:latin typeface="Calibri" pitchFamily="34" charset="0"/>
                <a:ea typeface="Calibri" pitchFamily="34" charset="-122"/>
                <a:cs typeface="Calibri" pitchFamily="34" charset="-120"/>
              </a:rPr>
              <a:t>IT22277268 | Manodya Kavindi | R26-CS-011</a:t>
            </a:r>
            <a:endParaRPr lang="en-US" sz="1200" dirty="0">
              <a:solidFill>
                <a:schemeClr val="tx1">
                  <a:lumMod val="85000"/>
                  <a:lumOff val="1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611F26AD-F7B3-4D1B-3A59-14D130A7FFED}"/>
              </a:ext>
            </a:extLst>
          </p:cNvPr>
          <p:cNvSpPr/>
          <p:nvPr/>
        </p:nvSpPr>
        <p:spPr>
          <a:xfrm>
            <a:off x="0" y="1"/>
            <a:ext cx="9144000" cy="87782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AI-Generated Scam Content Risk Analysis</a:t>
            </a:r>
            <a:endParaRPr lang="en-US" sz="1400" dirty="0"/>
          </a:p>
          <a:p>
            <a:r>
              <a:rPr lang="en-US" sz="2800" b="1" dirty="0">
                <a:solidFill>
                  <a:srgbClr val="FFFFFF"/>
                </a:solidFill>
                <a:latin typeface="Calibri" pitchFamily="34" charset="0"/>
                <a:ea typeface="Calibri" pitchFamily="34" charset="-122"/>
                <a:cs typeface="Calibri" pitchFamily="34" charset="-120"/>
              </a:rPr>
              <a:t>Dependencies, Common Components, and Validation</a:t>
            </a:r>
          </a:p>
        </p:txBody>
      </p:sp>
      <p:sp>
        <p:nvSpPr>
          <p:cNvPr id="4" name="Shape 3">
            <a:extLst>
              <a:ext uri="{FF2B5EF4-FFF2-40B4-BE49-F238E27FC236}">
                <a16:creationId xmlns:a16="http://schemas.microsoft.com/office/drawing/2014/main" id="{EDD65AD3-111D-D303-897E-8E832EC14CB3}"/>
              </a:ext>
            </a:extLst>
          </p:cNvPr>
          <p:cNvSpPr/>
          <p:nvPr/>
        </p:nvSpPr>
        <p:spPr>
          <a:xfrm>
            <a:off x="91440" y="1088768"/>
            <a:ext cx="8595360" cy="1666624"/>
          </a:xfrm>
          <a:prstGeom prst="rect">
            <a:avLst/>
          </a:prstGeom>
          <a:solidFill>
            <a:srgbClr val="FFFFFF"/>
          </a:solidFill>
          <a:ln/>
          <a:effectLst>
            <a:outerShdw blurRad="101600" dist="38100" dir="8100000" algn="bl" rotWithShape="0">
              <a:srgbClr val="000000">
                <a:alpha val="12000"/>
              </a:srgbClr>
            </a:outerShdw>
          </a:effectLst>
        </p:spPr>
        <p:txBody>
          <a:bodyPr/>
          <a:lstStyle/>
          <a:p>
            <a:pPr lvl="0">
              <a:lnSpc>
                <a:spcPct val="150000"/>
              </a:lnSpc>
            </a:pPr>
            <a:r>
              <a:rPr lang="en-ZW" sz="1200" dirty="0">
                <a:solidFill>
                  <a:srgbClr val="1E293B"/>
                </a:solidFill>
                <a:latin typeface="Calibri" pitchFamily="34" charset="0"/>
                <a:ea typeface="Calibri" pitchFamily="34" charset="-122"/>
                <a:cs typeface="Calibri" pitchFamily="34" charset="-120"/>
              </a:rPr>
              <a:t>      </a:t>
            </a:r>
            <a:r>
              <a:rPr lang="en-ZW" sz="1400" b="1" dirty="0">
                <a:solidFill>
                  <a:srgbClr val="1E293B"/>
                </a:solidFill>
                <a:latin typeface="Calibri" pitchFamily="34" charset="0"/>
                <a:ea typeface="Calibri" pitchFamily="34" charset="-122"/>
                <a:cs typeface="Calibri" pitchFamily="34" charset="-120"/>
              </a:rPr>
              <a:t>Dependencies and Common Components</a:t>
            </a:r>
          </a:p>
          <a:p>
            <a:pPr marL="285750" lvl="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Input acquisition mechanisms</a:t>
            </a:r>
            <a:endParaRPr lang="en-US" sz="1200" dirty="0">
              <a:solidFill>
                <a:srgbClr val="1E293B"/>
              </a:solidFill>
              <a:latin typeface="Calibri" pitchFamily="34" charset="0"/>
              <a:ea typeface="Calibri" pitchFamily="34" charset="-122"/>
              <a:cs typeface="Calibri" pitchFamily="34" charset="-120"/>
            </a:endParaRPr>
          </a:p>
          <a:p>
            <a:pPr marL="285750" lvl="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Preprocessing modules</a:t>
            </a:r>
            <a:endParaRPr lang="en-US" sz="1200" dirty="0">
              <a:solidFill>
                <a:srgbClr val="1E293B"/>
              </a:solidFill>
              <a:latin typeface="Calibri" pitchFamily="34" charset="0"/>
              <a:ea typeface="Calibri" pitchFamily="34" charset="-122"/>
              <a:cs typeface="Calibri" pitchFamily="34" charset="-120"/>
            </a:endParaRPr>
          </a:p>
          <a:p>
            <a:pPr marL="285750" lvl="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Risk scoring framework</a:t>
            </a:r>
            <a:endParaRPr lang="en-US" sz="1200" dirty="0">
              <a:solidFill>
                <a:srgbClr val="1E293B"/>
              </a:solidFill>
              <a:latin typeface="Calibri" pitchFamily="34" charset="0"/>
              <a:ea typeface="Calibri" pitchFamily="34" charset="-122"/>
              <a:cs typeface="Calibri" pitchFamily="34" charset="-120"/>
            </a:endParaRPr>
          </a:p>
          <a:p>
            <a:pPr marL="285750" lvl="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User notification interface</a:t>
            </a:r>
            <a:endParaRPr lang="en-US" sz="1200" dirty="0">
              <a:solidFill>
                <a:srgbClr val="1E293B"/>
              </a:solidFill>
              <a:latin typeface="Calibri" pitchFamily="34" charset="0"/>
              <a:ea typeface="Calibri" pitchFamily="34" charset="-122"/>
              <a:cs typeface="Calibri" pitchFamily="34" charset="-120"/>
            </a:endParaRPr>
          </a:p>
          <a:p>
            <a:endParaRPr lang="en-US" b="1" dirty="0"/>
          </a:p>
        </p:txBody>
      </p:sp>
      <p:sp>
        <p:nvSpPr>
          <p:cNvPr id="5" name="Shape 4">
            <a:extLst>
              <a:ext uri="{FF2B5EF4-FFF2-40B4-BE49-F238E27FC236}">
                <a16:creationId xmlns:a16="http://schemas.microsoft.com/office/drawing/2014/main" id="{037983C9-7816-50DF-9783-B2373F7B3285}"/>
              </a:ext>
            </a:extLst>
          </p:cNvPr>
          <p:cNvSpPr/>
          <p:nvPr/>
        </p:nvSpPr>
        <p:spPr>
          <a:xfrm>
            <a:off x="182880" y="1131440"/>
            <a:ext cx="45719" cy="1623952"/>
          </a:xfrm>
          <a:prstGeom prst="rect">
            <a:avLst/>
          </a:prstGeom>
          <a:solidFill>
            <a:srgbClr val="EE9B00"/>
          </a:solidFill>
          <a:ln/>
        </p:spPr>
        <p:txBody>
          <a:bodyPr/>
          <a:lstStyle/>
          <a:p>
            <a:endParaRPr lang="en-US"/>
          </a:p>
        </p:txBody>
      </p:sp>
      <p:sp>
        <p:nvSpPr>
          <p:cNvPr id="7" name="Text 6">
            <a:extLst>
              <a:ext uri="{FF2B5EF4-FFF2-40B4-BE49-F238E27FC236}">
                <a16:creationId xmlns:a16="http://schemas.microsoft.com/office/drawing/2014/main" id="{8A40EF8E-E45A-5E29-382F-837340AB523B}"/>
              </a:ext>
            </a:extLst>
          </p:cNvPr>
          <p:cNvSpPr/>
          <p:nvPr/>
        </p:nvSpPr>
        <p:spPr>
          <a:xfrm>
            <a:off x="365760" y="2207383"/>
            <a:ext cx="8321040" cy="685800"/>
          </a:xfrm>
          <a:prstGeom prst="rect">
            <a:avLst/>
          </a:prstGeom>
          <a:noFill/>
          <a:ln/>
        </p:spPr>
        <p:txBody>
          <a:bodyPr wrap="square" lIns="0" tIns="0" rIns="0" bIns="0" rtlCol="0" anchor="ctr"/>
          <a:lstStyle/>
          <a:p>
            <a:pPr marL="0" indent="0">
              <a:buNone/>
            </a:pPr>
            <a:endParaRPr lang="en-US" sz="1200" dirty="0"/>
          </a:p>
        </p:txBody>
      </p:sp>
      <p:sp>
        <p:nvSpPr>
          <p:cNvPr id="8" name="TextBox 7">
            <a:extLst>
              <a:ext uri="{FF2B5EF4-FFF2-40B4-BE49-F238E27FC236}">
                <a16:creationId xmlns:a16="http://schemas.microsoft.com/office/drawing/2014/main" id="{F18390D3-0F14-82D9-F17F-49B33A86C19F}"/>
              </a:ext>
            </a:extLst>
          </p:cNvPr>
          <p:cNvSpPr txBox="1"/>
          <p:nvPr/>
        </p:nvSpPr>
        <p:spPr>
          <a:xfrm>
            <a:off x="2545080" y="4866501"/>
            <a:ext cx="4518660" cy="276999"/>
          </a:xfrm>
          <a:prstGeom prst="rect">
            <a:avLst/>
          </a:prstGeom>
          <a:noFill/>
        </p:spPr>
        <p:txBody>
          <a:bodyPr wrap="square" rtlCol="0">
            <a:spAutoFit/>
          </a:bodyPr>
          <a:lstStyle/>
          <a:p>
            <a:pPr algn="ctr"/>
            <a:r>
              <a:rPr lang="en-US" sz="1200" b="1" dirty="0">
                <a:solidFill>
                  <a:schemeClr val="tx1">
                    <a:lumMod val="85000"/>
                    <a:lumOff val="15000"/>
                  </a:schemeClr>
                </a:solidFill>
                <a:latin typeface="Calibri" pitchFamily="34" charset="0"/>
                <a:ea typeface="Calibri" pitchFamily="34" charset="-122"/>
                <a:cs typeface="Calibri" pitchFamily="34" charset="-120"/>
              </a:rPr>
              <a:t>IT22277268 | Manodya Kavindi | R26-CS-011</a:t>
            </a:r>
            <a:endParaRPr lang="en-US" sz="1200" dirty="0">
              <a:solidFill>
                <a:schemeClr val="tx1">
                  <a:lumMod val="85000"/>
                  <a:lumOff val="15000"/>
                </a:schemeClr>
              </a:solidFill>
            </a:endParaRPr>
          </a:p>
        </p:txBody>
      </p:sp>
      <p:sp>
        <p:nvSpPr>
          <p:cNvPr id="9" name="Shape 3">
            <a:extLst>
              <a:ext uri="{FF2B5EF4-FFF2-40B4-BE49-F238E27FC236}">
                <a16:creationId xmlns:a16="http://schemas.microsoft.com/office/drawing/2014/main" id="{012E3F8E-F1B2-38A4-4E88-AF1E1630BE41}"/>
              </a:ext>
            </a:extLst>
          </p:cNvPr>
          <p:cNvSpPr/>
          <p:nvPr/>
        </p:nvSpPr>
        <p:spPr>
          <a:xfrm>
            <a:off x="91440" y="2907792"/>
            <a:ext cx="8595360" cy="1666624"/>
          </a:xfrm>
          <a:prstGeom prst="rect">
            <a:avLst/>
          </a:prstGeom>
          <a:solidFill>
            <a:srgbClr val="FFFFFF"/>
          </a:solidFill>
          <a:ln/>
          <a:effectLst>
            <a:outerShdw blurRad="101600" dist="38100" dir="8100000" algn="bl" rotWithShape="0">
              <a:srgbClr val="000000">
                <a:alpha val="12000"/>
              </a:srgbClr>
            </a:outerShdw>
          </a:effectLst>
        </p:spPr>
        <p:txBody>
          <a:bodyPr/>
          <a:lstStyle/>
          <a:p>
            <a:pPr lvl="0">
              <a:lnSpc>
                <a:spcPct val="150000"/>
              </a:lnSpc>
            </a:pPr>
            <a:r>
              <a:rPr lang="en-ZW" sz="1200" dirty="0">
                <a:solidFill>
                  <a:srgbClr val="1E293B"/>
                </a:solidFill>
                <a:latin typeface="Calibri" pitchFamily="34" charset="0"/>
                <a:ea typeface="Calibri" pitchFamily="34" charset="-122"/>
                <a:cs typeface="Calibri" pitchFamily="34" charset="-120"/>
              </a:rPr>
              <a:t>      </a:t>
            </a:r>
            <a:r>
              <a:rPr lang="en-ZW" sz="1400" b="1" dirty="0">
                <a:solidFill>
                  <a:srgbClr val="1E293B"/>
                </a:solidFill>
                <a:latin typeface="Calibri" pitchFamily="34" charset="0"/>
                <a:ea typeface="Calibri" pitchFamily="34" charset="-122"/>
                <a:cs typeface="Calibri" pitchFamily="34" charset="-120"/>
              </a:rPr>
              <a:t>Validation and Evaluation</a:t>
            </a:r>
          </a:p>
          <a:p>
            <a:pPr marL="28575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Comparison between known AI-generated scam content and legitimate content</a:t>
            </a:r>
            <a:endParaRPr lang="en-US" sz="1200" dirty="0">
              <a:solidFill>
                <a:srgbClr val="1E293B"/>
              </a:solidFill>
              <a:latin typeface="Calibri" pitchFamily="34" charset="0"/>
              <a:ea typeface="Calibri" pitchFamily="34" charset="-122"/>
              <a:cs typeface="Calibri" pitchFamily="34" charset="-120"/>
            </a:endParaRPr>
          </a:p>
          <a:p>
            <a:pPr marL="285750" indent="-285750">
              <a:lnSpc>
                <a:spcPct val="150000"/>
              </a:lnSpc>
              <a:buFont typeface="Arial" panose="020B0604020202020204" pitchFamily="34" charset="0"/>
              <a:buChar char="•"/>
            </a:pPr>
            <a:r>
              <a:rPr lang="en-ZW" sz="1200" dirty="0">
                <a:solidFill>
                  <a:srgbClr val="1E293B"/>
                </a:solidFill>
                <a:latin typeface="Calibri" pitchFamily="34" charset="0"/>
                <a:ea typeface="Calibri" pitchFamily="34" charset="-122"/>
                <a:cs typeface="Calibri" pitchFamily="34" charset="-120"/>
              </a:rPr>
              <a:t>Testing detection accuracy using labelled datasets</a:t>
            </a:r>
            <a:endParaRPr lang="en-US" sz="1200" dirty="0">
              <a:solidFill>
                <a:srgbClr val="1E293B"/>
              </a:solidFill>
              <a:latin typeface="Calibri" pitchFamily="34" charset="0"/>
              <a:ea typeface="Calibri" pitchFamily="34" charset="-122"/>
              <a:cs typeface="Calibri" pitchFamily="34" charset="-120"/>
            </a:endParaRPr>
          </a:p>
          <a:p>
            <a:endParaRPr lang="en-US" b="1" dirty="0"/>
          </a:p>
        </p:txBody>
      </p:sp>
      <p:sp>
        <p:nvSpPr>
          <p:cNvPr id="10" name="Shape 4">
            <a:extLst>
              <a:ext uri="{FF2B5EF4-FFF2-40B4-BE49-F238E27FC236}">
                <a16:creationId xmlns:a16="http://schemas.microsoft.com/office/drawing/2014/main" id="{CDF58EE3-31ED-3C3C-6833-60A5318039B3}"/>
              </a:ext>
            </a:extLst>
          </p:cNvPr>
          <p:cNvSpPr/>
          <p:nvPr/>
        </p:nvSpPr>
        <p:spPr>
          <a:xfrm>
            <a:off x="182880" y="2950464"/>
            <a:ext cx="45719" cy="1623952"/>
          </a:xfrm>
          <a:prstGeom prst="rect">
            <a:avLst/>
          </a:prstGeom>
          <a:solidFill>
            <a:srgbClr val="EE9B00"/>
          </a:solidFill>
          <a:ln/>
        </p:spPr>
        <p:txBody>
          <a:bodyPr/>
          <a:lstStyle/>
          <a:p>
            <a:endParaRPr lang="en-US"/>
          </a:p>
        </p:txBody>
      </p:sp>
      <p:sp>
        <p:nvSpPr>
          <p:cNvPr id="11" name="Text 6">
            <a:extLst>
              <a:ext uri="{FF2B5EF4-FFF2-40B4-BE49-F238E27FC236}">
                <a16:creationId xmlns:a16="http://schemas.microsoft.com/office/drawing/2014/main" id="{E7D08253-E9BA-61A4-B4D9-E2A8646CA6E0}"/>
              </a:ext>
            </a:extLst>
          </p:cNvPr>
          <p:cNvSpPr/>
          <p:nvPr/>
        </p:nvSpPr>
        <p:spPr>
          <a:xfrm>
            <a:off x="365760" y="4026407"/>
            <a:ext cx="8321040" cy="685800"/>
          </a:xfrm>
          <a:prstGeom prst="rect">
            <a:avLst/>
          </a:prstGeom>
          <a:noFill/>
          <a:ln/>
        </p:spPr>
        <p:txBody>
          <a:bodyPr wrap="square" lIns="0" tIns="0" rIns="0" bIns="0" rtlCol="0" anchor="ctr"/>
          <a:lstStyle/>
          <a:p>
            <a:pPr marL="0" indent="0">
              <a:buNone/>
            </a:pPr>
            <a:endParaRPr lang="en-US" sz="1200" dirty="0"/>
          </a:p>
        </p:txBody>
      </p:sp>
    </p:spTree>
    <p:extLst>
      <p:ext uri="{BB962C8B-B14F-4D97-AF65-F5344CB8AC3E}">
        <p14:creationId xmlns:p14="http://schemas.microsoft.com/office/powerpoint/2010/main" val="547318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14365331-AAC8-32B7-FCA8-433E10B701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05EB8F8-3FA4-C3ED-8328-93A09DA5B553}"/>
              </a:ext>
            </a:extLst>
          </p:cNvPr>
          <p:cNvSpPr/>
          <p:nvPr/>
        </p:nvSpPr>
        <p:spPr>
          <a:xfrm>
            <a:off x="0" y="0"/>
            <a:ext cx="164592" cy="5143500"/>
          </a:xfrm>
          <a:prstGeom prst="rect">
            <a:avLst/>
          </a:prstGeom>
          <a:solidFill>
            <a:srgbClr val="0A9396"/>
          </a:solidFill>
          <a:ln/>
        </p:spPr>
        <p:txBody>
          <a:bodyPr/>
          <a:lstStyle/>
          <a:p>
            <a:endParaRPr lang="en-US"/>
          </a:p>
        </p:txBody>
      </p:sp>
      <p:sp>
        <p:nvSpPr>
          <p:cNvPr id="3" name="Shape 1">
            <a:extLst>
              <a:ext uri="{FF2B5EF4-FFF2-40B4-BE49-F238E27FC236}">
                <a16:creationId xmlns:a16="http://schemas.microsoft.com/office/drawing/2014/main" id="{5BA9668C-B4BA-0BA3-A584-B95AD65D6B34}"/>
              </a:ext>
            </a:extLst>
          </p:cNvPr>
          <p:cNvSpPr/>
          <p:nvPr/>
        </p:nvSpPr>
        <p:spPr>
          <a:xfrm>
            <a:off x="6583680" y="-731520"/>
            <a:ext cx="4114800" cy="4114800"/>
          </a:xfrm>
          <a:prstGeom prst="ellipse">
            <a:avLst/>
          </a:prstGeom>
          <a:solidFill>
            <a:srgbClr val="0A9396">
              <a:alpha val="20000"/>
            </a:srgbClr>
          </a:solidFill>
          <a:ln/>
        </p:spPr>
        <p:txBody>
          <a:bodyPr/>
          <a:lstStyle/>
          <a:p>
            <a:endParaRPr lang="en-US" dirty="0"/>
          </a:p>
        </p:txBody>
      </p:sp>
      <p:sp>
        <p:nvSpPr>
          <p:cNvPr id="4" name="Shape 2">
            <a:extLst>
              <a:ext uri="{FF2B5EF4-FFF2-40B4-BE49-F238E27FC236}">
                <a16:creationId xmlns:a16="http://schemas.microsoft.com/office/drawing/2014/main" id="{6FF758CA-AF05-E404-7916-256A0E2824BC}"/>
              </a:ext>
            </a:extLst>
          </p:cNvPr>
          <p:cNvSpPr/>
          <p:nvPr/>
        </p:nvSpPr>
        <p:spPr>
          <a:xfrm>
            <a:off x="7132320" y="2560320"/>
            <a:ext cx="2743200" cy="2743200"/>
          </a:xfrm>
          <a:prstGeom prst="ellipse">
            <a:avLst/>
          </a:prstGeom>
          <a:solidFill>
            <a:srgbClr val="EE9B00">
              <a:alpha val="15000"/>
            </a:srgbClr>
          </a:solidFill>
          <a:ln/>
        </p:spPr>
        <p:txBody>
          <a:bodyPr/>
          <a:lstStyle/>
          <a:p>
            <a:endParaRPr lang="en-US"/>
          </a:p>
        </p:txBody>
      </p:sp>
      <p:sp>
        <p:nvSpPr>
          <p:cNvPr id="5" name="Text 3">
            <a:extLst>
              <a:ext uri="{FF2B5EF4-FFF2-40B4-BE49-F238E27FC236}">
                <a16:creationId xmlns:a16="http://schemas.microsoft.com/office/drawing/2014/main" id="{57AE3CA9-67D5-F3A2-6E36-CBBD16088C4F}"/>
              </a:ext>
            </a:extLst>
          </p:cNvPr>
          <p:cNvSpPr/>
          <p:nvPr/>
        </p:nvSpPr>
        <p:spPr>
          <a:xfrm>
            <a:off x="457200" y="914400"/>
            <a:ext cx="8229600" cy="777240"/>
          </a:xfrm>
          <a:prstGeom prst="rect">
            <a:avLst/>
          </a:prstGeom>
          <a:noFill/>
          <a:ln/>
        </p:spPr>
        <p:txBody>
          <a:bodyPr wrap="square" lIns="0" tIns="0" rIns="0" bIns="0" rtlCol="0" anchor="ctr"/>
          <a:lstStyle/>
          <a:p>
            <a:pPr marL="0" indent="0" algn="l">
              <a:buNone/>
            </a:pPr>
            <a:endParaRPr lang="en-US" sz="3600" dirty="0"/>
          </a:p>
        </p:txBody>
      </p:sp>
      <p:sp>
        <p:nvSpPr>
          <p:cNvPr id="6" name="Text 4">
            <a:extLst>
              <a:ext uri="{FF2B5EF4-FFF2-40B4-BE49-F238E27FC236}">
                <a16:creationId xmlns:a16="http://schemas.microsoft.com/office/drawing/2014/main" id="{FBA2B0F1-DC7E-E6AA-8195-4C854B130CFF}"/>
              </a:ext>
            </a:extLst>
          </p:cNvPr>
          <p:cNvSpPr/>
          <p:nvPr/>
        </p:nvSpPr>
        <p:spPr>
          <a:xfrm>
            <a:off x="457200" y="1691640"/>
            <a:ext cx="8229600" cy="685800"/>
          </a:xfrm>
          <a:prstGeom prst="rect">
            <a:avLst/>
          </a:prstGeom>
          <a:noFill/>
          <a:ln/>
        </p:spPr>
        <p:txBody>
          <a:bodyPr wrap="square" lIns="0" tIns="0" rIns="0" bIns="0" rtlCol="0" anchor="ctr"/>
          <a:lstStyle/>
          <a:p>
            <a:r>
              <a:rPr lang="en-AU" sz="3600" b="1" dirty="0">
                <a:solidFill>
                  <a:schemeClr val="bg1"/>
                </a:solidFill>
              </a:rPr>
              <a:t>Explainable Platform Attribution for AI-Generated Scam Detection</a:t>
            </a:r>
            <a:endParaRPr lang="en-US" sz="3600" dirty="0">
              <a:solidFill>
                <a:schemeClr val="bg1"/>
              </a:solidFill>
            </a:endParaRPr>
          </a:p>
        </p:txBody>
      </p:sp>
      <p:sp>
        <p:nvSpPr>
          <p:cNvPr id="7" name="Shape 5">
            <a:extLst>
              <a:ext uri="{FF2B5EF4-FFF2-40B4-BE49-F238E27FC236}">
                <a16:creationId xmlns:a16="http://schemas.microsoft.com/office/drawing/2014/main" id="{5ABF046B-9EC5-F356-AE74-4C70726E9B42}"/>
              </a:ext>
            </a:extLst>
          </p:cNvPr>
          <p:cNvSpPr/>
          <p:nvPr/>
        </p:nvSpPr>
        <p:spPr>
          <a:xfrm>
            <a:off x="457200" y="2560320"/>
            <a:ext cx="5029200" cy="45720"/>
          </a:xfrm>
          <a:prstGeom prst="rect">
            <a:avLst/>
          </a:prstGeom>
          <a:solidFill>
            <a:srgbClr val="94D2BD"/>
          </a:solidFill>
          <a:ln/>
        </p:spPr>
        <p:txBody>
          <a:bodyPr/>
          <a:lstStyle/>
          <a:p>
            <a:endParaRPr lang="en-US"/>
          </a:p>
        </p:txBody>
      </p:sp>
      <p:sp>
        <p:nvSpPr>
          <p:cNvPr id="8" name="Text 6">
            <a:extLst>
              <a:ext uri="{FF2B5EF4-FFF2-40B4-BE49-F238E27FC236}">
                <a16:creationId xmlns:a16="http://schemas.microsoft.com/office/drawing/2014/main" id="{7433F427-47BE-5C88-C6C3-33C6164F7776}"/>
              </a:ext>
            </a:extLst>
          </p:cNvPr>
          <p:cNvSpPr/>
          <p:nvPr/>
        </p:nvSpPr>
        <p:spPr>
          <a:xfrm>
            <a:off x="457200" y="2743200"/>
            <a:ext cx="8229600" cy="990600"/>
          </a:xfrm>
          <a:prstGeom prst="rect">
            <a:avLst/>
          </a:prstGeom>
          <a:noFill/>
          <a:ln/>
        </p:spPr>
        <p:txBody>
          <a:bodyPr wrap="square" lIns="0" tIns="0" rIns="0" bIns="0" rtlCol="0" anchor="ctr"/>
          <a:lstStyle/>
          <a:p>
            <a:r>
              <a:rPr lang="en-US" sz="2000" b="1" dirty="0">
                <a:solidFill>
                  <a:srgbClr val="0A9396"/>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PRIYADEWA P D J C | IT22628718|  </a:t>
            </a:r>
            <a:endPar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endParaRPr>
          </a:p>
          <a:p>
            <a:pPr marL="0" indent="0" algn="l">
              <a:buNone/>
            </a:pPr>
            <a:r>
              <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BSc (Hons) in Information Technology – Cyber Security</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C4D741B5-8812-E1EE-184E-52427FCFF95B}"/>
              </a:ext>
            </a:extLst>
          </p:cNvPr>
          <p:cNvSpPr/>
          <p:nvPr/>
        </p:nvSpPr>
        <p:spPr>
          <a:xfrm>
            <a:off x="457200" y="4572000"/>
            <a:ext cx="8229600" cy="365760"/>
          </a:xfrm>
          <a:prstGeom prst="rect">
            <a:avLst/>
          </a:prstGeom>
          <a:noFill/>
          <a:ln/>
        </p:spPr>
        <p:txBody>
          <a:bodyPr wrap="square" lIns="0" tIns="0" rIns="0" bIns="0" rtlCol="0" anchor="ctr"/>
          <a:lstStyle/>
          <a:p>
            <a:pPr marL="0" indent="0" algn="l">
              <a:buNone/>
            </a:pPr>
            <a:endParaRPr lang="en-US" sz="1100" dirty="0"/>
          </a:p>
        </p:txBody>
      </p:sp>
      <p:sp>
        <p:nvSpPr>
          <p:cNvPr id="10" name="TextBox 9">
            <a:extLst>
              <a:ext uri="{FF2B5EF4-FFF2-40B4-BE49-F238E27FC236}">
                <a16:creationId xmlns:a16="http://schemas.microsoft.com/office/drawing/2014/main" id="{77808280-0D35-7D3F-CCE9-3004ACD52496}"/>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solidFill>
                  <a:schemeClr val="bg1"/>
                </a:solidFill>
                <a:latin typeface="Calibri" pitchFamily="34" charset="0"/>
                <a:ea typeface="Calibri" pitchFamily="34" charset="-122"/>
                <a:cs typeface="Calibri" pitchFamily="34" charset="-120"/>
              </a:rPr>
              <a:t>IT22628718| Jayanindu Charitha| R26-CS-011</a:t>
            </a:r>
            <a:endParaRPr lang="en-US" sz="1200" dirty="0">
              <a:solidFill>
                <a:schemeClr val="bg1"/>
              </a:solidFill>
            </a:endParaRPr>
          </a:p>
        </p:txBody>
      </p:sp>
      <p:pic>
        <p:nvPicPr>
          <p:cNvPr id="12" name="Picture 11">
            <a:extLst>
              <a:ext uri="{FF2B5EF4-FFF2-40B4-BE49-F238E27FC236}">
                <a16:creationId xmlns:a16="http://schemas.microsoft.com/office/drawing/2014/main" id="{519DAB39-D562-3FBD-904C-28970D19B841}"/>
              </a:ext>
            </a:extLst>
          </p:cNvPr>
          <p:cNvPicPr>
            <a:picLocks noChangeAspect="1"/>
          </p:cNvPicPr>
          <p:nvPr/>
        </p:nvPicPr>
        <p:blipFill>
          <a:blip r:embed="rId3"/>
          <a:stretch>
            <a:fillRect/>
          </a:stretch>
        </p:blipFill>
        <p:spPr>
          <a:xfrm>
            <a:off x="7802960" y="216918"/>
            <a:ext cx="989348" cy="12730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64371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3" name="Shape 0">
            <a:extLst>
              <a:ext uri="{FF2B5EF4-FFF2-40B4-BE49-F238E27FC236}">
                <a16:creationId xmlns:a16="http://schemas.microsoft.com/office/drawing/2014/main" id="{978A193E-7E91-A707-278D-9855795FA300}"/>
              </a:ext>
            </a:extLst>
          </p:cNvPr>
          <p:cNvSpPr/>
          <p:nvPr/>
        </p:nvSpPr>
        <p:spPr>
          <a:xfrm>
            <a:off x="0" y="1"/>
            <a:ext cx="9144000" cy="81686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Explainable Platform Attribution for AI-Generated Scam Detection</a:t>
            </a:r>
          </a:p>
          <a:p>
            <a:r>
              <a:rPr lang="en-US" sz="2800" b="1" dirty="0">
                <a:solidFill>
                  <a:srgbClr val="FFFFFF"/>
                </a:solidFill>
                <a:latin typeface="Calibri" pitchFamily="34" charset="0"/>
                <a:ea typeface="Calibri" pitchFamily="34" charset="-122"/>
                <a:cs typeface="Calibri" pitchFamily="34" charset="-120"/>
              </a:rPr>
              <a:t>Problem</a:t>
            </a:r>
            <a:r>
              <a:rPr lang="en-US" sz="2800" dirty="0">
                <a:solidFill>
                  <a:schemeClr val="bg1"/>
                </a:solidFill>
              </a:rPr>
              <a:t> </a:t>
            </a:r>
            <a:r>
              <a:rPr lang="en-US" sz="2800" b="1" dirty="0">
                <a:solidFill>
                  <a:srgbClr val="FFFFFF"/>
                </a:solidFill>
                <a:latin typeface="Calibri" pitchFamily="34" charset="0"/>
                <a:ea typeface="Calibri" pitchFamily="34" charset="-122"/>
                <a:cs typeface="Calibri" pitchFamily="34" charset="-120"/>
              </a:rPr>
              <a:t>statement</a:t>
            </a:r>
          </a:p>
        </p:txBody>
      </p:sp>
      <p:sp>
        <p:nvSpPr>
          <p:cNvPr id="24" name="Shape 3">
            <a:extLst>
              <a:ext uri="{FF2B5EF4-FFF2-40B4-BE49-F238E27FC236}">
                <a16:creationId xmlns:a16="http://schemas.microsoft.com/office/drawing/2014/main" id="{8F5DC1DC-B1C3-D430-B3A9-B2F6D61B302C}"/>
              </a:ext>
            </a:extLst>
          </p:cNvPr>
          <p:cNvSpPr/>
          <p:nvPr/>
        </p:nvSpPr>
        <p:spPr>
          <a:xfrm>
            <a:off x="274320" y="1240885"/>
            <a:ext cx="8595360" cy="1143000"/>
          </a:xfrm>
          <a:prstGeom prst="rect">
            <a:avLst/>
          </a:prstGeom>
          <a:solidFill>
            <a:schemeClr val="bg1"/>
          </a:solidFill>
          <a:ln/>
        </p:spPr>
        <p:txBody>
          <a:bodyPr wrap="square" lIns="0" tIns="0" rIns="0" bIns="0" rtlCol="0" anchor="ctr"/>
          <a:lstStyle/>
          <a:p>
            <a:pPr algn="just"/>
            <a:endParaRPr lang="en-US" sz="2000" dirty="0">
              <a:solidFill>
                <a:srgbClr val="1E293B"/>
              </a:solidFill>
              <a:latin typeface="Times New Roman" panose="02020603050405020304" pitchFamily="18" charset="0"/>
              <a:ea typeface="Calibri" pitchFamily="34" charset="-122"/>
              <a:cs typeface="Times New Roman" panose="02020603050405020304" pitchFamily="18" charset="0"/>
            </a:endParaRPr>
          </a:p>
        </p:txBody>
      </p:sp>
      <p:sp>
        <p:nvSpPr>
          <p:cNvPr id="25" name="Shape 4">
            <a:extLst>
              <a:ext uri="{FF2B5EF4-FFF2-40B4-BE49-F238E27FC236}">
                <a16:creationId xmlns:a16="http://schemas.microsoft.com/office/drawing/2014/main" id="{4A3F1528-E38B-B53D-81F9-0CECD9B2C740}"/>
              </a:ext>
            </a:extLst>
          </p:cNvPr>
          <p:cNvSpPr/>
          <p:nvPr/>
        </p:nvSpPr>
        <p:spPr>
          <a:xfrm>
            <a:off x="274320" y="1248505"/>
            <a:ext cx="73152" cy="1143000"/>
          </a:xfrm>
          <a:prstGeom prst="rect">
            <a:avLst/>
          </a:prstGeom>
          <a:solidFill>
            <a:srgbClr val="EE9B00"/>
          </a:solidFill>
          <a:ln/>
        </p:spPr>
        <p:txBody>
          <a:bodyPr/>
          <a:lstStyle/>
          <a:p>
            <a:endParaRPr lang="en-US"/>
          </a:p>
        </p:txBody>
      </p:sp>
      <p:sp>
        <p:nvSpPr>
          <p:cNvPr id="27" name="Text 6">
            <a:extLst>
              <a:ext uri="{FF2B5EF4-FFF2-40B4-BE49-F238E27FC236}">
                <a16:creationId xmlns:a16="http://schemas.microsoft.com/office/drawing/2014/main" id="{67F167A6-12AB-2C4C-C844-33E739D91418}"/>
              </a:ext>
            </a:extLst>
          </p:cNvPr>
          <p:cNvSpPr/>
          <p:nvPr/>
        </p:nvSpPr>
        <p:spPr>
          <a:xfrm>
            <a:off x="457200" y="1419955"/>
            <a:ext cx="8321040" cy="685800"/>
          </a:xfrm>
          <a:prstGeom prst="rect">
            <a:avLst/>
          </a:prstGeom>
          <a:noFill/>
          <a:ln/>
        </p:spPr>
        <p:txBody>
          <a:bodyPr wrap="square" lIns="0" tIns="0" rIns="0" bIns="0" rtlCol="0" anchor="ctr"/>
          <a:lstStyle/>
          <a:p>
            <a:pPr algn="just"/>
            <a:r>
              <a:rPr lang="en-ZW" sz="2000" dirty="0">
                <a:solidFill>
                  <a:srgbClr val="1E293B"/>
                </a:solidFill>
                <a:latin typeface="Times New Roman" panose="02020603050405020304" pitchFamily="18" charset="0"/>
                <a:ea typeface="Calibri" pitchFamily="34" charset="-122"/>
                <a:cs typeface="Times New Roman" panose="02020603050405020304" pitchFamily="18" charset="0"/>
              </a:rPr>
              <a:t>Scammers use AI to create fake content and spread it through WhatsApp, Telegram, and Instagram. Current tools detect scams but CANNOT trace where they came from — making it impossible to stop them from spreading again.</a:t>
            </a:r>
            <a:endParaRPr lang="en-US" sz="2000" dirty="0">
              <a:solidFill>
                <a:srgbClr val="1E293B"/>
              </a:solidFill>
              <a:latin typeface="Times New Roman" panose="02020603050405020304" pitchFamily="18" charset="0"/>
              <a:ea typeface="Calibri" pitchFamily="34" charset="-122"/>
              <a:cs typeface="Times New Roman" panose="02020603050405020304" pitchFamily="18" charset="0"/>
            </a:endParaRPr>
          </a:p>
        </p:txBody>
      </p:sp>
      <p:sp>
        <p:nvSpPr>
          <p:cNvPr id="28" name="TextBox 27">
            <a:extLst>
              <a:ext uri="{FF2B5EF4-FFF2-40B4-BE49-F238E27FC236}">
                <a16:creationId xmlns:a16="http://schemas.microsoft.com/office/drawing/2014/main" id="{3D6DFB73-9F02-A8EC-EBF1-96824B50CD2E}"/>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IT22628718| Jayanindu Charitha| R26-CS-011</a:t>
            </a:r>
            <a:endParaRPr lang="en-US" sz="1200" dirty="0"/>
          </a:p>
        </p:txBody>
      </p:sp>
      <p:pic>
        <p:nvPicPr>
          <p:cNvPr id="29" name="Picture 2" descr="Thinking Shocked Open Mouth - Sticker Thinking Emoji Transparent PNG -  384x384 - Free Download on NicePNG">
            <a:extLst>
              <a:ext uri="{FF2B5EF4-FFF2-40B4-BE49-F238E27FC236}">
                <a16:creationId xmlns:a16="http://schemas.microsoft.com/office/drawing/2014/main" id="{26D02FC1-8DAC-0CFF-5F07-3B513455FC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8360" y="2822435"/>
            <a:ext cx="2849880" cy="14249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978209-AF5B-3334-7A8A-A804E1EF11B1}"/>
            </a:ext>
          </a:extLst>
        </p:cNvPr>
        <p:cNvGrpSpPr/>
        <p:nvPr/>
      </p:nvGrpSpPr>
      <p:grpSpPr>
        <a:xfrm>
          <a:off x="0" y="0"/>
          <a:ext cx="0" cy="0"/>
          <a:chOff x="0" y="0"/>
          <a:chExt cx="0" cy="0"/>
        </a:xfrm>
      </p:grpSpPr>
      <p:sp>
        <p:nvSpPr>
          <p:cNvPr id="53"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00075" y="1118507"/>
            <a:ext cx="2500312"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6229F91F-CC1B-E70E-9B68-A4E58898818C}"/>
              </a:ext>
            </a:extLst>
          </p:cNvPr>
          <p:cNvSpPr txBox="1"/>
          <p:nvPr/>
        </p:nvSpPr>
        <p:spPr>
          <a:xfrm>
            <a:off x="771525" y="1475449"/>
            <a:ext cx="1971675" cy="1910443"/>
          </a:xfrm>
          <a:prstGeom prst="rect">
            <a:avLst/>
          </a:prstGeom>
          <a:solidFill>
            <a:srgbClr val="0A9396"/>
          </a:solidFill>
        </p:spPr>
        <p:txBody>
          <a:bodyPr vert="horz" lIns="91440" tIns="45720" rIns="91440" bIns="45720" rtlCol="0" anchor="ctr">
            <a:normAutofit/>
          </a:bodyPr>
          <a:lstStyle/>
          <a:p>
            <a:pPr algn="ctr">
              <a:lnSpc>
                <a:spcPct val="90000"/>
              </a:lnSpc>
              <a:spcBef>
                <a:spcPct val="0"/>
              </a:spcBef>
              <a:spcAft>
                <a:spcPts val="600"/>
              </a:spcAft>
            </a:pPr>
            <a:r>
              <a:rPr lang="en-US" sz="2700" kern="1200" dirty="0">
                <a:solidFill>
                  <a:srgbClr val="FFFFFF"/>
                </a:solidFill>
                <a:latin typeface="+mj-lt"/>
                <a:ea typeface="+mj-ea"/>
                <a:cs typeface="+mj-cs"/>
              </a:rPr>
              <a:t>System Diagram</a:t>
            </a:r>
          </a:p>
        </p:txBody>
      </p:sp>
      <p:pic>
        <p:nvPicPr>
          <p:cNvPr id="3" name="Picture 2">
            <a:extLst>
              <a:ext uri="{FF2B5EF4-FFF2-40B4-BE49-F238E27FC236}">
                <a16:creationId xmlns:a16="http://schemas.microsoft.com/office/drawing/2014/main" id="{E8ACEC9E-E893-59D1-FF49-AE0609C88F3B}"/>
              </a:ext>
            </a:extLst>
          </p:cNvPr>
          <p:cNvPicPr>
            <a:picLocks noChangeAspect="1"/>
          </p:cNvPicPr>
          <p:nvPr/>
        </p:nvPicPr>
        <p:blipFill>
          <a:blip r:embed="rId3"/>
          <a:stretch>
            <a:fillRect/>
          </a:stretch>
        </p:blipFill>
        <p:spPr>
          <a:xfrm>
            <a:off x="4000786" y="695672"/>
            <a:ext cx="4843461" cy="3426748"/>
          </a:xfrm>
          <a:prstGeom prst="rect">
            <a:avLst/>
          </a:prstGeom>
        </p:spPr>
      </p:pic>
      <p:sp>
        <p:nvSpPr>
          <p:cNvPr id="4" name="Shape 0">
            <a:extLst>
              <a:ext uri="{FF2B5EF4-FFF2-40B4-BE49-F238E27FC236}">
                <a16:creationId xmlns:a16="http://schemas.microsoft.com/office/drawing/2014/main" id="{C6E26201-C42E-CEBA-7431-F8D97F832955}"/>
              </a:ext>
            </a:extLst>
          </p:cNvPr>
          <p:cNvSpPr/>
          <p:nvPr/>
        </p:nvSpPr>
        <p:spPr>
          <a:xfrm>
            <a:off x="0" y="1"/>
            <a:ext cx="5291328" cy="402335"/>
          </a:xfrm>
          <a:prstGeom prst="rect">
            <a:avLst/>
          </a:prstGeom>
          <a:solidFill>
            <a:schemeClr val="bg1"/>
          </a:solidFill>
          <a:ln/>
        </p:spPr>
        <p:txBody>
          <a:bodyPr/>
          <a:lstStyle/>
          <a:p>
            <a:r>
              <a:rPr lang="en-US" sz="1400" b="1" dirty="0">
                <a:solidFill>
                  <a:sysClr val="windowText" lastClr="000000"/>
                </a:solidFill>
                <a:latin typeface="Calibri" pitchFamily="34" charset="0"/>
                <a:ea typeface="Calibri" pitchFamily="34" charset="-122"/>
                <a:cs typeface="Calibri" pitchFamily="34" charset="-120"/>
              </a:rPr>
              <a:t>Explainable Platform Attribution for AI-Generated Scam Detection</a:t>
            </a:r>
          </a:p>
        </p:txBody>
      </p:sp>
      <p:sp>
        <p:nvSpPr>
          <p:cNvPr id="5" name="TextBox 4">
            <a:extLst>
              <a:ext uri="{FF2B5EF4-FFF2-40B4-BE49-F238E27FC236}">
                <a16:creationId xmlns:a16="http://schemas.microsoft.com/office/drawing/2014/main" id="{68549947-4184-ACD4-5BBE-D68C920055BD}"/>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IT22628718| Jayanindu Charitha| R26-CS-011</a:t>
            </a:r>
            <a:endParaRPr lang="en-US" sz="1200" dirty="0"/>
          </a:p>
        </p:txBody>
      </p:sp>
      <p:pic>
        <p:nvPicPr>
          <p:cNvPr id="6" name="Picture 2" descr="Emoji Idea Lightbulb Thinking Expression Creative Concept Innovation Stock  Illustration - Illustration of idea, creative: 379340858">
            <a:extLst>
              <a:ext uri="{FF2B5EF4-FFF2-40B4-BE49-F238E27FC236}">
                <a16:creationId xmlns:a16="http://schemas.microsoft.com/office/drawing/2014/main" id="{03281E99-E549-F617-3E8D-53D6A44346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6059" y="3317311"/>
            <a:ext cx="1118548" cy="15773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310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7AAA2978-ED3C-18CF-BAF8-CD3A7E29438A}"/>
            </a:ext>
          </a:extLst>
        </p:cNvPr>
        <p:cNvGrpSpPr/>
        <p:nvPr/>
      </p:nvGrpSpPr>
      <p:grpSpPr>
        <a:xfrm>
          <a:off x="0" y="0"/>
          <a:ext cx="0" cy="0"/>
          <a:chOff x="0" y="0"/>
          <a:chExt cx="0" cy="0"/>
        </a:xfrm>
      </p:grpSpPr>
      <p:sp>
        <p:nvSpPr>
          <p:cNvPr id="3" name="Shape 7">
            <a:extLst>
              <a:ext uri="{FF2B5EF4-FFF2-40B4-BE49-F238E27FC236}">
                <a16:creationId xmlns:a16="http://schemas.microsoft.com/office/drawing/2014/main" id="{455DB433-3B82-A927-B783-72C21C1D8F5D}"/>
              </a:ext>
            </a:extLst>
          </p:cNvPr>
          <p:cNvSpPr/>
          <p:nvPr/>
        </p:nvSpPr>
        <p:spPr>
          <a:xfrm>
            <a:off x="274320" y="184099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4" name="Shape 8">
            <a:extLst>
              <a:ext uri="{FF2B5EF4-FFF2-40B4-BE49-F238E27FC236}">
                <a16:creationId xmlns:a16="http://schemas.microsoft.com/office/drawing/2014/main" id="{3DDFA0B0-67EA-DF65-1CF1-50019C00C5BC}"/>
              </a:ext>
            </a:extLst>
          </p:cNvPr>
          <p:cNvSpPr/>
          <p:nvPr/>
        </p:nvSpPr>
        <p:spPr>
          <a:xfrm>
            <a:off x="274320" y="1840992"/>
            <a:ext cx="4206240" cy="73152"/>
          </a:xfrm>
          <a:prstGeom prst="rect">
            <a:avLst/>
          </a:prstGeom>
          <a:solidFill>
            <a:srgbClr val="0A9396"/>
          </a:solidFill>
          <a:ln/>
        </p:spPr>
        <p:txBody>
          <a:bodyPr/>
          <a:lstStyle/>
          <a:p>
            <a:endParaRPr lang="en-US"/>
          </a:p>
        </p:txBody>
      </p:sp>
      <p:sp>
        <p:nvSpPr>
          <p:cNvPr id="26" name="Text 9">
            <a:extLst>
              <a:ext uri="{FF2B5EF4-FFF2-40B4-BE49-F238E27FC236}">
                <a16:creationId xmlns:a16="http://schemas.microsoft.com/office/drawing/2014/main" id="{83CF47E7-520B-C4F4-CF41-BE02C637A6C7}"/>
              </a:ext>
            </a:extLst>
          </p:cNvPr>
          <p:cNvSpPr/>
          <p:nvPr/>
        </p:nvSpPr>
        <p:spPr>
          <a:xfrm>
            <a:off x="365760" y="1950720"/>
            <a:ext cx="4023360" cy="292608"/>
          </a:xfrm>
          <a:prstGeom prst="rect">
            <a:avLst/>
          </a:prstGeom>
          <a:noFill/>
          <a:ln/>
        </p:spPr>
        <p:txBody>
          <a:bodyPr wrap="square" lIns="0" tIns="0" rIns="0" bIns="0" rtlCol="0" anchor="ctr"/>
          <a:lstStyle/>
          <a:p>
            <a:pPr marL="0" indent="0">
              <a:buNone/>
            </a:pPr>
            <a:endParaRPr lang="en-US" sz="1300" dirty="0"/>
          </a:p>
        </p:txBody>
      </p:sp>
      <p:sp>
        <p:nvSpPr>
          <p:cNvPr id="27" name="Text 10">
            <a:extLst>
              <a:ext uri="{FF2B5EF4-FFF2-40B4-BE49-F238E27FC236}">
                <a16:creationId xmlns:a16="http://schemas.microsoft.com/office/drawing/2014/main" id="{9A0354D7-8610-138F-29E8-BD48CB18C424}"/>
              </a:ext>
            </a:extLst>
          </p:cNvPr>
          <p:cNvSpPr/>
          <p:nvPr/>
        </p:nvSpPr>
        <p:spPr>
          <a:xfrm>
            <a:off x="365760" y="2115546"/>
            <a:ext cx="4023360" cy="438912"/>
          </a:xfrm>
          <a:prstGeom prst="rect">
            <a:avLst/>
          </a:prstGeom>
          <a:noFill/>
          <a:ln/>
        </p:spPr>
        <p:txBody>
          <a:bodyPr wrap="square" lIns="0" tIns="0" rIns="0" bIns="0" rtlCol="0" anchor="ctr"/>
          <a:lstStyle/>
          <a:p>
            <a:pPr marL="0" indent="0">
              <a:buNone/>
            </a:pPr>
            <a:r>
              <a:rPr lang="en-US" sz="1200" dirty="0"/>
              <a:t>First lightweight platform attribution for AI scams</a:t>
            </a:r>
          </a:p>
        </p:txBody>
      </p:sp>
      <p:sp>
        <p:nvSpPr>
          <p:cNvPr id="28" name="Shape 11">
            <a:extLst>
              <a:ext uri="{FF2B5EF4-FFF2-40B4-BE49-F238E27FC236}">
                <a16:creationId xmlns:a16="http://schemas.microsoft.com/office/drawing/2014/main" id="{0720B3CE-E365-F24F-399F-5EF3EDCD47F3}"/>
              </a:ext>
            </a:extLst>
          </p:cNvPr>
          <p:cNvSpPr/>
          <p:nvPr/>
        </p:nvSpPr>
        <p:spPr>
          <a:xfrm>
            <a:off x="4709160" y="184099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9" name="Shape 12">
            <a:extLst>
              <a:ext uri="{FF2B5EF4-FFF2-40B4-BE49-F238E27FC236}">
                <a16:creationId xmlns:a16="http://schemas.microsoft.com/office/drawing/2014/main" id="{323F7DD2-28B7-6AD7-B912-007442545500}"/>
              </a:ext>
            </a:extLst>
          </p:cNvPr>
          <p:cNvSpPr/>
          <p:nvPr/>
        </p:nvSpPr>
        <p:spPr>
          <a:xfrm>
            <a:off x="4709160" y="1840992"/>
            <a:ext cx="4206240" cy="73152"/>
          </a:xfrm>
          <a:prstGeom prst="rect">
            <a:avLst/>
          </a:prstGeom>
          <a:solidFill>
            <a:srgbClr val="0A9396"/>
          </a:solidFill>
          <a:ln/>
        </p:spPr>
        <p:txBody>
          <a:bodyPr/>
          <a:lstStyle/>
          <a:p>
            <a:endParaRPr lang="en-US"/>
          </a:p>
        </p:txBody>
      </p:sp>
      <p:sp>
        <p:nvSpPr>
          <p:cNvPr id="30" name="Text 13">
            <a:extLst>
              <a:ext uri="{FF2B5EF4-FFF2-40B4-BE49-F238E27FC236}">
                <a16:creationId xmlns:a16="http://schemas.microsoft.com/office/drawing/2014/main" id="{A03E9E63-132A-569C-7EFF-648ACD5D543D}"/>
              </a:ext>
            </a:extLst>
          </p:cNvPr>
          <p:cNvSpPr/>
          <p:nvPr/>
        </p:nvSpPr>
        <p:spPr>
          <a:xfrm>
            <a:off x="4800600" y="1950720"/>
            <a:ext cx="4023360" cy="292608"/>
          </a:xfrm>
          <a:prstGeom prst="rect">
            <a:avLst/>
          </a:prstGeom>
          <a:noFill/>
          <a:ln/>
        </p:spPr>
        <p:txBody>
          <a:bodyPr wrap="square" lIns="0" tIns="0" rIns="0" bIns="0" rtlCol="0" anchor="ctr"/>
          <a:lstStyle/>
          <a:p>
            <a:pPr marL="0" indent="0">
              <a:buNone/>
            </a:pPr>
            <a:endParaRPr lang="en-US" sz="1300" dirty="0"/>
          </a:p>
        </p:txBody>
      </p:sp>
      <p:sp>
        <p:nvSpPr>
          <p:cNvPr id="31" name="Text 14">
            <a:extLst>
              <a:ext uri="{FF2B5EF4-FFF2-40B4-BE49-F238E27FC236}">
                <a16:creationId xmlns:a16="http://schemas.microsoft.com/office/drawing/2014/main" id="{B7C36E6D-D765-C5DF-529C-A3C5C7A80430}"/>
              </a:ext>
            </a:extLst>
          </p:cNvPr>
          <p:cNvSpPr/>
          <p:nvPr/>
        </p:nvSpPr>
        <p:spPr>
          <a:xfrm>
            <a:off x="4800600" y="2115546"/>
            <a:ext cx="4023360" cy="438912"/>
          </a:xfrm>
          <a:prstGeom prst="rect">
            <a:avLst/>
          </a:prstGeom>
          <a:noFill/>
          <a:ln/>
        </p:spPr>
        <p:txBody>
          <a:bodyPr wrap="square" lIns="0" tIns="0" rIns="0" bIns="0" rtlCol="0" anchor="ctr"/>
          <a:lstStyle/>
          <a:p>
            <a:pPr marL="0" indent="0">
              <a:buNone/>
            </a:pPr>
            <a:r>
              <a:rPr lang="en-US" sz="1200" dirty="0"/>
              <a:t>Multimodal fingerprinting</a:t>
            </a:r>
          </a:p>
        </p:txBody>
      </p:sp>
      <p:sp>
        <p:nvSpPr>
          <p:cNvPr id="32" name="Shape 15">
            <a:extLst>
              <a:ext uri="{FF2B5EF4-FFF2-40B4-BE49-F238E27FC236}">
                <a16:creationId xmlns:a16="http://schemas.microsoft.com/office/drawing/2014/main" id="{11D46DA3-2F03-6FD8-84A6-16AC9F2F5278}"/>
              </a:ext>
            </a:extLst>
          </p:cNvPr>
          <p:cNvSpPr/>
          <p:nvPr/>
        </p:nvSpPr>
        <p:spPr>
          <a:xfrm>
            <a:off x="274320" y="293827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3" name="Shape 16">
            <a:extLst>
              <a:ext uri="{FF2B5EF4-FFF2-40B4-BE49-F238E27FC236}">
                <a16:creationId xmlns:a16="http://schemas.microsoft.com/office/drawing/2014/main" id="{CCFD4D82-52EA-F7B1-3098-90468BA03A0E}"/>
              </a:ext>
            </a:extLst>
          </p:cNvPr>
          <p:cNvSpPr/>
          <p:nvPr/>
        </p:nvSpPr>
        <p:spPr>
          <a:xfrm>
            <a:off x="274320" y="2938272"/>
            <a:ext cx="4206240" cy="73152"/>
          </a:xfrm>
          <a:prstGeom prst="rect">
            <a:avLst/>
          </a:prstGeom>
          <a:solidFill>
            <a:srgbClr val="0A9396"/>
          </a:solidFill>
          <a:ln/>
        </p:spPr>
        <p:txBody>
          <a:bodyPr/>
          <a:lstStyle/>
          <a:p>
            <a:endParaRPr lang="en-US"/>
          </a:p>
        </p:txBody>
      </p:sp>
      <p:sp>
        <p:nvSpPr>
          <p:cNvPr id="34" name="Text 17">
            <a:extLst>
              <a:ext uri="{FF2B5EF4-FFF2-40B4-BE49-F238E27FC236}">
                <a16:creationId xmlns:a16="http://schemas.microsoft.com/office/drawing/2014/main" id="{69E5F55D-6E6B-C997-33F4-2F773EE97618}"/>
              </a:ext>
            </a:extLst>
          </p:cNvPr>
          <p:cNvSpPr/>
          <p:nvPr/>
        </p:nvSpPr>
        <p:spPr>
          <a:xfrm>
            <a:off x="365760" y="3048000"/>
            <a:ext cx="4023360" cy="292608"/>
          </a:xfrm>
          <a:prstGeom prst="rect">
            <a:avLst/>
          </a:prstGeom>
          <a:noFill/>
          <a:ln/>
        </p:spPr>
        <p:txBody>
          <a:bodyPr wrap="square" lIns="0" tIns="0" rIns="0" bIns="0" rtlCol="0" anchor="ctr"/>
          <a:lstStyle/>
          <a:p>
            <a:pPr marL="0" indent="0">
              <a:buNone/>
            </a:pPr>
            <a:endParaRPr lang="en-US" sz="1300" dirty="0"/>
          </a:p>
        </p:txBody>
      </p:sp>
      <p:sp>
        <p:nvSpPr>
          <p:cNvPr id="35" name="Text 18">
            <a:extLst>
              <a:ext uri="{FF2B5EF4-FFF2-40B4-BE49-F238E27FC236}">
                <a16:creationId xmlns:a16="http://schemas.microsoft.com/office/drawing/2014/main" id="{0A16097E-036A-AF10-83E9-10D9BE7EF89A}"/>
              </a:ext>
            </a:extLst>
          </p:cNvPr>
          <p:cNvSpPr/>
          <p:nvPr/>
        </p:nvSpPr>
        <p:spPr>
          <a:xfrm>
            <a:off x="365760" y="3212826"/>
            <a:ext cx="4023360" cy="43891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SHAP applied to platform attribution</a:t>
            </a:r>
            <a:endParaRPr lang="en-US" sz="1200" dirty="0"/>
          </a:p>
        </p:txBody>
      </p:sp>
      <p:sp>
        <p:nvSpPr>
          <p:cNvPr id="36" name="Shape 19">
            <a:extLst>
              <a:ext uri="{FF2B5EF4-FFF2-40B4-BE49-F238E27FC236}">
                <a16:creationId xmlns:a16="http://schemas.microsoft.com/office/drawing/2014/main" id="{4A7BF85B-AB7F-FC67-E89B-B952DC7334C0}"/>
              </a:ext>
            </a:extLst>
          </p:cNvPr>
          <p:cNvSpPr/>
          <p:nvPr/>
        </p:nvSpPr>
        <p:spPr>
          <a:xfrm>
            <a:off x="4709160" y="2938272"/>
            <a:ext cx="420624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37" name="Shape 20">
            <a:extLst>
              <a:ext uri="{FF2B5EF4-FFF2-40B4-BE49-F238E27FC236}">
                <a16:creationId xmlns:a16="http://schemas.microsoft.com/office/drawing/2014/main" id="{5C269BCA-31B8-2827-2F93-B2BE99B13584}"/>
              </a:ext>
            </a:extLst>
          </p:cNvPr>
          <p:cNvSpPr/>
          <p:nvPr/>
        </p:nvSpPr>
        <p:spPr>
          <a:xfrm>
            <a:off x="4709160" y="2938272"/>
            <a:ext cx="4206240" cy="73152"/>
          </a:xfrm>
          <a:prstGeom prst="rect">
            <a:avLst/>
          </a:prstGeom>
          <a:solidFill>
            <a:srgbClr val="0A9396"/>
          </a:solidFill>
          <a:ln/>
        </p:spPr>
        <p:txBody>
          <a:bodyPr/>
          <a:lstStyle/>
          <a:p>
            <a:endParaRPr lang="en-US"/>
          </a:p>
        </p:txBody>
      </p:sp>
      <p:sp>
        <p:nvSpPr>
          <p:cNvPr id="38" name="Text 21">
            <a:extLst>
              <a:ext uri="{FF2B5EF4-FFF2-40B4-BE49-F238E27FC236}">
                <a16:creationId xmlns:a16="http://schemas.microsoft.com/office/drawing/2014/main" id="{6D05B00F-DC7F-2695-6394-8BA48080C157}"/>
              </a:ext>
            </a:extLst>
          </p:cNvPr>
          <p:cNvSpPr/>
          <p:nvPr/>
        </p:nvSpPr>
        <p:spPr>
          <a:xfrm>
            <a:off x="4800600" y="3048000"/>
            <a:ext cx="4023360" cy="292608"/>
          </a:xfrm>
          <a:prstGeom prst="rect">
            <a:avLst/>
          </a:prstGeom>
          <a:noFill/>
          <a:ln/>
        </p:spPr>
        <p:txBody>
          <a:bodyPr wrap="square" lIns="0" tIns="0" rIns="0" bIns="0" rtlCol="0" anchor="ctr"/>
          <a:lstStyle/>
          <a:p>
            <a:pPr marL="0" indent="0">
              <a:buNone/>
            </a:pPr>
            <a:endParaRPr lang="en-US" sz="1300" dirty="0"/>
          </a:p>
        </p:txBody>
      </p:sp>
      <p:sp>
        <p:nvSpPr>
          <p:cNvPr id="39" name="Text 22">
            <a:extLst>
              <a:ext uri="{FF2B5EF4-FFF2-40B4-BE49-F238E27FC236}">
                <a16:creationId xmlns:a16="http://schemas.microsoft.com/office/drawing/2014/main" id="{86575227-FFB6-F055-0860-C4F80BD60E3F}"/>
              </a:ext>
            </a:extLst>
          </p:cNvPr>
          <p:cNvSpPr/>
          <p:nvPr/>
        </p:nvSpPr>
        <p:spPr>
          <a:xfrm>
            <a:off x="4800600" y="3212826"/>
            <a:ext cx="4023360" cy="438912"/>
          </a:xfrm>
          <a:prstGeom prst="rect">
            <a:avLst/>
          </a:prstGeom>
          <a:noFill/>
          <a:ln/>
        </p:spPr>
        <p:txBody>
          <a:bodyPr wrap="square" lIns="0" tIns="0" rIns="0" bIns="0" rtlCol="0" anchor="ctr"/>
          <a:lstStyle/>
          <a:p>
            <a:pPr marL="0" indent="0">
              <a:buNone/>
            </a:pPr>
            <a:r>
              <a:rPr lang="en-US" sz="1200" dirty="0"/>
              <a:t>Lightweight plug-in design</a:t>
            </a:r>
          </a:p>
        </p:txBody>
      </p:sp>
      <p:sp>
        <p:nvSpPr>
          <p:cNvPr id="2" name="Shape 0">
            <a:extLst>
              <a:ext uri="{FF2B5EF4-FFF2-40B4-BE49-F238E27FC236}">
                <a16:creationId xmlns:a16="http://schemas.microsoft.com/office/drawing/2014/main" id="{4225579D-E8D7-03F1-1893-0049A04E9D2F}"/>
              </a:ext>
            </a:extLst>
          </p:cNvPr>
          <p:cNvSpPr/>
          <p:nvPr/>
        </p:nvSpPr>
        <p:spPr>
          <a:xfrm>
            <a:off x="0" y="0"/>
            <a:ext cx="9144000" cy="812555"/>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Explainable Platform Attribution for AI-Generated Scam Detection</a:t>
            </a:r>
          </a:p>
          <a:p>
            <a:r>
              <a:rPr lang="en-US" sz="2800" b="1" dirty="0">
                <a:solidFill>
                  <a:srgbClr val="FFFFFF"/>
                </a:solidFill>
                <a:latin typeface="Calibri" pitchFamily="34" charset="0"/>
                <a:ea typeface="Calibri" pitchFamily="34" charset="-122"/>
                <a:cs typeface="Calibri" pitchFamily="34" charset="-120"/>
              </a:rPr>
              <a:t>Novelties</a:t>
            </a:r>
          </a:p>
        </p:txBody>
      </p:sp>
      <p:sp>
        <p:nvSpPr>
          <p:cNvPr id="6" name="TextBox 5">
            <a:extLst>
              <a:ext uri="{FF2B5EF4-FFF2-40B4-BE49-F238E27FC236}">
                <a16:creationId xmlns:a16="http://schemas.microsoft.com/office/drawing/2014/main" id="{55587C6B-13B4-82CB-2FE4-C64204B9D0FA}"/>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IT22628718| Jayanindu Charitha| R26-CS-011</a:t>
            </a:r>
            <a:endParaRPr lang="en-US" sz="1200" dirty="0"/>
          </a:p>
        </p:txBody>
      </p:sp>
    </p:spTree>
    <p:extLst>
      <p:ext uri="{BB962C8B-B14F-4D97-AF65-F5344CB8AC3E}">
        <p14:creationId xmlns:p14="http://schemas.microsoft.com/office/powerpoint/2010/main" val="3772374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F9ECAF4-BE85-ADD6-D7E6-C13FA6FAB8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B7DF10-C545-B2E1-FF56-98A2591AE20F}"/>
              </a:ext>
            </a:extLst>
          </p:cNvPr>
          <p:cNvSpPr/>
          <p:nvPr/>
        </p:nvSpPr>
        <p:spPr>
          <a:xfrm>
            <a:off x="0" y="0"/>
            <a:ext cx="9144000" cy="685800"/>
          </a:xfrm>
          <a:prstGeom prst="rect">
            <a:avLst/>
          </a:prstGeom>
          <a:solidFill>
            <a:srgbClr val="0D1B2A"/>
          </a:solidFill>
          <a:ln/>
        </p:spPr>
        <p:txBody>
          <a:bodyPr/>
          <a:lstStyle/>
          <a:p>
            <a:endParaRPr lang="en-US" dirty="0"/>
          </a:p>
        </p:txBody>
      </p:sp>
      <p:sp>
        <p:nvSpPr>
          <p:cNvPr id="3" name="Text 1">
            <a:extLst>
              <a:ext uri="{FF2B5EF4-FFF2-40B4-BE49-F238E27FC236}">
                <a16:creationId xmlns:a16="http://schemas.microsoft.com/office/drawing/2014/main" id="{48526506-E4C1-3E07-513A-844C88A01B16}"/>
              </a:ext>
            </a:extLst>
          </p:cNvPr>
          <p:cNvSpPr/>
          <p:nvPr/>
        </p:nvSpPr>
        <p:spPr>
          <a:xfrm>
            <a:off x="365760" y="0"/>
            <a:ext cx="8412480" cy="68580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Explainable Platform Attribution for AI-Generated Scam Detection</a:t>
            </a:r>
          </a:p>
          <a:p>
            <a:pPr marL="0" indent="0">
              <a:buNone/>
            </a:pPr>
            <a:r>
              <a:rPr lang="en-US" sz="2800" b="1" dirty="0">
                <a:solidFill>
                  <a:srgbClr val="FFFFFF"/>
                </a:solidFill>
                <a:latin typeface="Calibri" pitchFamily="34" charset="0"/>
                <a:ea typeface="Calibri" pitchFamily="34" charset="-122"/>
                <a:cs typeface="Calibri" pitchFamily="34" charset="-120"/>
              </a:rPr>
              <a:t>Objectives </a:t>
            </a:r>
            <a:endParaRPr lang="en-US" sz="2800" dirty="0"/>
          </a:p>
        </p:txBody>
      </p:sp>
      <p:sp>
        <p:nvSpPr>
          <p:cNvPr id="4" name="Shape 2">
            <a:extLst>
              <a:ext uri="{FF2B5EF4-FFF2-40B4-BE49-F238E27FC236}">
                <a16:creationId xmlns:a16="http://schemas.microsoft.com/office/drawing/2014/main" id="{BD04C043-5E09-F89B-44C8-44FF3F3EA3BD}"/>
              </a:ext>
            </a:extLst>
          </p:cNvPr>
          <p:cNvSpPr/>
          <p:nvPr/>
        </p:nvSpPr>
        <p:spPr>
          <a:xfrm>
            <a:off x="274320" y="713232"/>
            <a:ext cx="8595360" cy="777240"/>
          </a:xfrm>
          <a:prstGeom prst="rect">
            <a:avLst/>
          </a:prstGeom>
          <a:solidFill>
            <a:srgbClr val="0A9396"/>
          </a:solidFill>
          <a:ln/>
          <a:effectLst>
            <a:outerShdw blurRad="101600" dist="381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9E861B09-5FC4-EF90-5B72-F30247A947BC}"/>
              </a:ext>
            </a:extLst>
          </p:cNvPr>
          <p:cNvSpPr/>
          <p:nvPr/>
        </p:nvSpPr>
        <p:spPr>
          <a:xfrm>
            <a:off x="365760" y="713232"/>
            <a:ext cx="2286000" cy="36576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Main Objective</a:t>
            </a:r>
            <a:endParaRPr lang="en-US" sz="1200" dirty="0"/>
          </a:p>
        </p:txBody>
      </p:sp>
      <p:sp>
        <p:nvSpPr>
          <p:cNvPr id="6" name="Text 4">
            <a:extLst>
              <a:ext uri="{FF2B5EF4-FFF2-40B4-BE49-F238E27FC236}">
                <a16:creationId xmlns:a16="http://schemas.microsoft.com/office/drawing/2014/main" id="{8ED78D53-627D-2973-3ACA-658747E23633}"/>
              </a:ext>
            </a:extLst>
          </p:cNvPr>
          <p:cNvSpPr/>
          <p:nvPr/>
        </p:nvSpPr>
        <p:spPr>
          <a:xfrm>
            <a:off x="365760" y="1051560"/>
            <a:ext cx="841248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Build a system that finds which platform spread the scam and clearly explains why</a:t>
            </a:r>
            <a:endParaRPr lang="en-US" sz="1200" dirty="0"/>
          </a:p>
        </p:txBody>
      </p:sp>
      <p:sp>
        <p:nvSpPr>
          <p:cNvPr id="7" name="Text 5">
            <a:extLst>
              <a:ext uri="{FF2B5EF4-FFF2-40B4-BE49-F238E27FC236}">
                <a16:creationId xmlns:a16="http://schemas.microsoft.com/office/drawing/2014/main" id="{8B5FBA94-930F-9DB2-571D-BA7A04A64C7E}"/>
              </a:ext>
            </a:extLst>
          </p:cNvPr>
          <p:cNvSpPr/>
          <p:nvPr/>
        </p:nvSpPr>
        <p:spPr>
          <a:xfrm>
            <a:off x="274320" y="1517904"/>
            <a:ext cx="4114800" cy="347472"/>
          </a:xfrm>
          <a:prstGeom prst="rect">
            <a:avLst/>
          </a:prstGeom>
          <a:noFill/>
          <a:ln/>
        </p:spPr>
        <p:txBody>
          <a:bodyPr wrap="square" lIns="0" tIns="0" rIns="0" bIns="0"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Sub-Objectives</a:t>
            </a:r>
            <a:endParaRPr lang="en-US" sz="1100" dirty="0"/>
          </a:p>
        </p:txBody>
      </p:sp>
      <p:sp>
        <p:nvSpPr>
          <p:cNvPr id="8" name="Shape 6">
            <a:extLst>
              <a:ext uri="{FF2B5EF4-FFF2-40B4-BE49-F238E27FC236}">
                <a16:creationId xmlns:a16="http://schemas.microsoft.com/office/drawing/2014/main" id="{AF95276F-9F3D-5BBD-2BF3-B46DBB7BCA3F}"/>
              </a:ext>
            </a:extLst>
          </p:cNvPr>
          <p:cNvSpPr/>
          <p:nvPr/>
        </p:nvSpPr>
        <p:spPr>
          <a:xfrm>
            <a:off x="274320" y="1859280"/>
            <a:ext cx="256032" cy="256032"/>
          </a:xfrm>
          <a:prstGeom prst="ellipse">
            <a:avLst/>
          </a:prstGeom>
          <a:solidFill>
            <a:srgbClr val="EE9B00"/>
          </a:solidFill>
          <a:ln/>
        </p:spPr>
        <p:txBody>
          <a:bodyPr/>
          <a:lstStyle/>
          <a:p>
            <a:endParaRPr lang="en-US"/>
          </a:p>
        </p:txBody>
      </p:sp>
      <p:sp>
        <p:nvSpPr>
          <p:cNvPr id="9" name="Text 7">
            <a:extLst>
              <a:ext uri="{FF2B5EF4-FFF2-40B4-BE49-F238E27FC236}">
                <a16:creationId xmlns:a16="http://schemas.microsoft.com/office/drawing/2014/main" id="{305B83F1-78CA-7EFA-8658-517EFCBEB757}"/>
              </a:ext>
            </a:extLst>
          </p:cNvPr>
          <p:cNvSpPr/>
          <p:nvPr/>
        </p:nvSpPr>
        <p:spPr>
          <a:xfrm>
            <a:off x="640080" y="1731264"/>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Collect and prepare scam datasets</a:t>
            </a:r>
            <a:endParaRPr lang="en-US" sz="1200" dirty="0"/>
          </a:p>
        </p:txBody>
      </p:sp>
      <p:sp>
        <p:nvSpPr>
          <p:cNvPr id="10" name="Shape 8">
            <a:extLst>
              <a:ext uri="{FF2B5EF4-FFF2-40B4-BE49-F238E27FC236}">
                <a16:creationId xmlns:a16="http://schemas.microsoft.com/office/drawing/2014/main" id="{754E6692-4E8E-C290-36BB-D67DDC98A757}"/>
              </a:ext>
            </a:extLst>
          </p:cNvPr>
          <p:cNvSpPr/>
          <p:nvPr/>
        </p:nvSpPr>
        <p:spPr>
          <a:xfrm>
            <a:off x="274320" y="2234184"/>
            <a:ext cx="256032" cy="256032"/>
          </a:xfrm>
          <a:prstGeom prst="ellipse">
            <a:avLst/>
          </a:prstGeom>
          <a:solidFill>
            <a:srgbClr val="EE9B00"/>
          </a:solidFill>
          <a:ln/>
        </p:spPr>
        <p:txBody>
          <a:bodyPr/>
          <a:lstStyle/>
          <a:p>
            <a:endParaRPr lang="en-US"/>
          </a:p>
        </p:txBody>
      </p:sp>
      <p:sp>
        <p:nvSpPr>
          <p:cNvPr id="11" name="Text 9">
            <a:extLst>
              <a:ext uri="{FF2B5EF4-FFF2-40B4-BE49-F238E27FC236}">
                <a16:creationId xmlns:a16="http://schemas.microsoft.com/office/drawing/2014/main" id="{5EDB1319-D4AD-30FE-5305-935128020838}"/>
              </a:ext>
            </a:extLst>
          </p:cNvPr>
          <p:cNvSpPr/>
          <p:nvPr/>
        </p:nvSpPr>
        <p:spPr>
          <a:xfrm>
            <a:off x="640080" y="2103120"/>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Extract hidden clues from scam content</a:t>
            </a:r>
            <a:endParaRPr lang="en-US" sz="1200" dirty="0"/>
          </a:p>
        </p:txBody>
      </p:sp>
      <p:sp>
        <p:nvSpPr>
          <p:cNvPr id="12" name="Shape 10">
            <a:extLst>
              <a:ext uri="{FF2B5EF4-FFF2-40B4-BE49-F238E27FC236}">
                <a16:creationId xmlns:a16="http://schemas.microsoft.com/office/drawing/2014/main" id="{16FF84B2-31A1-4D41-45C1-902F7CD37A50}"/>
              </a:ext>
            </a:extLst>
          </p:cNvPr>
          <p:cNvSpPr/>
          <p:nvPr/>
        </p:nvSpPr>
        <p:spPr>
          <a:xfrm>
            <a:off x="274320" y="2657856"/>
            <a:ext cx="256032" cy="256032"/>
          </a:xfrm>
          <a:prstGeom prst="ellipse">
            <a:avLst/>
          </a:prstGeom>
          <a:solidFill>
            <a:srgbClr val="EE9B00"/>
          </a:solidFill>
          <a:ln/>
        </p:spPr>
        <p:txBody>
          <a:bodyPr/>
          <a:lstStyle/>
          <a:p>
            <a:endParaRPr lang="en-US"/>
          </a:p>
        </p:txBody>
      </p:sp>
      <p:sp>
        <p:nvSpPr>
          <p:cNvPr id="13" name="Text 11">
            <a:extLst>
              <a:ext uri="{FF2B5EF4-FFF2-40B4-BE49-F238E27FC236}">
                <a16:creationId xmlns:a16="http://schemas.microsoft.com/office/drawing/2014/main" id="{BA3916C8-511A-6A66-D5B9-B0F12C6B0F2E}"/>
              </a:ext>
            </a:extLst>
          </p:cNvPr>
          <p:cNvSpPr/>
          <p:nvPr/>
        </p:nvSpPr>
        <p:spPr>
          <a:xfrm>
            <a:off x="640080" y="2490216"/>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Train ML model to identify the platform</a:t>
            </a:r>
            <a:endParaRPr lang="en-US" sz="1200" dirty="0"/>
          </a:p>
        </p:txBody>
      </p:sp>
      <p:sp>
        <p:nvSpPr>
          <p:cNvPr id="31" name="Shape 6">
            <a:extLst>
              <a:ext uri="{FF2B5EF4-FFF2-40B4-BE49-F238E27FC236}">
                <a16:creationId xmlns:a16="http://schemas.microsoft.com/office/drawing/2014/main" id="{D27FBDDE-5F6F-FD70-46C5-16016C18C417}"/>
              </a:ext>
            </a:extLst>
          </p:cNvPr>
          <p:cNvSpPr/>
          <p:nvPr/>
        </p:nvSpPr>
        <p:spPr>
          <a:xfrm>
            <a:off x="274320" y="3150109"/>
            <a:ext cx="256032" cy="256032"/>
          </a:xfrm>
          <a:prstGeom prst="ellipse">
            <a:avLst/>
          </a:prstGeom>
          <a:solidFill>
            <a:srgbClr val="EE9B00"/>
          </a:solidFill>
          <a:ln/>
        </p:spPr>
        <p:txBody>
          <a:bodyPr/>
          <a:lstStyle/>
          <a:p>
            <a:endParaRPr lang="en-US"/>
          </a:p>
        </p:txBody>
      </p:sp>
      <p:sp>
        <p:nvSpPr>
          <p:cNvPr id="32" name="Shape 8">
            <a:extLst>
              <a:ext uri="{FF2B5EF4-FFF2-40B4-BE49-F238E27FC236}">
                <a16:creationId xmlns:a16="http://schemas.microsoft.com/office/drawing/2014/main" id="{A71DC7AD-41DC-7BA7-71BD-0DC5C3BEAC8F}"/>
              </a:ext>
            </a:extLst>
          </p:cNvPr>
          <p:cNvSpPr/>
          <p:nvPr/>
        </p:nvSpPr>
        <p:spPr>
          <a:xfrm>
            <a:off x="274320" y="3525013"/>
            <a:ext cx="256032" cy="256032"/>
          </a:xfrm>
          <a:prstGeom prst="ellipse">
            <a:avLst/>
          </a:prstGeom>
          <a:solidFill>
            <a:srgbClr val="EE9B00"/>
          </a:solidFill>
          <a:ln/>
        </p:spPr>
        <p:txBody>
          <a:bodyPr/>
          <a:lstStyle/>
          <a:p>
            <a:endParaRPr lang="en-US"/>
          </a:p>
        </p:txBody>
      </p:sp>
      <p:sp>
        <p:nvSpPr>
          <p:cNvPr id="33" name="Shape 10">
            <a:extLst>
              <a:ext uri="{FF2B5EF4-FFF2-40B4-BE49-F238E27FC236}">
                <a16:creationId xmlns:a16="http://schemas.microsoft.com/office/drawing/2014/main" id="{94294474-1A8F-F586-99AF-F22A48E92EE8}"/>
              </a:ext>
            </a:extLst>
          </p:cNvPr>
          <p:cNvSpPr/>
          <p:nvPr/>
        </p:nvSpPr>
        <p:spPr>
          <a:xfrm>
            <a:off x="274320" y="3948685"/>
            <a:ext cx="256032" cy="256032"/>
          </a:xfrm>
          <a:prstGeom prst="ellipse">
            <a:avLst/>
          </a:prstGeom>
          <a:solidFill>
            <a:srgbClr val="EE9B00"/>
          </a:solidFill>
          <a:ln/>
        </p:spPr>
        <p:txBody>
          <a:bodyPr/>
          <a:lstStyle/>
          <a:p>
            <a:endParaRPr lang="en-US"/>
          </a:p>
        </p:txBody>
      </p:sp>
      <p:sp>
        <p:nvSpPr>
          <p:cNvPr id="34" name="Text 11">
            <a:extLst>
              <a:ext uri="{FF2B5EF4-FFF2-40B4-BE49-F238E27FC236}">
                <a16:creationId xmlns:a16="http://schemas.microsoft.com/office/drawing/2014/main" id="{148EFA40-C3C7-0C39-651D-528FE97BA8B2}"/>
              </a:ext>
            </a:extLst>
          </p:cNvPr>
          <p:cNvSpPr/>
          <p:nvPr/>
        </p:nvSpPr>
        <p:spPr>
          <a:xfrm>
            <a:off x="640080" y="3010531"/>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Add SHAP to explain every decision clearly</a:t>
            </a:r>
            <a:endParaRPr lang="en-US" sz="1200" dirty="0"/>
          </a:p>
        </p:txBody>
      </p:sp>
      <p:sp>
        <p:nvSpPr>
          <p:cNvPr id="37" name="Text 11">
            <a:extLst>
              <a:ext uri="{FF2B5EF4-FFF2-40B4-BE49-F238E27FC236}">
                <a16:creationId xmlns:a16="http://schemas.microsoft.com/office/drawing/2014/main" id="{A5EE7D62-0A74-F6EC-8629-CEE4C5C63FF6}"/>
              </a:ext>
            </a:extLst>
          </p:cNvPr>
          <p:cNvSpPr/>
          <p:nvPr/>
        </p:nvSpPr>
        <p:spPr>
          <a:xfrm>
            <a:off x="640080" y="3406141"/>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Connect with partner's detection tool</a:t>
            </a:r>
            <a:endParaRPr lang="en-US" sz="1200" dirty="0"/>
          </a:p>
        </p:txBody>
      </p:sp>
      <p:sp>
        <p:nvSpPr>
          <p:cNvPr id="38" name="Text 11">
            <a:extLst>
              <a:ext uri="{FF2B5EF4-FFF2-40B4-BE49-F238E27FC236}">
                <a16:creationId xmlns:a16="http://schemas.microsoft.com/office/drawing/2014/main" id="{1C0BCFB9-A882-FB8A-0C8C-566F5BDBD7CD}"/>
              </a:ext>
            </a:extLst>
          </p:cNvPr>
          <p:cNvSpPr/>
          <p:nvPr/>
        </p:nvSpPr>
        <p:spPr>
          <a:xfrm>
            <a:off x="640080" y="3855589"/>
            <a:ext cx="8138160" cy="50292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Test and evaluate the full system</a:t>
            </a:r>
            <a:endParaRPr lang="en-US" sz="1200" dirty="0"/>
          </a:p>
        </p:txBody>
      </p:sp>
      <p:sp>
        <p:nvSpPr>
          <p:cNvPr id="39" name="TextBox 38">
            <a:extLst>
              <a:ext uri="{FF2B5EF4-FFF2-40B4-BE49-F238E27FC236}">
                <a16:creationId xmlns:a16="http://schemas.microsoft.com/office/drawing/2014/main" id="{0EB8B87D-234A-00AD-34E6-853BB6A66DDF}"/>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IT22628718| Jayanindu Charitha| R26-CS-011</a:t>
            </a:r>
            <a:endParaRPr lang="en-US" sz="1200" dirty="0"/>
          </a:p>
        </p:txBody>
      </p:sp>
    </p:spTree>
    <p:extLst>
      <p:ext uri="{BB962C8B-B14F-4D97-AF65-F5344CB8AC3E}">
        <p14:creationId xmlns:p14="http://schemas.microsoft.com/office/powerpoint/2010/main" val="2823814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Explainable Platform Attribution for AI-Generated Scam Detection</a:t>
            </a:r>
          </a:p>
        </p:txBody>
      </p:sp>
      <p:sp>
        <p:nvSpPr>
          <p:cNvPr id="3" name="Text 1"/>
          <p:cNvSpPr/>
          <p:nvPr/>
        </p:nvSpPr>
        <p:spPr>
          <a:xfrm>
            <a:off x="97536" y="0"/>
            <a:ext cx="8680704" cy="80467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t>
            </a:r>
          </a:p>
          <a:p>
            <a:pPr marL="0" indent="0">
              <a:buNone/>
            </a:pPr>
            <a:r>
              <a:rPr lang="en-US" sz="2200" b="1" dirty="0">
                <a:solidFill>
                  <a:srgbClr val="FFFFFF"/>
                </a:solidFill>
                <a:latin typeface="Calibri" pitchFamily="34" charset="0"/>
                <a:ea typeface="Calibri" pitchFamily="34" charset="-122"/>
                <a:cs typeface="Calibri" pitchFamily="34" charset="-120"/>
              </a:rPr>
              <a:t>Technologies and Evaluation</a:t>
            </a:r>
            <a:endParaRPr lang="en-US" sz="2200" dirty="0"/>
          </a:p>
        </p:txBody>
      </p:sp>
      <p:sp>
        <p:nvSpPr>
          <p:cNvPr id="4" name="Text 2"/>
          <p:cNvSpPr/>
          <p:nvPr/>
        </p:nvSpPr>
        <p:spPr>
          <a:xfrm>
            <a:off x="274320" y="1269676"/>
            <a:ext cx="4572000" cy="365760"/>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Technologies Utilized</a:t>
            </a:r>
            <a:endParaRPr lang="en-US" sz="1600" dirty="0"/>
          </a:p>
        </p:txBody>
      </p:sp>
      <p:sp>
        <p:nvSpPr>
          <p:cNvPr id="5" name="Shape 3"/>
          <p:cNvSpPr/>
          <p:nvPr/>
        </p:nvSpPr>
        <p:spPr>
          <a:xfrm>
            <a:off x="301986" y="1781740"/>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301986" y="1781740"/>
            <a:ext cx="2743200" cy="73152"/>
          </a:xfrm>
          <a:prstGeom prst="rect">
            <a:avLst/>
          </a:prstGeom>
          <a:solidFill>
            <a:srgbClr val="0A9396"/>
          </a:solidFill>
          <a:ln/>
        </p:spPr>
        <p:txBody>
          <a:bodyPr/>
          <a:lstStyle/>
          <a:p>
            <a:endParaRPr lang="en-US"/>
          </a:p>
        </p:txBody>
      </p:sp>
      <p:sp>
        <p:nvSpPr>
          <p:cNvPr id="7" name="Text 5"/>
          <p:cNvSpPr/>
          <p:nvPr/>
        </p:nvSpPr>
        <p:spPr>
          <a:xfrm>
            <a:off x="375138" y="1873180"/>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XGBoost</a:t>
            </a:r>
            <a:endParaRPr lang="en-US" sz="1400" dirty="0"/>
          </a:p>
        </p:txBody>
      </p:sp>
      <p:sp>
        <p:nvSpPr>
          <p:cNvPr id="8" name="Text 6"/>
          <p:cNvSpPr/>
          <p:nvPr/>
        </p:nvSpPr>
        <p:spPr>
          <a:xfrm>
            <a:off x="375138" y="2120068"/>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ML Classification</a:t>
            </a:r>
            <a:endParaRPr lang="en-US" sz="1100" dirty="0"/>
          </a:p>
        </p:txBody>
      </p:sp>
      <p:sp>
        <p:nvSpPr>
          <p:cNvPr id="9" name="Shape 7"/>
          <p:cNvSpPr/>
          <p:nvPr/>
        </p:nvSpPr>
        <p:spPr>
          <a:xfrm>
            <a:off x="3246354" y="1781740"/>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3246354" y="1781740"/>
            <a:ext cx="2743200" cy="73152"/>
          </a:xfrm>
          <a:prstGeom prst="rect">
            <a:avLst/>
          </a:prstGeom>
          <a:solidFill>
            <a:srgbClr val="0A9396"/>
          </a:solidFill>
          <a:ln/>
        </p:spPr>
        <p:txBody>
          <a:bodyPr/>
          <a:lstStyle/>
          <a:p>
            <a:endParaRPr lang="en-US"/>
          </a:p>
        </p:txBody>
      </p:sp>
      <p:sp>
        <p:nvSpPr>
          <p:cNvPr id="11" name="Text 9"/>
          <p:cNvSpPr/>
          <p:nvPr/>
        </p:nvSpPr>
        <p:spPr>
          <a:xfrm>
            <a:off x="3319506" y="1873180"/>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SHAP</a:t>
            </a:r>
            <a:endParaRPr lang="en-US" sz="1400" dirty="0"/>
          </a:p>
        </p:txBody>
      </p:sp>
      <p:sp>
        <p:nvSpPr>
          <p:cNvPr id="12" name="Text 10"/>
          <p:cNvSpPr/>
          <p:nvPr/>
        </p:nvSpPr>
        <p:spPr>
          <a:xfrm>
            <a:off x="3319506" y="2120068"/>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Explainability</a:t>
            </a:r>
            <a:endParaRPr lang="en-US" sz="1100" dirty="0"/>
          </a:p>
        </p:txBody>
      </p:sp>
      <p:sp>
        <p:nvSpPr>
          <p:cNvPr id="13" name="Shape 11"/>
          <p:cNvSpPr/>
          <p:nvPr/>
        </p:nvSpPr>
        <p:spPr>
          <a:xfrm>
            <a:off x="6190722" y="1781740"/>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6190722" y="1781740"/>
            <a:ext cx="2743200" cy="73152"/>
          </a:xfrm>
          <a:prstGeom prst="rect">
            <a:avLst/>
          </a:prstGeom>
          <a:solidFill>
            <a:srgbClr val="0A9396"/>
          </a:solidFill>
          <a:ln/>
        </p:spPr>
        <p:txBody>
          <a:bodyPr/>
          <a:lstStyle/>
          <a:p>
            <a:endParaRPr lang="en-US"/>
          </a:p>
        </p:txBody>
      </p:sp>
      <p:sp>
        <p:nvSpPr>
          <p:cNvPr id="15" name="Text 13"/>
          <p:cNvSpPr/>
          <p:nvPr/>
        </p:nvSpPr>
        <p:spPr>
          <a:xfrm>
            <a:off x="6263874" y="1873180"/>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BERT</a:t>
            </a:r>
            <a:endParaRPr lang="en-US" sz="1400" dirty="0"/>
          </a:p>
        </p:txBody>
      </p:sp>
      <p:sp>
        <p:nvSpPr>
          <p:cNvPr id="16" name="Text 14"/>
          <p:cNvSpPr/>
          <p:nvPr/>
        </p:nvSpPr>
        <p:spPr>
          <a:xfrm>
            <a:off x="6263874" y="2120068"/>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NLP Analysis</a:t>
            </a:r>
            <a:endParaRPr lang="en-US" sz="1100" dirty="0"/>
          </a:p>
        </p:txBody>
      </p:sp>
      <p:sp>
        <p:nvSpPr>
          <p:cNvPr id="17" name="Shape 15"/>
          <p:cNvSpPr/>
          <p:nvPr/>
        </p:nvSpPr>
        <p:spPr>
          <a:xfrm>
            <a:off x="301986" y="2586412"/>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01986" y="2586412"/>
            <a:ext cx="2743200" cy="73152"/>
          </a:xfrm>
          <a:prstGeom prst="rect">
            <a:avLst/>
          </a:prstGeom>
          <a:solidFill>
            <a:srgbClr val="0A9396"/>
          </a:solidFill>
          <a:ln/>
        </p:spPr>
        <p:txBody>
          <a:bodyPr/>
          <a:lstStyle/>
          <a:p>
            <a:endParaRPr lang="en-US"/>
          </a:p>
        </p:txBody>
      </p:sp>
      <p:sp>
        <p:nvSpPr>
          <p:cNvPr id="19" name="Text 17"/>
          <p:cNvSpPr/>
          <p:nvPr/>
        </p:nvSpPr>
        <p:spPr>
          <a:xfrm>
            <a:off x="375138" y="2677852"/>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OpenCV</a:t>
            </a:r>
            <a:endParaRPr lang="en-US" sz="1400" dirty="0"/>
          </a:p>
        </p:txBody>
      </p:sp>
      <p:sp>
        <p:nvSpPr>
          <p:cNvPr id="20" name="Text 18"/>
          <p:cNvSpPr/>
          <p:nvPr/>
        </p:nvSpPr>
        <p:spPr>
          <a:xfrm>
            <a:off x="375138" y="2924740"/>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Image Processing</a:t>
            </a:r>
            <a:endParaRPr lang="en-US" sz="1100" dirty="0"/>
          </a:p>
        </p:txBody>
      </p:sp>
      <p:sp>
        <p:nvSpPr>
          <p:cNvPr id="21" name="Shape 19"/>
          <p:cNvSpPr/>
          <p:nvPr/>
        </p:nvSpPr>
        <p:spPr>
          <a:xfrm>
            <a:off x="3246354" y="2586412"/>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246354" y="2586412"/>
            <a:ext cx="2743200" cy="73152"/>
          </a:xfrm>
          <a:prstGeom prst="rect">
            <a:avLst/>
          </a:prstGeom>
          <a:solidFill>
            <a:srgbClr val="0A9396"/>
          </a:solidFill>
          <a:ln/>
        </p:spPr>
        <p:txBody>
          <a:bodyPr/>
          <a:lstStyle/>
          <a:p>
            <a:endParaRPr lang="en-US"/>
          </a:p>
        </p:txBody>
      </p:sp>
      <p:sp>
        <p:nvSpPr>
          <p:cNvPr id="23" name="Text 21"/>
          <p:cNvSpPr/>
          <p:nvPr/>
        </p:nvSpPr>
        <p:spPr>
          <a:xfrm>
            <a:off x="3319506" y="2677852"/>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ExifTool</a:t>
            </a:r>
            <a:endParaRPr lang="en-US" sz="1400" dirty="0"/>
          </a:p>
        </p:txBody>
      </p:sp>
      <p:sp>
        <p:nvSpPr>
          <p:cNvPr id="24" name="Text 22"/>
          <p:cNvSpPr/>
          <p:nvPr/>
        </p:nvSpPr>
        <p:spPr>
          <a:xfrm>
            <a:off x="3319506" y="2924740"/>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Metadata Extraction</a:t>
            </a:r>
            <a:endParaRPr lang="en-US" sz="1100" dirty="0"/>
          </a:p>
        </p:txBody>
      </p:sp>
      <p:sp>
        <p:nvSpPr>
          <p:cNvPr id="25" name="Shape 23"/>
          <p:cNvSpPr/>
          <p:nvPr/>
        </p:nvSpPr>
        <p:spPr>
          <a:xfrm>
            <a:off x="6190722" y="2586412"/>
            <a:ext cx="2743200" cy="65836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6190722" y="2586412"/>
            <a:ext cx="2743200" cy="73152"/>
          </a:xfrm>
          <a:prstGeom prst="rect">
            <a:avLst/>
          </a:prstGeom>
          <a:solidFill>
            <a:srgbClr val="0A9396"/>
          </a:solidFill>
          <a:ln/>
        </p:spPr>
        <p:txBody>
          <a:bodyPr/>
          <a:lstStyle/>
          <a:p>
            <a:endParaRPr lang="en-US"/>
          </a:p>
        </p:txBody>
      </p:sp>
      <p:sp>
        <p:nvSpPr>
          <p:cNvPr id="27" name="Text 25"/>
          <p:cNvSpPr/>
          <p:nvPr/>
        </p:nvSpPr>
        <p:spPr>
          <a:xfrm>
            <a:off x="6263874" y="2677852"/>
            <a:ext cx="2606040" cy="256032"/>
          </a:xfrm>
          <a:prstGeom prst="rect">
            <a:avLst/>
          </a:prstGeom>
          <a:noFill/>
          <a:ln/>
        </p:spPr>
        <p:txBody>
          <a:bodyPr wrap="square" lIns="0" tIns="0" rIns="0" bIns="0" rtlCol="0" anchor="ctr"/>
          <a:lstStyle/>
          <a:p>
            <a:pPr marL="0" indent="0">
              <a:buNone/>
            </a:pPr>
            <a:r>
              <a:rPr lang="en-US" sz="1400" b="1" dirty="0">
                <a:solidFill>
                  <a:srgbClr val="0A9396"/>
                </a:solidFill>
                <a:latin typeface="Calibri" pitchFamily="34" charset="0"/>
                <a:ea typeface="Calibri" pitchFamily="34" charset="-122"/>
                <a:cs typeface="Calibri" pitchFamily="34" charset="-120"/>
              </a:rPr>
              <a:t>Flask</a:t>
            </a:r>
            <a:endParaRPr lang="en-US" sz="1400" dirty="0"/>
          </a:p>
        </p:txBody>
      </p:sp>
      <p:sp>
        <p:nvSpPr>
          <p:cNvPr id="28" name="Text 26"/>
          <p:cNvSpPr/>
          <p:nvPr/>
        </p:nvSpPr>
        <p:spPr>
          <a:xfrm>
            <a:off x="6263874" y="2924740"/>
            <a:ext cx="260604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API Backend</a:t>
            </a:r>
            <a:endParaRPr lang="en-US" sz="1100" dirty="0"/>
          </a:p>
        </p:txBody>
      </p:sp>
      <p:sp>
        <p:nvSpPr>
          <p:cNvPr id="44" name="Text 42"/>
          <p:cNvSpPr/>
          <p:nvPr/>
        </p:nvSpPr>
        <p:spPr>
          <a:xfrm>
            <a:off x="274320" y="4206240"/>
            <a:ext cx="8595360" cy="594360"/>
          </a:xfrm>
          <a:prstGeom prst="rect">
            <a:avLst/>
          </a:prstGeom>
          <a:solidFill>
            <a:srgbClr val="FFFFFF"/>
          </a:solidFill>
          <a:ln/>
          <a:effectLst>
            <a:outerShdw blurRad="101600" dist="38100" dir="8100000" algn="bl" rotWithShape="0">
              <a:srgbClr val="000000">
                <a:alpha val="12000"/>
              </a:srgbClr>
            </a:outerShdw>
          </a:effectLst>
        </p:spPr>
        <p:txBody>
          <a:bodyPr wrap="square" lIns="101600" tIns="101600" rIns="101600" bIns="10160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Evaluation Metrics: Accuracy · Precision · Recall · F1 · Attribution Rate (compared vs. existing tools + cross-validation)</a:t>
            </a:r>
            <a:endParaRPr lang="en-US" sz="1200" dirty="0"/>
          </a:p>
        </p:txBody>
      </p:sp>
      <p:sp>
        <p:nvSpPr>
          <p:cNvPr id="45" name="TextBox 44">
            <a:extLst>
              <a:ext uri="{FF2B5EF4-FFF2-40B4-BE49-F238E27FC236}">
                <a16:creationId xmlns:a16="http://schemas.microsoft.com/office/drawing/2014/main" id="{D25F20A5-3E14-5E03-2619-599F99D402D4}"/>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IT22628718| Jayanindu Charitha| R26-CS-011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0F1B4101-9D12-9EB3-72C7-CC4345724B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B3D99F-D618-7B7C-6EFB-A5C9AE3E0BD8}"/>
              </a:ext>
            </a:extLst>
          </p:cNvPr>
          <p:cNvSpPr/>
          <p:nvPr/>
        </p:nvSpPr>
        <p:spPr>
          <a:xfrm>
            <a:off x="0" y="0"/>
            <a:ext cx="164592" cy="5143500"/>
          </a:xfrm>
          <a:prstGeom prst="rect">
            <a:avLst/>
          </a:prstGeom>
          <a:solidFill>
            <a:srgbClr val="0A9396"/>
          </a:solidFill>
          <a:ln/>
        </p:spPr>
        <p:txBody>
          <a:bodyPr/>
          <a:lstStyle/>
          <a:p>
            <a:endParaRPr lang="en-US"/>
          </a:p>
        </p:txBody>
      </p:sp>
      <p:sp>
        <p:nvSpPr>
          <p:cNvPr id="3" name="Shape 1">
            <a:extLst>
              <a:ext uri="{FF2B5EF4-FFF2-40B4-BE49-F238E27FC236}">
                <a16:creationId xmlns:a16="http://schemas.microsoft.com/office/drawing/2014/main" id="{5635AFC7-2D8A-F09E-0E4E-0D1D793C0CF8}"/>
              </a:ext>
            </a:extLst>
          </p:cNvPr>
          <p:cNvSpPr/>
          <p:nvPr/>
        </p:nvSpPr>
        <p:spPr>
          <a:xfrm>
            <a:off x="6583680" y="-731520"/>
            <a:ext cx="4114800" cy="4114800"/>
          </a:xfrm>
          <a:prstGeom prst="ellipse">
            <a:avLst/>
          </a:prstGeom>
          <a:solidFill>
            <a:srgbClr val="0A9396">
              <a:alpha val="20000"/>
            </a:srgbClr>
          </a:solidFill>
          <a:ln/>
        </p:spPr>
        <p:txBody>
          <a:bodyPr/>
          <a:lstStyle/>
          <a:p>
            <a:endParaRPr lang="en-US" dirty="0"/>
          </a:p>
        </p:txBody>
      </p:sp>
      <p:sp>
        <p:nvSpPr>
          <p:cNvPr id="4" name="Shape 2">
            <a:extLst>
              <a:ext uri="{FF2B5EF4-FFF2-40B4-BE49-F238E27FC236}">
                <a16:creationId xmlns:a16="http://schemas.microsoft.com/office/drawing/2014/main" id="{9BE7BEC3-BF77-4E87-8217-A43804DA1ACB}"/>
              </a:ext>
            </a:extLst>
          </p:cNvPr>
          <p:cNvSpPr/>
          <p:nvPr/>
        </p:nvSpPr>
        <p:spPr>
          <a:xfrm>
            <a:off x="7132320" y="2560320"/>
            <a:ext cx="2743200" cy="2743200"/>
          </a:xfrm>
          <a:prstGeom prst="ellipse">
            <a:avLst/>
          </a:prstGeom>
          <a:solidFill>
            <a:srgbClr val="EE9B00">
              <a:alpha val="15000"/>
            </a:srgbClr>
          </a:solidFill>
          <a:ln/>
        </p:spPr>
        <p:txBody>
          <a:bodyPr/>
          <a:lstStyle/>
          <a:p>
            <a:endParaRPr lang="en-US"/>
          </a:p>
        </p:txBody>
      </p:sp>
      <p:sp>
        <p:nvSpPr>
          <p:cNvPr id="5" name="Text 3">
            <a:extLst>
              <a:ext uri="{FF2B5EF4-FFF2-40B4-BE49-F238E27FC236}">
                <a16:creationId xmlns:a16="http://schemas.microsoft.com/office/drawing/2014/main" id="{EC901F80-6CB0-DDA4-9428-490565157932}"/>
              </a:ext>
            </a:extLst>
          </p:cNvPr>
          <p:cNvSpPr/>
          <p:nvPr/>
        </p:nvSpPr>
        <p:spPr>
          <a:xfrm>
            <a:off x="457200" y="914400"/>
            <a:ext cx="8229600" cy="777240"/>
          </a:xfrm>
          <a:prstGeom prst="rect">
            <a:avLst/>
          </a:prstGeom>
          <a:noFill/>
          <a:ln/>
        </p:spPr>
        <p:txBody>
          <a:bodyPr wrap="square" lIns="0" tIns="0" rIns="0" bIns="0" rtlCol="0" anchor="ctr"/>
          <a:lstStyle/>
          <a:p>
            <a:pPr marL="0" indent="0" algn="l">
              <a:buNone/>
            </a:pPr>
            <a:endParaRPr lang="en-US" sz="3600" dirty="0"/>
          </a:p>
        </p:txBody>
      </p:sp>
      <p:sp>
        <p:nvSpPr>
          <p:cNvPr id="6" name="Text 4">
            <a:extLst>
              <a:ext uri="{FF2B5EF4-FFF2-40B4-BE49-F238E27FC236}">
                <a16:creationId xmlns:a16="http://schemas.microsoft.com/office/drawing/2014/main" id="{19A04C82-E3AD-96F0-52A2-C46F4D252AD3}"/>
              </a:ext>
            </a:extLst>
          </p:cNvPr>
          <p:cNvSpPr/>
          <p:nvPr/>
        </p:nvSpPr>
        <p:spPr>
          <a:xfrm>
            <a:off x="457200" y="1691640"/>
            <a:ext cx="8229600" cy="685800"/>
          </a:xfrm>
          <a:prstGeom prst="rect">
            <a:avLst/>
          </a:prstGeom>
          <a:noFill/>
          <a:ln/>
        </p:spPr>
        <p:txBody>
          <a:bodyPr wrap="square" lIns="0" tIns="0" rIns="0" bIns="0" rtlCol="0" anchor="ctr"/>
          <a:lstStyle/>
          <a:p>
            <a:r>
              <a:rPr lang="en-US" sz="3600" b="1" dirty="0">
                <a:solidFill>
                  <a:schemeClr val="bg1"/>
                </a:solidFill>
              </a:rPr>
              <a:t>Human Centered Defense and Awareness System for AI – Driven Scams</a:t>
            </a:r>
            <a:endParaRPr lang="en-US" sz="3600" dirty="0">
              <a:solidFill>
                <a:schemeClr val="bg1"/>
              </a:solidFill>
            </a:endParaRPr>
          </a:p>
        </p:txBody>
      </p:sp>
      <p:sp>
        <p:nvSpPr>
          <p:cNvPr id="7" name="Shape 5">
            <a:extLst>
              <a:ext uri="{FF2B5EF4-FFF2-40B4-BE49-F238E27FC236}">
                <a16:creationId xmlns:a16="http://schemas.microsoft.com/office/drawing/2014/main" id="{EDB026AE-3E2B-5A11-FCDF-84B5BDBF92D5}"/>
              </a:ext>
            </a:extLst>
          </p:cNvPr>
          <p:cNvSpPr/>
          <p:nvPr/>
        </p:nvSpPr>
        <p:spPr>
          <a:xfrm>
            <a:off x="457200" y="2560320"/>
            <a:ext cx="5029200" cy="45720"/>
          </a:xfrm>
          <a:prstGeom prst="rect">
            <a:avLst/>
          </a:prstGeom>
          <a:solidFill>
            <a:srgbClr val="94D2BD"/>
          </a:solidFill>
          <a:ln/>
        </p:spPr>
        <p:txBody>
          <a:bodyPr/>
          <a:lstStyle/>
          <a:p>
            <a:endParaRPr lang="en-US"/>
          </a:p>
        </p:txBody>
      </p:sp>
      <p:sp>
        <p:nvSpPr>
          <p:cNvPr id="8" name="Text 6">
            <a:extLst>
              <a:ext uri="{FF2B5EF4-FFF2-40B4-BE49-F238E27FC236}">
                <a16:creationId xmlns:a16="http://schemas.microsoft.com/office/drawing/2014/main" id="{30A387A7-A2C6-AADA-0D12-C502A01EEAE7}"/>
              </a:ext>
            </a:extLst>
          </p:cNvPr>
          <p:cNvSpPr/>
          <p:nvPr/>
        </p:nvSpPr>
        <p:spPr>
          <a:xfrm>
            <a:off x="457200" y="2743200"/>
            <a:ext cx="8229600" cy="990600"/>
          </a:xfrm>
          <a:prstGeom prst="rect">
            <a:avLst/>
          </a:prstGeom>
          <a:noFill/>
          <a:ln/>
        </p:spPr>
        <p:txBody>
          <a:bodyPr wrap="square" lIns="0" tIns="0" rIns="0" bIns="0" rtlCol="0" anchor="ctr"/>
          <a:lstStyle/>
          <a:p>
            <a:r>
              <a:rPr lang="en-US" sz="2000" b="1" dirty="0">
                <a:solidFill>
                  <a:srgbClr val="0A9396"/>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VIDARA S V | IT22299048|  </a:t>
            </a:r>
            <a:endPar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endParaRPr>
          </a:p>
          <a:p>
            <a:pPr marL="0" indent="0" algn="l">
              <a:buNone/>
            </a:pPr>
            <a:r>
              <a:rPr lang="en-US" sz="2000" b="1" dirty="0">
                <a:solidFill>
                  <a:srgbClr val="94D2BD"/>
                </a:solidFill>
                <a:effectLst>
                  <a:outerShdw blurRad="38100" dist="38100" dir="2700000" algn="tl">
                    <a:srgbClr val="000000">
                      <a:alpha val="43137"/>
                    </a:srgbClr>
                  </a:outerShdw>
                </a:effectLst>
                <a:latin typeface="Times New Roman" panose="02020603050405020304" pitchFamily="18" charset="0"/>
                <a:ea typeface="Calibri" pitchFamily="34" charset="-122"/>
                <a:cs typeface="Times New Roman" panose="02020603050405020304" pitchFamily="18" charset="0"/>
              </a:rPr>
              <a:t>BSc (Hons) in Information Technology – Cyber Security</a:t>
            </a: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6673D67C-469F-2C98-9AAD-B1D5D387F720}"/>
              </a:ext>
            </a:extLst>
          </p:cNvPr>
          <p:cNvSpPr/>
          <p:nvPr/>
        </p:nvSpPr>
        <p:spPr>
          <a:xfrm>
            <a:off x="457200" y="4572000"/>
            <a:ext cx="8229600" cy="365760"/>
          </a:xfrm>
          <a:prstGeom prst="rect">
            <a:avLst/>
          </a:prstGeom>
          <a:noFill/>
          <a:ln/>
        </p:spPr>
        <p:txBody>
          <a:bodyPr wrap="square" lIns="0" tIns="0" rIns="0" bIns="0" rtlCol="0" anchor="ctr"/>
          <a:lstStyle/>
          <a:p>
            <a:pPr marL="0" indent="0" algn="l">
              <a:buNone/>
            </a:pPr>
            <a:endParaRPr lang="en-US" sz="1100" dirty="0"/>
          </a:p>
        </p:txBody>
      </p:sp>
      <p:sp>
        <p:nvSpPr>
          <p:cNvPr id="10" name="TextBox 9">
            <a:extLst>
              <a:ext uri="{FF2B5EF4-FFF2-40B4-BE49-F238E27FC236}">
                <a16:creationId xmlns:a16="http://schemas.microsoft.com/office/drawing/2014/main" id="{B42F7701-569D-2B60-6608-9FDFA3351B5B}"/>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solidFill>
                  <a:schemeClr val="bg1"/>
                </a:solidFill>
                <a:latin typeface="Calibri" pitchFamily="34" charset="0"/>
                <a:ea typeface="Calibri" pitchFamily="34" charset="-122"/>
                <a:cs typeface="Calibri" pitchFamily="34" charset="-120"/>
              </a:rPr>
              <a:t>IT22299048| Visini Vidara| R26-CS-011</a:t>
            </a:r>
            <a:endParaRPr lang="en-US" sz="1200" dirty="0">
              <a:solidFill>
                <a:schemeClr val="bg1"/>
              </a:solidFill>
            </a:endParaRPr>
          </a:p>
        </p:txBody>
      </p:sp>
      <p:pic>
        <p:nvPicPr>
          <p:cNvPr id="12" name="Picture 11">
            <a:extLst>
              <a:ext uri="{FF2B5EF4-FFF2-40B4-BE49-F238E27FC236}">
                <a16:creationId xmlns:a16="http://schemas.microsoft.com/office/drawing/2014/main" id="{39B85058-EFE6-215D-6822-6F97E8842149}"/>
              </a:ext>
            </a:extLst>
          </p:cNvPr>
          <p:cNvPicPr>
            <a:picLocks noChangeAspect="1"/>
          </p:cNvPicPr>
          <p:nvPr/>
        </p:nvPicPr>
        <p:blipFill>
          <a:blip r:embed="rId3"/>
          <a:stretch>
            <a:fillRect/>
          </a:stretch>
        </p:blipFill>
        <p:spPr>
          <a:xfrm>
            <a:off x="7484013" y="379375"/>
            <a:ext cx="1202788" cy="11905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01872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5" name="Shape 3"/>
          <p:cNvSpPr/>
          <p:nvPr/>
        </p:nvSpPr>
        <p:spPr>
          <a:xfrm>
            <a:off x="274320" y="1088604"/>
            <a:ext cx="8595360" cy="10698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274320" y="1088604"/>
            <a:ext cx="45719" cy="1069848"/>
          </a:xfrm>
          <a:prstGeom prst="rect">
            <a:avLst/>
          </a:prstGeom>
          <a:solidFill>
            <a:srgbClr val="EE9B00"/>
          </a:solidFill>
          <a:ln/>
        </p:spPr>
        <p:txBody>
          <a:bodyPr/>
          <a:lstStyle/>
          <a:p>
            <a:endParaRPr lang="en-US"/>
          </a:p>
        </p:txBody>
      </p:sp>
      <p:sp>
        <p:nvSpPr>
          <p:cNvPr id="7" name="Text 5"/>
          <p:cNvSpPr/>
          <p:nvPr/>
        </p:nvSpPr>
        <p:spPr>
          <a:xfrm>
            <a:off x="457200" y="1286724"/>
            <a:ext cx="8321040" cy="621792"/>
          </a:xfrm>
          <a:prstGeom prst="rect">
            <a:avLst/>
          </a:prstGeom>
          <a:noFill/>
          <a:ln/>
        </p:spPr>
        <p:txBody>
          <a:bodyPr wrap="square" lIns="0" tIns="0" rIns="0" bIns="0" rtlCol="0" anchor="ctr"/>
          <a:lstStyle/>
          <a:p>
            <a:pPr marL="0" indent="0">
              <a:buNone/>
            </a:pPr>
            <a:r>
              <a:rPr lang="en-US" sz="2000" dirty="0">
                <a:solidFill>
                  <a:srgbClr val="1E293B"/>
                </a:solidFill>
                <a:latin typeface="Times New Roman" panose="02020603050405020304" pitchFamily="18" charset="0"/>
                <a:ea typeface="Calibri" pitchFamily="34" charset="-122"/>
                <a:cs typeface="Times New Roman" panose="02020603050405020304" pitchFamily="18" charset="0"/>
              </a:rPr>
              <a:t>AI-generated scams are increasing. Social engineering manipulation is growing. Current systems lack explanation - users still fall victim.</a:t>
            </a:r>
            <a:endParaRPr lang="en-US" sz="2000" dirty="0">
              <a:latin typeface="Times New Roman" panose="02020603050405020304" pitchFamily="18" charset="0"/>
              <a:cs typeface="Times New Roman" panose="02020603050405020304" pitchFamily="18" charset="0"/>
            </a:endParaRPr>
          </a:p>
        </p:txBody>
      </p:sp>
      <p:sp>
        <p:nvSpPr>
          <p:cNvPr id="25" name="Shape 0">
            <a:extLst>
              <a:ext uri="{FF2B5EF4-FFF2-40B4-BE49-F238E27FC236}">
                <a16:creationId xmlns:a16="http://schemas.microsoft.com/office/drawing/2014/main" id="{2A03D93C-425B-BDE4-B115-E8F4FBC3BD70}"/>
              </a:ext>
            </a:extLst>
          </p:cNvPr>
          <p:cNvSpPr/>
          <p:nvPr/>
        </p:nvSpPr>
        <p:spPr>
          <a:xfrm>
            <a:off x="0" y="1"/>
            <a:ext cx="9144000" cy="81686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Human Centered Défense and Awareness System for AI – Driven Scams</a:t>
            </a:r>
          </a:p>
          <a:p>
            <a:r>
              <a:rPr lang="en-US" sz="2800" b="1" dirty="0">
                <a:solidFill>
                  <a:srgbClr val="FFFFFF"/>
                </a:solidFill>
                <a:latin typeface="Calibri" pitchFamily="34" charset="0"/>
                <a:ea typeface="Calibri" pitchFamily="34" charset="-122"/>
                <a:cs typeface="Calibri" pitchFamily="34" charset="-120"/>
              </a:rPr>
              <a:t>Problem</a:t>
            </a:r>
            <a:r>
              <a:rPr lang="en-US" sz="2800" dirty="0">
                <a:solidFill>
                  <a:schemeClr val="bg1"/>
                </a:solidFill>
              </a:rPr>
              <a:t> </a:t>
            </a:r>
            <a:r>
              <a:rPr lang="en-US" sz="2800" b="1" dirty="0">
                <a:solidFill>
                  <a:srgbClr val="FFFFFF"/>
                </a:solidFill>
                <a:latin typeface="Calibri" pitchFamily="34" charset="0"/>
                <a:ea typeface="Calibri" pitchFamily="34" charset="-122"/>
                <a:cs typeface="Calibri" pitchFamily="34" charset="-120"/>
              </a:rPr>
              <a:t>statement</a:t>
            </a:r>
          </a:p>
        </p:txBody>
      </p:sp>
      <p:sp>
        <p:nvSpPr>
          <p:cNvPr id="26" name="TextBox 25">
            <a:extLst>
              <a:ext uri="{FF2B5EF4-FFF2-40B4-BE49-F238E27FC236}">
                <a16:creationId xmlns:a16="http://schemas.microsoft.com/office/drawing/2014/main" id="{812FF2EA-59DE-0528-2E53-8D21D61AABBD}"/>
              </a:ext>
            </a:extLst>
          </p:cNvPr>
          <p:cNvSpPr txBox="1"/>
          <p:nvPr/>
        </p:nvSpPr>
        <p:spPr>
          <a:xfrm>
            <a:off x="2545080" y="4799260"/>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IT22299048| Visini Vidara| R26-CS-011</a:t>
            </a:r>
            <a:endParaRPr lang="en-US" sz="1200" dirty="0"/>
          </a:p>
        </p:txBody>
      </p:sp>
      <p:pic>
        <p:nvPicPr>
          <p:cNvPr id="27" name="Picture 2" descr="Thinking Shocked Open Mouth - Sticker Thinking Emoji Transparent PNG -  384x384 - Free Download on NicePNG">
            <a:extLst>
              <a:ext uri="{FF2B5EF4-FFF2-40B4-BE49-F238E27FC236}">
                <a16:creationId xmlns:a16="http://schemas.microsoft.com/office/drawing/2014/main" id="{2F687000-9B2B-C0E8-C371-F59EC7A51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3560" y="2822435"/>
            <a:ext cx="2849880" cy="14249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0C0D31-BD57-46A7-9786-226DB5069230}"/>
            </a:ext>
          </a:extLst>
        </p:cNvPr>
        <p:cNvGrpSpPr/>
        <p:nvPr/>
      </p:nvGrpSpPr>
      <p:grpSpPr>
        <a:xfrm>
          <a:off x="0" y="0"/>
          <a:ext cx="0" cy="0"/>
          <a:chOff x="0" y="0"/>
          <a:chExt cx="0" cy="0"/>
        </a:xfrm>
      </p:grpSpPr>
      <p:sp>
        <p:nvSpPr>
          <p:cNvPr id="53" name="Down Arrow 7">
            <a:extLst>
              <a:ext uri="{FF2B5EF4-FFF2-40B4-BE49-F238E27FC236}">
                <a16:creationId xmlns:a16="http://schemas.microsoft.com/office/drawing/2014/main" id="{56C1BDCD-9F0D-E0B0-D617-2F452132D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00075" y="1118507"/>
            <a:ext cx="2500312"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D17DA8C7-3DD7-2FC3-FAE9-4614FFEFDC91}"/>
              </a:ext>
            </a:extLst>
          </p:cNvPr>
          <p:cNvSpPr txBox="1"/>
          <p:nvPr/>
        </p:nvSpPr>
        <p:spPr>
          <a:xfrm>
            <a:off x="771525" y="1475449"/>
            <a:ext cx="1971675" cy="1910443"/>
          </a:xfrm>
          <a:prstGeom prst="rect">
            <a:avLst/>
          </a:prstGeom>
          <a:solidFill>
            <a:srgbClr val="0A9396"/>
          </a:solidFill>
        </p:spPr>
        <p:txBody>
          <a:bodyPr vert="horz" lIns="91440" tIns="45720" rIns="91440" bIns="45720" rtlCol="0" anchor="ctr">
            <a:normAutofit/>
          </a:bodyPr>
          <a:lstStyle/>
          <a:p>
            <a:pPr algn="ctr">
              <a:lnSpc>
                <a:spcPct val="90000"/>
              </a:lnSpc>
              <a:spcBef>
                <a:spcPct val="0"/>
              </a:spcBef>
              <a:spcAft>
                <a:spcPts val="600"/>
              </a:spcAft>
            </a:pPr>
            <a:r>
              <a:rPr lang="en-US" sz="2700" kern="1200" dirty="0">
                <a:solidFill>
                  <a:srgbClr val="FFFFFF"/>
                </a:solidFill>
                <a:latin typeface="+mj-lt"/>
                <a:ea typeface="+mj-ea"/>
                <a:cs typeface="+mj-cs"/>
              </a:rPr>
              <a:t>System Diagram</a:t>
            </a:r>
          </a:p>
        </p:txBody>
      </p:sp>
      <p:sp>
        <p:nvSpPr>
          <p:cNvPr id="4" name="Shape 0">
            <a:extLst>
              <a:ext uri="{FF2B5EF4-FFF2-40B4-BE49-F238E27FC236}">
                <a16:creationId xmlns:a16="http://schemas.microsoft.com/office/drawing/2014/main" id="{4D6F3F9C-1998-247E-6B95-8E5CF820D91D}"/>
              </a:ext>
            </a:extLst>
          </p:cNvPr>
          <p:cNvSpPr/>
          <p:nvPr/>
        </p:nvSpPr>
        <p:spPr>
          <a:xfrm>
            <a:off x="0" y="1"/>
            <a:ext cx="5291328" cy="402335"/>
          </a:xfrm>
          <a:prstGeom prst="rect">
            <a:avLst/>
          </a:prstGeom>
          <a:solidFill>
            <a:schemeClr val="bg1"/>
          </a:solidFill>
          <a:ln/>
        </p:spPr>
        <p:txBody>
          <a:bodyPr/>
          <a:lstStyle/>
          <a:p>
            <a:r>
              <a:rPr lang="en-US" sz="1400" b="1" dirty="0">
                <a:solidFill>
                  <a:sysClr val="windowText" lastClr="000000"/>
                </a:solidFill>
                <a:latin typeface="Calibri" pitchFamily="34" charset="0"/>
                <a:ea typeface="Calibri" pitchFamily="34" charset="-122"/>
                <a:cs typeface="Calibri" pitchFamily="34" charset="-120"/>
              </a:rPr>
              <a:t>Explainable Platform Attribution for AI-Generated Scam Detection</a:t>
            </a:r>
          </a:p>
        </p:txBody>
      </p:sp>
      <p:sp>
        <p:nvSpPr>
          <p:cNvPr id="5" name="TextBox 4">
            <a:extLst>
              <a:ext uri="{FF2B5EF4-FFF2-40B4-BE49-F238E27FC236}">
                <a16:creationId xmlns:a16="http://schemas.microsoft.com/office/drawing/2014/main" id="{31B2B621-54A7-EA8D-767B-C7C419F5B0F8}"/>
              </a:ext>
            </a:extLst>
          </p:cNvPr>
          <p:cNvSpPr txBox="1"/>
          <p:nvPr/>
        </p:nvSpPr>
        <p:spPr>
          <a:xfrm>
            <a:off x="2312670" y="4812669"/>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IT22299048| Visini Vidara| R26-CS-011</a:t>
            </a:r>
            <a:endParaRPr lang="en-US" sz="1200" dirty="0"/>
          </a:p>
        </p:txBody>
      </p:sp>
      <p:pic>
        <p:nvPicPr>
          <p:cNvPr id="8" name="Picture 2" descr="Emoji Idea Lightbulb Thinking Expression Creative Concept Innovation Stock  Illustration - Illustration of idea, creative: 379340858">
            <a:extLst>
              <a:ext uri="{FF2B5EF4-FFF2-40B4-BE49-F238E27FC236}">
                <a16:creationId xmlns:a16="http://schemas.microsoft.com/office/drawing/2014/main" id="{FDC20BFA-7C53-9482-1E16-AFDA62252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7175" y="3032760"/>
            <a:ext cx="1118548" cy="157734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9B6AB69-4D4B-AF99-4136-50250D5783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24786" y="354969"/>
            <a:ext cx="2971800" cy="4457700"/>
          </a:xfrm>
          <a:prstGeom prst="rect">
            <a:avLst/>
          </a:prstGeom>
          <a:ln w="9525">
            <a:noFill/>
          </a:ln>
          <a:effectLst>
            <a:outerShdw blurRad="44450" dist="27940" dir="5400000" algn="ctr">
              <a:srgbClr val="000000">
                <a:alpha val="32000"/>
              </a:srgbClr>
            </a:outerShdw>
            <a:softEdge rad="112500"/>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27908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9588189E-737F-3D8B-AEBD-2F44AA74CF30}"/>
            </a:ext>
          </a:extLst>
        </p:cNvPr>
        <p:cNvGrpSpPr/>
        <p:nvPr/>
      </p:nvGrpSpPr>
      <p:grpSpPr>
        <a:xfrm>
          <a:off x="0" y="0"/>
          <a:ext cx="0" cy="0"/>
          <a:chOff x="0" y="0"/>
          <a:chExt cx="0" cy="0"/>
        </a:xfrm>
      </p:grpSpPr>
      <p:sp>
        <p:nvSpPr>
          <p:cNvPr id="9" name="Shape 7">
            <a:extLst>
              <a:ext uri="{FF2B5EF4-FFF2-40B4-BE49-F238E27FC236}">
                <a16:creationId xmlns:a16="http://schemas.microsoft.com/office/drawing/2014/main" id="{DBB670AC-A77C-1450-4FAB-F6885E6780AF}"/>
              </a:ext>
            </a:extLst>
          </p:cNvPr>
          <p:cNvSpPr/>
          <p:nvPr/>
        </p:nvSpPr>
        <p:spPr>
          <a:xfrm>
            <a:off x="274320" y="1493520"/>
            <a:ext cx="4206240" cy="8961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0" name="Shape 8">
            <a:extLst>
              <a:ext uri="{FF2B5EF4-FFF2-40B4-BE49-F238E27FC236}">
                <a16:creationId xmlns:a16="http://schemas.microsoft.com/office/drawing/2014/main" id="{B514D43B-252F-7B7C-D629-73C929E98422}"/>
              </a:ext>
            </a:extLst>
          </p:cNvPr>
          <p:cNvSpPr/>
          <p:nvPr/>
        </p:nvSpPr>
        <p:spPr>
          <a:xfrm>
            <a:off x="274320" y="1493520"/>
            <a:ext cx="73152" cy="896112"/>
          </a:xfrm>
          <a:prstGeom prst="rect">
            <a:avLst/>
          </a:prstGeom>
          <a:solidFill>
            <a:srgbClr val="0A9396"/>
          </a:solidFill>
          <a:ln/>
        </p:spPr>
        <p:txBody>
          <a:bodyPr/>
          <a:lstStyle/>
          <a:p>
            <a:endParaRPr lang="en-US"/>
          </a:p>
        </p:txBody>
      </p:sp>
      <p:sp>
        <p:nvSpPr>
          <p:cNvPr id="11" name="Text 9">
            <a:extLst>
              <a:ext uri="{FF2B5EF4-FFF2-40B4-BE49-F238E27FC236}">
                <a16:creationId xmlns:a16="http://schemas.microsoft.com/office/drawing/2014/main" id="{A81D9B39-D853-0288-3048-F168DCFD2416}"/>
              </a:ext>
            </a:extLst>
          </p:cNvPr>
          <p:cNvSpPr/>
          <p:nvPr/>
        </p:nvSpPr>
        <p:spPr>
          <a:xfrm>
            <a:off x="457200" y="1548384"/>
            <a:ext cx="393192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Adaptive Blocking</a:t>
            </a:r>
            <a:endParaRPr lang="en-US" sz="1300" dirty="0"/>
          </a:p>
        </p:txBody>
      </p:sp>
      <p:sp>
        <p:nvSpPr>
          <p:cNvPr id="12" name="Text 10">
            <a:extLst>
              <a:ext uri="{FF2B5EF4-FFF2-40B4-BE49-F238E27FC236}">
                <a16:creationId xmlns:a16="http://schemas.microsoft.com/office/drawing/2014/main" id="{6F1B6878-8A8E-6551-1E1E-E7DC50D5E40C}"/>
              </a:ext>
            </a:extLst>
          </p:cNvPr>
          <p:cNvSpPr/>
          <p:nvPr/>
        </p:nvSpPr>
        <p:spPr>
          <a:xfrm>
            <a:off x="457200" y="1840992"/>
            <a:ext cx="393192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Soft → Hard blocking mechanism based on risk level</a:t>
            </a:r>
            <a:endParaRPr lang="en-US" sz="1100" dirty="0"/>
          </a:p>
        </p:txBody>
      </p:sp>
      <p:sp>
        <p:nvSpPr>
          <p:cNvPr id="13" name="Shape 11">
            <a:extLst>
              <a:ext uri="{FF2B5EF4-FFF2-40B4-BE49-F238E27FC236}">
                <a16:creationId xmlns:a16="http://schemas.microsoft.com/office/drawing/2014/main" id="{4D03794C-F13D-1B00-20D5-81BB18E2442C}"/>
              </a:ext>
            </a:extLst>
          </p:cNvPr>
          <p:cNvSpPr/>
          <p:nvPr/>
        </p:nvSpPr>
        <p:spPr>
          <a:xfrm>
            <a:off x="4709160" y="1493520"/>
            <a:ext cx="4206240" cy="8961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Shape 12">
            <a:extLst>
              <a:ext uri="{FF2B5EF4-FFF2-40B4-BE49-F238E27FC236}">
                <a16:creationId xmlns:a16="http://schemas.microsoft.com/office/drawing/2014/main" id="{57A2F919-8C21-7C58-11F6-AAF613E613A5}"/>
              </a:ext>
            </a:extLst>
          </p:cNvPr>
          <p:cNvSpPr/>
          <p:nvPr/>
        </p:nvSpPr>
        <p:spPr>
          <a:xfrm>
            <a:off x="4709160" y="1493520"/>
            <a:ext cx="73152" cy="896112"/>
          </a:xfrm>
          <a:prstGeom prst="rect">
            <a:avLst/>
          </a:prstGeom>
          <a:solidFill>
            <a:srgbClr val="0A9396"/>
          </a:solidFill>
          <a:ln/>
        </p:spPr>
        <p:txBody>
          <a:bodyPr/>
          <a:lstStyle/>
          <a:p>
            <a:endParaRPr lang="en-US"/>
          </a:p>
        </p:txBody>
      </p:sp>
      <p:sp>
        <p:nvSpPr>
          <p:cNvPr id="15" name="Text 13">
            <a:extLst>
              <a:ext uri="{FF2B5EF4-FFF2-40B4-BE49-F238E27FC236}">
                <a16:creationId xmlns:a16="http://schemas.microsoft.com/office/drawing/2014/main" id="{45AB2C95-9804-CADE-525F-E7EA9D44E439}"/>
              </a:ext>
            </a:extLst>
          </p:cNvPr>
          <p:cNvSpPr/>
          <p:nvPr/>
        </p:nvSpPr>
        <p:spPr>
          <a:xfrm>
            <a:off x="4892040" y="1548384"/>
            <a:ext cx="393192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Explainable Analysis</a:t>
            </a:r>
            <a:endParaRPr lang="en-US" sz="1300" dirty="0"/>
          </a:p>
        </p:txBody>
      </p:sp>
      <p:sp>
        <p:nvSpPr>
          <p:cNvPr id="16" name="Text 14">
            <a:extLst>
              <a:ext uri="{FF2B5EF4-FFF2-40B4-BE49-F238E27FC236}">
                <a16:creationId xmlns:a16="http://schemas.microsoft.com/office/drawing/2014/main" id="{BB02F53D-7543-EB95-25A1-0244273A3273}"/>
              </a:ext>
            </a:extLst>
          </p:cNvPr>
          <p:cNvSpPr/>
          <p:nvPr/>
        </p:nvSpPr>
        <p:spPr>
          <a:xfrm>
            <a:off x="4892040" y="1840992"/>
            <a:ext cx="393192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Identifies and highlights suspicious indicators in scam messages</a:t>
            </a:r>
            <a:endParaRPr lang="en-US" sz="1100" dirty="0"/>
          </a:p>
        </p:txBody>
      </p:sp>
      <p:sp>
        <p:nvSpPr>
          <p:cNvPr id="17" name="Shape 15">
            <a:extLst>
              <a:ext uri="{FF2B5EF4-FFF2-40B4-BE49-F238E27FC236}">
                <a16:creationId xmlns:a16="http://schemas.microsoft.com/office/drawing/2014/main" id="{93E0C973-6509-4D32-ECAC-4EF12632944F}"/>
              </a:ext>
            </a:extLst>
          </p:cNvPr>
          <p:cNvSpPr/>
          <p:nvPr/>
        </p:nvSpPr>
        <p:spPr>
          <a:xfrm>
            <a:off x="274320" y="2545080"/>
            <a:ext cx="4206240" cy="8961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8" name="Shape 16">
            <a:extLst>
              <a:ext uri="{FF2B5EF4-FFF2-40B4-BE49-F238E27FC236}">
                <a16:creationId xmlns:a16="http://schemas.microsoft.com/office/drawing/2014/main" id="{86D47C59-0837-5FD1-9CFE-1C0B093745FD}"/>
              </a:ext>
            </a:extLst>
          </p:cNvPr>
          <p:cNvSpPr/>
          <p:nvPr/>
        </p:nvSpPr>
        <p:spPr>
          <a:xfrm>
            <a:off x="274320" y="2545080"/>
            <a:ext cx="73152" cy="896112"/>
          </a:xfrm>
          <a:prstGeom prst="rect">
            <a:avLst/>
          </a:prstGeom>
          <a:solidFill>
            <a:srgbClr val="0A9396"/>
          </a:solidFill>
          <a:ln/>
        </p:spPr>
        <p:txBody>
          <a:bodyPr/>
          <a:lstStyle/>
          <a:p>
            <a:endParaRPr lang="en-US"/>
          </a:p>
        </p:txBody>
      </p:sp>
      <p:sp>
        <p:nvSpPr>
          <p:cNvPr id="19" name="Text 17">
            <a:extLst>
              <a:ext uri="{FF2B5EF4-FFF2-40B4-BE49-F238E27FC236}">
                <a16:creationId xmlns:a16="http://schemas.microsoft.com/office/drawing/2014/main" id="{FDBC0CDC-0F1E-7D76-B18C-42A7CCC1E377}"/>
              </a:ext>
            </a:extLst>
          </p:cNvPr>
          <p:cNvSpPr/>
          <p:nvPr/>
        </p:nvSpPr>
        <p:spPr>
          <a:xfrm>
            <a:off x="457200" y="2599944"/>
            <a:ext cx="393192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Scam Breakdown</a:t>
            </a:r>
            <a:endParaRPr lang="en-US" sz="1300" dirty="0"/>
          </a:p>
        </p:txBody>
      </p:sp>
      <p:sp>
        <p:nvSpPr>
          <p:cNvPr id="20" name="Text 18">
            <a:extLst>
              <a:ext uri="{FF2B5EF4-FFF2-40B4-BE49-F238E27FC236}">
                <a16:creationId xmlns:a16="http://schemas.microsoft.com/office/drawing/2014/main" id="{0E3AD5C1-35F9-6332-5E48-FD7D547D1EF0}"/>
              </a:ext>
            </a:extLst>
          </p:cNvPr>
          <p:cNvSpPr/>
          <p:nvPr/>
        </p:nvSpPr>
        <p:spPr>
          <a:xfrm>
            <a:off x="457200" y="2892552"/>
            <a:ext cx="393192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Visual breakdown of malicious message parts for user understanding</a:t>
            </a:r>
            <a:endParaRPr lang="en-US" sz="1100" dirty="0"/>
          </a:p>
        </p:txBody>
      </p:sp>
      <p:sp>
        <p:nvSpPr>
          <p:cNvPr id="21" name="Shape 19">
            <a:extLst>
              <a:ext uri="{FF2B5EF4-FFF2-40B4-BE49-F238E27FC236}">
                <a16:creationId xmlns:a16="http://schemas.microsoft.com/office/drawing/2014/main" id="{8C6E2792-4F06-0498-F417-DA3070B03591}"/>
              </a:ext>
            </a:extLst>
          </p:cNvPr>
          <p:cNvSpPr/>
          <p:nvPr/>
        </p:nvSpPr>
        <p:spPr>
          <a:xfrm>
            <a:off x="4709160" y="2545080"/>
            <a:ext cx="4206240" cy="89611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2" name="Shape 20">
            <a:extLst>
              <a:ext uri="{FF2B5EF4-FFF2-40B4-BE49-F238E27FC236}">
                <a16:creationId xmlns:a16="http://schemas.microsoft.com/office/drawing/2014/main" id="{45C90153-471C-9585-CA77-9B5E13BFE2C3}"/>
              </a:ext>
            </a:extLst>
          </p:cNvPr>
          <p:cNvSpPr/>
          <p:nvPr/>
        </p:nvSpPr>
        <p:spPr>
          <a:xfrm>
            <a:off x="4709160" y="2545080"/>
            <a:ext cx="73152" cy="896112"/>
          </a:xfrm>
          <a:prstGeom prst="rect">
            <a:avLst/>
          </a:prstGeom>
          <a:solidFill>
            <a:srgbClr val="0A9396"/>
          </a:solidFill>
          <a:ln/>
        </p:spPr>
        <p:txBody>
          <a:bodyPr/>
          <a:lstStyle/>
          <a:p>
            <a:endParaRPr lang="en-US"/>
          </a:p>
        </p:txBody>
      </p:sp>
      <p:sp>
        <p:nvSpPr>
          <p:cNvPr id="23" name="Text 21">
            <a:extLst>
              <a:ext uri="{FF2B5EF4-FFF2-40B4-BE49-F238E27FC236}">
                <a16:creationId xmlns:a16="http://schemas.microsoft.com/office/drawing/2014/main" id="{850DA3CA-24DC-95EC-7BA7-80560B0CC29F}"/>
              </a:ext>
            </a:extLst>
          </p:cNvPr>
          <p:cNvSpPr/>
          <p:nvPr/>
        </p:nvSpPr>
        <p:spPr>
          <a:xfrm>
            <a:off x="4892040" y="2599944"/>
            <a:ext cx="3931920" cy="292608"/>
          </a:xfrm>
          <a:prstGeom prst="rect">
            <a:avLst/>
          </a:prstGeom>
          <a:noFill/>
          <a:ln/>
        </p:spPr>
        <p:txBody>
          <a:bodyPr wrap="square" lIns="0" tIns="0" rIns="0" bIns="0" rtlCol="0" anchor="ctr"/>
          <a:lstStyle/>
          <a:p>
            <a:pPr marL="0" indent="0">
              <a:buNone/>
            </a:pPr>
            <a:r>
              <a:rPr lang="en-US" sz="1300" b="1" dirty="0">
                <a:solidFill>
                  <a:srgbClr val="0A9396"/>
                </a:solidFill>
                <a:latin typeface="Calibri" pitchFamily="34" charset="0"/>
                <a:ea typeface="Calibri" pitchFamily="34" charset="-122"/>
                <a:cs typeface="Calibri" pitchFamily="34" charset="-120"/>
              </a:rPr>
              <a:t>Awareness Dashboard</a:t>
            </a:r>
            <a:endParaRPr lang="en-US" sz="1300" dirty="0"/>
          </a:p>
        </p:txBody>
      </p:sp>
      <p:sp>
        <p:nvSpPr>
          <p:cNvPr id="24" name="Text 22">
            <a:extLst>
              <a:ext uri="{FF2B5EF4-FFF2-40B4-BE49-F238E27FC236}">
                <a16:creationId xmlns:a16="http://schemas.microsoft.com/office/drawing/2014/main" id="{9E041723-C719-85B7-7E4B-5B2985D90641}"/>
              </a:ext>
            </a:extLst>
          </p:cNvPr>
          <p:cNvSpPr/>
          <p:nvPr/>
        </p:nvSpPr>
        <p:spPr>
          <a:xfrm>
            <a:off x="4892040" y="2892552"/>
            <a:ext cx="3931920" cy="475488"/>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Helps users understand and recognize scam techniques over time</a:t>
            </a:r>
            <a:endParaRPr lang="en-US" sz="1100" dirty="0"/>
          </a:p>
        </p:txBody>
      </p:sp>
      <p:sp>
        <p:nvSpPr>
          <p:cNvPr id="25" name="Shape 0">
            <a:extLst>
              <a:ext uri="{FF2B5EF4-FFF2-40B4-BE49-F238E27FC236}">
                <a16:creationId xmlns:a16="http://schemas.microsoft.com/office/drawing/2014/main" id="{8620D1CA-8190-0D1E-120D-5E83E960CBB5}"/>
              </a:ext>
            </a:extLst>
          </p:cNvPr>
          <p:cNvSpPr/>
          <p:nvPr/>
        </p:nvSpPr>
        <p:spPr>
          <a:xfrm>
            <a:off x="0" y="1"/>
            <a:ext cx="9144000" cy="81686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Human Centered Défense and Awareness System for AI – Driven Scams</a:t>
            </a:r>
          </a:p>
          <a:p>
            <a:r>
              <a:rPr lang="en-US" sz="2800" b="1" dirty="0">
                <a:solidFill>
                  <a:srgbClr val="FFFFFF"/>
                </a:solidFill>
                <a:latin typeface="Calibri" pitchFamily="34" charset="0"/>
                <a:ea typeface="Calibri" pitchFamily="34" charset="-122"/>
                <a:cs typeface="Calibri" pitchFamily="34" charset="-120"/>
              </a:rPr>
              <a:t>Novelties</a:t>
            </a:r>
          </a:p>
        </p:txBody>
      </p:sp>
      <p:sp>
        <p:nvSpPr>
          <p:cNvPr id="2" name="TextBox 1">
            <a:extLst>
              <a:ext uri="{FF2B5EF4-FFF2-40B4-BE49-F238E27FC236}">
                <a16:creationId xmlns:a16="http://schemas.microsoft.com/office/drawing/2014/main" id="{0E84FB0C-80C3-6A18-9533-0EDF103C2AC3}"/>
              </a:ext>
            </a:extLst>
          </p:cNvPr>
          <p:cNvSpPr txBox="1"/>
          <p:nvPr/>
        </p:nvSpPr>
        <p:spPr>
          <a:xfrm>
            <a:off x="2312670" y="4812669"/>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IT22299048| Visini Vidara| R26-CS-011</a:t>
            </a:r>
            <a:endParaRPr lang="en-US" sz="1200" dirty="0"/>
          </a:p>
        </p:txBody>
      </p:sp>
    </p:spTree>
    <p:extLst>
      <p:ext uri="{BB962C8B-B14F-4D97-AF65-F5344CB8AC3E}">
        <p14:creationId xmlns:p14="http://schemas.microsoft.com/office/powerpoint/2010/main" val="2068240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4" name="Shape 2"/>
          <p:cNvSpPr/>
          <p:nvPr/>
        </p:nvSpPr>
        <p:spPr>
          <a:xfrm>
            <a:off x="274320" y="1032510"/>
            <a:ext cx="8595360" cy="182041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dirty="0"/>
          </a:p>
        </p:txBody>
      </p:sp>
      <p:sp>
        <p:nvSpPr>
          <p:cNvPr id="5" name="Shape 3"/>
          <p:cNvSpPr/>
          <p:nvPr/>
        </p:nvSpPr>
        <p:spPr>
          <a:xfrm>
            <a:off x="274320" y="920496"/>
            <a:ext cx="8595360" cy="533400"/>
          </a:xfrm>
          <a:prstGeom prst="rect">
            <a:avLst/>
          </a:prstGeom>
          <a:solidFill>
            <a:srgbClr val="0A9396"/>
          </a:solidFill>
          <a:ln/>
        </p:spPr>
        <p:txBody>
          <a:bodyPr/>
          <a:lstStyle/>
          <a:p>
            <a:endParaRPr lang="en-US"/>
          </a:p>
        </p:txBody>
      </p:sp>
      <p:sp>
        <p:nvSpPr>
          <p:cNvPr id="6" name="Text 4"/>
          <p:cNvSpPr/>
          <p:nvPr/>
        </p:nvSpPr>
        <p:spPr>
          <a:xfrm>
            <a:off x="457200" y="920495"/>
            <a:ext cx="8321040" cy="461665"/>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Main Objective: Design a human-centered defense system for AI-driven scams</a:t>
            </a:r>
            <a:endParaRPr lang="en-US" sz="1300" dirty="0"/>
          </a:p>
        </p:txBody>
      </p:sp>
      <p:sp>
        <p:nvSpPr>
          <p:cNvPr id="7" name="Text 5"/>
          <p:cNvSpPr/>
          <p:nvPr/>
        </p:nvSpPr>
        <p:spPr>
          <a:xfrm>
            <a:off x="457200" y="1938528"/>
            <a:ext cx="41148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Adaptive blocking engine</a:t>
            </a:r>
            <a:endParaRPr lang="en-US" sz="1200" dirty="0"/>
          </a:p>
        </p:txBody>
      </p:sp>
      <p:sp>
        <p:nvSpPr>
          <p:cNvPr id="8" name="Text 6"/>
          <p:cNvSpPr/>
          <p:nvPr/>
        </p:nvSpPr>
        <p:spPr>
          <a:xfrm>
            <a:off x="4754880" y="1938528"/>
            <a:ext cx="41148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Scam explanation module</a:t>
            </a:r>
            <a:endParaRPr lang="en-US" sz="1200" dirty="0"/>
          </a:p>
        </p:txBody>
      </p:sp>
      <p:sp>
        <p:nvSpPr>
          <p:cNvPr id="9" name="Text 7"/>
          <p:cNvSpPr/>
          <p:nvPr/>
        </p:nvSpPr>
        <p:spPr>
          <a:xfrm>
            <a:off x="457200" y="2276856"/>
            <a:ext cx="41148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Scam breakdown mechanism</a:t>
            </a:r>
            <a:endParaRPr lang="en-US" sz="1200" dirty="0"/>
          </a:p>
        </p:txBody>
      </p:sp>
      <p:sp>
        <p:nvSpPr>
          <p:cNvPr id="10" name="Text 8"/>
          <p:cNvSpPr/>
          <p:nvPr/>
        </p:nvSpPr>
        <p:spPr>
          <a:xfrm>
            <a:off x="4754880" y="2276856"/>
            <a:ext cx="4114800" cy="292608"/>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 Awareness dashboard</a:t>
            </a:r>
            <a:endParaRPr lang="en-US" sz="1200" dirty="0"/>
          </a:p>
        </p:txBody>
      </p:sp>
      <p:sp>
        <p:nvSpPr>
          <p:cNvPr id="37" name="Shape 0">
            <a:extLst>
              <a:ext uri="{FF2B5EF4-FFF2-40B4-BE49-F238E27FC236}">
                <a16:creationId xmlns:a16="http://schemas.microsoft.com/office/drawing/2014/main" id="{0789A95C-CD69-3CB1-4C3A-42BF697102EA}"/>
              </a:ext>
            </a:extLst>
          </p:cNvPr>
          <p:cNvSpPr/>
          <p:nvPr/>
        </p:nvSpPr>
        <p:spPr>
          <a:xfrm>
            <a:off x="0" y="1"/>
            <a:ext cx="9144000" cy="816864"/>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Human Centered Défense and Awareness System for AI – Driven Scams</a:t>
            </a:r>
          </a:p>
          <a:p>
            <a:r>
              <a:rPr lang="en-US" sz="2800" b="1" dirty="0">
                <a:solidFill>
                  <a:srgbClr val="FFFFFF"/>
                </a:solidFill>
                <a:latin typeface="Calibri" pitchFamily="34" charset="0"/>
                <a:ea typeface="Calibri" pitchFamily="34" charset="-122"/>
                <a:cs typeface="Calibri" pitchFamily="34" charset="-120"/>
              </a:rPr>
              <a:t>Objectives and Knowledge Domain</a:t>
            </a:r>
          </a:p>
        </p:txBody>
      </p:sp>
      <p:sp>
        <p:nvSpPr>
          <p:cNvPr id="39" name="TextBox 38">
            <a:extLst>
              <a:ext uri="{FF2B5EF4-FFF2-40B4-BE49-F238E27FC236}">
                <a16:creationId xmlns:a16="http://schemas.microsoft.com/office/drawing/2014/main" id="{729CF569-3095-FEE7-B27F-D0EE037519C1}"/>
              </a:ext>
            </a:extLst>
          </p:cNvPr>
          <p:cNvSpPr txBox="1"/>
          <p:nvPr/>
        </p:nvSpPr>
        <p:spPr>
          <a:xfrm>
            <a:off x="457200" y="1499616"/>
            <a:ext cx="2407920" cy="461665"/>
          </a:xfrm>
          <a:prstGeom prst="rect">
            <a:avLst/>
          </a:prstGeom>
          <a:noFill/>
        </p:spPr>
        <p:txBody>
          <a:bodyPr wrap="square" rtlCol="0">
            <a:spAutoFit/>
          </a:bodyPr>
          <a:lstStyle/>
          <a:p>
            <a:r>
              <a:rPr lang="en-US" sz="1200" b="1" dirty="0">
                <a:solidFill>
                  <a:srgbClr val="0D1B2A"/>
                </a:solidFill>
                <a:latin typeface="Calibri" pitchFamily="34" charset="0"/>
                <a:ea typeface="Calibri" pitchFamily="34" charset="-122"/>
                <a:cs typeface="Calibri" pitchFamily="34" charset="-120"/>
              </a:rPr>
              <a:t>Sub-Objectives</a:t>
            </a:r>
            <a:endParaRPr lang="en-US" sz="1200" dirty="0"/>
          </a:p>
          <a:p>
            <a:endParaRPr lang="en-US" sz="1200" dirty="0"/>
          </a:p>
        </p:txBody>
      </p:sp>
      <p:sp>
        <p:nvSpPr>
          <p:cNvPr id="40" name="Shape 2">
            <a:extLst>
              <a:ext uri="{FF2B5EF4-FFF2-40B4-BE49-F238E27FC236}">
                <a16:creationId xmlns:a16="http://schemas.microsoft.com/office/drawing/2014/main" id="{CC4DF420-EFFA-9AB9-EDDC-3F5C10C02C61}"/>
              </a:ext>
            </a:extLst>
          </p:cNvPr>
          <p:cNvSpPr/>
          <p:nvPr/>
        </p:nvSpPr>
        <p:spPr>
          <a:xfrm>
            <a:off x="274320" y="3099162"/>
            <a:ext cx="8595360" cy="160695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dirty="0"/>
          </a:p>
        </p:txBody>
      </p:sp>
      <p:sp>
        <p:nvSpPr>
          <p:cNvPr id="46" name="Shape 3">
            <a:extLst>
              <a:ext uri="{FF2B5EF4-FFF2-40B4-BE49-F238E27FC236}">
                <a16:creationId xmlns:a16="http://schemas.microsoft.com/office/drawing/2014/main" id="{78F78559-BB0C-6301-4FFA-52904DBC4008}"/>
              </a:ext>
            </a:extLst>
          </p:cNvPr>
          <p:cNvSpPr/>
          <p:nvPr/>
        </p:nvSpPr>
        <p:spPr>
          <a:xfrm>
            <a:off x="262128" y="3099162"/>
            <a:ext cx="8595360" cy="421386"/>
          </a:xfrm>
          <a:prstGeom prst="rect">
            <a:avLst/>
          </a:prstGeom>
          <a:solidFill>
            <a:srgbClr val="0A9396"/>
          </a:solidFill>
          <a:ln/>
        </p:spPr>
        <p:txBody>
          <a:bodyPr/>
          <a:lstStyle/>
          <a:p>
            <a:r>
              <a:rPr lang="en-US" sz="1300" b="1" dirty="0">
                <a:solidFill>
                  <a:schemeClr val="bg1"/>
                </a:solidFill>
              </a:rPr>
              <a:t>Knowledge Domain</a:t>
            </a:r>
          </a:p>
        </p:txBody>
      </p:sp>
      <p:sp>
        <p:nvSpPr>
          <p:cNvPr id="47" name="Text 4">
            <a:extLst>
              <a:ext uri="{FF2B5EF4-FFF2-40B4-BE49-F238E27FC236}">
                <a16:creationId xmlns:a16="http://schemas.microsoft.com/office/drawing/2014/main" id="{CE80B6E7-1DBD-FB62-CC74-C944CF570764}"/>
              </a:ext>
            </a:extLst>
          </p:cNvPr>
          <p:cNvSpPr/>
          <p:nvPr/>
        </p:nvSpPr>
        <p:spPr>
          <a:xfrm>
            <a:off x="457200" y="3135029"/>
            <a:ext cx="8321040" cy="461665"/>
          </a:xfrm>
          <a:prstGeom prst="rect">
            <a:avLst/>
          </a:prstGeom>
          <a:noFill/>
          <a:ln/>
        </p:spPr>
        <p:txBody>
          <a:bodyPr wrap="square" lIns="0" tIns="0" rIns="0" bIns="0" rtlCol="0" anchor="ctr"/>
          <a:lstStyle/>
          <a:p>
            <a:pPr marL="0" indent="0">
              <a:buNone/>
            </a:pPr>
            <a:endParaRPr lang="en-US" sz="1300" dirty="0"/>
          </a:p>
        </p:txBody>
      </p:sp>
      <p:sp>
        <p:nvSpPr>
          <p:cNvPr id="48" name="TextBox 47">
            <a:extLst>
              <a:ext uri="{FF2B5EF4-FFF2-40B4-BE49-F238E27FC236}">
                <a16:creationId xmlns:a16="http://schemas.microsoft.com/office/drawing/2014/main" id="{D6CFCDB6-8C11-33AF-4619-805B76F57E40}"/>
              </a:ext>
            </a:extLst>
          </p:cNvPr>
          <p:cNvSpPr txBox="1"/>
          <p:nvPr/>
        </p:nvSpPr>
        <p:spPr>
          <a:xfrm>
            <a:off x="457200" y="3596694"/>
            <a:ext cx="8400288" cy="894732"/>
          </a:xfrm>
          <a:prstGeom prst="rect">
            <a:avLst/>
          </a:prstGeom>
          <a:noFill/>
        </p:spPr>
        <p:txBody>
          <a:bodyPr wrap="square" rtlCol="0">
            <a:spAutoFit/>
          </a:bodyPr>
          <a:lstStyle/>
          <a:p>
            <a:pPr>
              <a:lnSpc>
                <a:spcPct val="150000"/>
              </a:lnSpc>
            </a:pPr>
            <a:r>
              <a:rPr lang="en-US" sz="1200" dirty="0"/>
              <a:t>•  Cybersecurity (Social Engineering Defense) – Understanding phishing and scam attack techniques.</a:t>
            </a:r>
          </a:p>
          <a:p>
            <a:pPr>
              <a:lnSpc>
                <a:spcPct val="150000"/>
              </a:lnSpc>
            </a:pPr>
            <a:r>
              <a:rPr lang="en-US" sz="1200" dirty="0"/>
              <a:t>•  Artificial Intelligence &amp; Natural Language Processing (NLP) - Detecting suspicious language patterns in scam messages.</a:t>
            </a:r>
          </a:p>
          <a:p>
            <a:pPr>
              <a:lnSpc>
                <a:spcPct val="150000"/>
              </a:lnSpc>
            </a:pPr>
            <a:r>
              <a:rPr lang="en-US" sz="1200" dirty="0"/>
              <a:t>•  Human-Centered Security Design - Improving user awareness through explanation and visualization.</a:t>
            </a:r>
          </a:p>
        </p:txBody>
      </p:sp>
      <p:sp>
        <p:nvSpPr>
          <p:cNvPr id="49" name="TextBox 48">
            <a:extLst>
              <a:ext uri="{FF2B5EF4-FFF2-40B4-BE49-F238E27FC236}">
                <a16:creationId xmlns:a16="http://schemas.microsoft.com/office/drawing/2014/main" id="{217A1E61-16F9-D6CC-0F69-A6F059418F67}"/>
              </a:ext>
            </a:extLst>
          </p:cNvPr>
          <p:cNvSpPr txBox="1"/>
          <p:nvPr/>
        </p:nvSpPr>
        <p:spPr>
          <a:xfrm>
            <a:off x="2312670" y="4812669"/>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IT22299048| Visini Vidara| R26-CS-011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6A4E1A4D-8DDA-AB07-901F-945FB9A72355}"/>
            </a:ext>
          </a:extLst>
        </p:cNvPr>
        <p:cNvGrpSpPr/>
        <p:nvPr/>
      </p:nvGrpSpPr>
      <p:grpSpPr>
        <a:xfrm>
          <a:off x="0" y="0"/>
          <a:ext cx="0" cy="0"/>
          <a:chOff x="0" y="0"/>
          <a:chExt cx="0" cy="0"/>
        </a:xfrm>
      </p:grpSpPr>
      <p:sp>
        <p:nvSpPr>
          <p:cNvPr id="11" name="Text 9">
            <a:extLst>
              <a:ext uri="{FF2B5EF4-FFF2-40B4-BE49-F238E27FC236}">
                <a16:creationId xmlns:a16="http://schemas.microsoft.com/office/drawing/2014/main" id="{53DAD319-562C-3013-C15F-B673D951ABF7}"/>
              </a:ext>
            </a:extLst>
          </p:cNvPr>
          <p:cNvSpPr/>
          <p:nvPr/>
        </p:nvSpPr>
        <p:spPr>
          <a:xfrm>
            <a:off x="274320" y="697992"/>
            <a:ext cx="4572000" cy="347472"/>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Technology Stack</a:t>
            </a:r>
            <a:endParaRPr lang="en-US" sz="1400" dirty="0"/>
          </a:p>
        </p:txBody>
      </p:sp>
      <p:sp>
        <p:nvSpPr>
          <p:cNvPr id="12" name="Shape 10">
            <a:extLst>
              <a:ext uri="{FF2B5EF4-FFF2-40B4-BE49-F238E27FC236}">
                <a16:creationId xmlns:a16="http://schemas.microsoft.com/office/drawing/2014/main" id="{8114F182-6964-B100-CF4D-B5BFD4E9C2BF}"/>
              </a:ext>
            </a:extLst>
          </p:cNvPr>
          <p:cNvSpPr/>
          <p:nvPr/>
        </p:nvSpPr>
        <p:spPr>
          <a:xfrm>
            <a:off x="274320" y="1036320"/>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3" name="Text 11">
            <a:extLst>
              <a:ext uri="{FF2B5EF4-FFF2-40B4-BE49-F238E27FC236}">
                <a16:creationId xmlns:a16="http://schemas.microsoft.com/office/drawing/2014/main" id="{A73B5311-76D6-2FA7-82A6-CE9A345FEB89}"/>
              </a:ext>
            </a:extLst>
          </p:cNvPr>
          <p:cNvSpPr/>
          <p:nvPr/>
        </p:nvSpPr>
        <p:spPr>
          <a:xfrm>
            <a:off x="320040" y="1018032"/>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Python</a:t>
            </a:r>
            <a:endParaRPr lang="en-US" sz="1100" dirty="0"/>
          </a:p>
        </p:txBody>
      </p:sp>
      <p:sp>
        <p:nvSpPr>
          <p:cNvPr id="14" name="Text 12">
            <a:extLst>
              <a:ext uri="{FF2B5EF4-FFF2-40B4-BE49-F238E27FC236}">
                <a16:creationId xmlns:a16="http://schemas.microsoft.com/office/drawing/2014/main" id="{8D83CB5A-817D-2B16-DE03-62BCBA99AA02}"/>
              </a:ext>
            </a:extLst>
          </p:cNvPr>
          <p:cNvSpPr/>
          <p:nvPr/>
        </p:nvSpPr>
        <p:spPr>
          <a:xfrm>
            <a:off x="320040" y="1292352"/>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Core logic</a:t>
            </a:r>
            <a:endParaRPr lang="en-US" sz="1000" dirty="0"/>
          </a:p>
        </p:txBody>
      </p:sp>
      <p:sp>
        <p:nvSpPr>
          <p:cNvPr id="15" name="Shape 13">
            <a:extLst>
              <a:ext uri="{FF2B5EF4-FFF2-40B4-BE49-F238E27FC236}">
                <a16:creationId xmlns:a16="http://schemas.microsoft.com/office/drawing/2014/main" id="{C686C9DA-AEE8-FA65-9604-912F3CC35F96}"/>
              </a:ext>
            </a:extLst>
          </p:cNvPr>
          <p:cNvSpPr/>
          <p:nvPr/>
        </p:nvSpPr>
        <p:spPr>
          <a:xfrm>
            <a:off x="2450592" y="999744"/>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6" name="Text 14">
            <a:extLst>
              <a:ext uri="{FF2B5EF4-FFF2-40B4-BE49-F238E27FC236}">
                <a16:creationId xmlns:a16="http://schemas.microsoft.com/office/drawing/2014/main" id="{A95A27F2-B355-B3F1-A0C8-991AC9702DCC}"/>
              </a:ext>
            </a:extLst>
          </p:cNvPr>
          <p:cNvSpPr/>
          <p:nvPr/>
        </p:nvSpPr>
        <p:spPr>
          <a:xfrm>
            <a:off x="2496312" y="1018032"/>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TensorFlow/PyTorch</a:t>
            </a:r>
            <a:endParaRPr lang="en-US" sz="1100" dirty="0"/>
          </a:p>
        </p:txBody>
      </p:sp>
      <p:sp>
        <p:nvSpPr>
          <p:cNvPr id="17" name="Text 15">
            <a:extLst>
              <a:ext uri="{FF2B5EF4-FFF2-40B4-BE49-F238E27FC236}">
                <a16:creationId xmlns:a16="http://schemas.microsoft.com/office/drawing/2014/main" id="{87F228B6-2237-F5EB-CA4E-7B210F47158B}"/>
              </a:ext>
            </a:extLst>
          </p:cNvPr>
          <p:cNvSpPr/>
          <p:nvPr/>
        </p:nvSpPr>
        <p:spPr>
          <a:xfrm>
            <a:off x="2496312" y="1292352"/>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AI models</a:t>
            </a:r>
            <a:endParaRPr lang="en-US" sz="1000" dirty="0"/>
          </a:p>
        </p:txBody>
      </p:sp>
      <p:sp>
        <p:nvSpPr>
          <p:cNvPr id="18" name="Shape 16">
            <a:extLst>
              <a:ext uri="{FF2B5EF4-FFF2-40B4-BE49-F238E27FC236}">
                <a16:creationId xmlns:a16="http://schemas.microsoft.com/office/drawing/2014/main" id="{865864ED-03B1-59BD-1C26-8B7656C8B564}"/>
              </a:ext>
            </a:extLst>
          </p:cNvPr>
          <p:cNvSpPr/>
          <p:nvPr/>
        </p:nvSpPr>
        <p:spPr>
          <a:xfrm>
            <a:off x="4626864" y="999744"/>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19" name="Text 17">
            <a:extLst>
              <a:ext uri="{FF2B5EF4-FFF2-40B4-BE49-F238E27FC236}">
                <a16:creationId xmlns:a16="http://schemas.microsoft.com/office/drawing/2014/main" id="{50DE656E-B0F0-565B-49C3-220F9C75D49B}"/>
              </a:ext>
            </a:extLst>
          </p:cNvPr>
          <p:cNvSpPr/>
          <p:nvPr/>
        </p:nvSpPr>
        <p:spPr>
          <a:xfrm>
            <a:off x="4672584" y="1018032"/>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spaCy/NLP</a:t>
            </a:r>
            <a:endParaRPr lang="en-US" sz="1100" dirty="0"/>
          </a:p>
        </p:txBody>
      </p:sp>
      <p:sp>
        <p:nvSpPr>
          <p:cNvPr id="20" name="Text 18">
            <a:extLst>
              <a:ext uri="{FF2B5EF4-FFF2-40B4-BE49-F238E27FC236}">
                <a16:creationId xmlns:a16="http://schemas.microsoft.com/office/drawing/2014/main" id="{7CBAF263-E9C2-6351-87F2-01F92FF9153F}"/>
              </a:ext>
            </a:extLst>
          </p:cNvPr>
          <p:cNvSpPr/>
          <p:nvPr/>
        </p:nvSpPr>
        <p:spPr>
          <a:xfrm>
            <a:off x="4672584" y="1292352"/>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Language analysis</a:t>
            </a:r>
            <a:endParaRPr lang="en-US" sz="1000" dirty="0"/>
          </a:p>
        </p:txBody>
      </p:sp>
      <p:sp>
        <p:nvSpPr>
          <p:cNvPr id="21" name="Shape 19">
            <a:extLst>
              <a:ext uri="{FF2B5EF4-FFF2-40B4-BE49-F238E27FC236}">
                <a16:creationId xmlns:a16="http://schemas.microsoft.com/office/drawing/2014/main" id="{B2DEBF32-CE8C-8C82-1085-FAF5EFD2BC1B}"/>
              </a:ext>
            </a:extLst>
          </p:cNvPr>
          <p:cNvSpPr/>
          <p:nvPr/>
        </p:nvSpPr>
        <p:spPr>
          <a:xfrm>
            <a:off x="6803136" y="999744"/>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2" name="Text 20">
            <a:extLst>
              <a:ext uri="{FF2B5EF4-FFF2-40B4-BE49-F238E27FC236}">
                <a16:creationId xmlns:a16="http://schemas.microsoft.com/office/drawing/2014/main" id="{3B419759-F78A-104B-5A0B-98FAEDCA99CD}"/>
              </a:ext>
            </a:extLst>
          </p:cNvPr>
          <p:cNvSpPr/>
          <p:nvPr/>
        </p:nvSpPr>
        <p:spPr>
          <a:xfrm>
            <a:off x="6848856" y="1018032"/>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FastAPI/Flask</a:t>
            </a:r>
            <a:endParaRPr lang="en-US" sz="1100" dirty="0"/>
          </a:p>
        </p:txBody>
      </p:sp>
      <p:sp>
        <p:nvSpPr>
          <p:cNvPr id="23" name="Text 21">
            <a:extLst>
              <a:ext uri="{FF2B5EF4-FFF2-40B4-BE49-F238E27FC236}">
                <a16:creationId xmlns:a16="http://schemas.microsoft.com/office/drawing/2014/main" id="{FCDA93EA-D53E-C771-96A5-F015EFEF9129}"/>
              </a:ext>
            </a:extLst>
          </p:cNvPr>
          <p:cNvSpPr/>
          <p:nvPr/>
        </p:nvSpPr>
        <p:spPr>
          <a:xfrm>
            <a:off x="6848856" y="1292352"/>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Backend APIs</a:t>
            </a:r>
            <a:endParaRPr lang="en-US" sz="1000" dirty="0"/>
          </a:p>
        </p:txBody>
      </p:sp>
      <p:sp>
        <p:nvSpPr>
          <p:cNvPr id="24" name="Shape 22">
            <a:extLst>
              <a:ext uri="{FF2B5EF4-FFF2-40B4-BE49-F238E27FC236}">
                <a16:creationId xmlns:a16="http://schemas.microsoft.com/office/drawing/2014/main" id="{B9466414-8259-883B-9BEA-710988394BBF}"/>
              </a:ext>
            </a:extLst>
          </p:cNvPr>
          <p:cNvSpPr/>
          <p:nvPr/>
        </p:nvSpPr>
        <p:spPr>
          <a:xfrm>
            <a:off x="274320" y="1786128"/>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5" name="Text 23">
            <a:extLst>
              <a:ext uri="{FF2B5EF4-FFF2-40B4-BE49-F238E27FC236}">
                <a16:creationId xmlns:a16="http://schemas.microsoft.com/office/drawing/2014/main" id="{947924A5-2078-FA1C-D9E3-7BAE051FAC17}"/>
              </a:ext>
            </a:extLst>
          </p:cNvPr>
          <p:cNvSpPr/>
          <p:nvPr/>
        </p:nvSpPr>
        <p:spPr>
          <a:xfrm>
            <a:off x="320040" y="1767840"/>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MongoDB/PostgreSQL</a:t>
            </a:r>
            <a:endParaRPr lang="en-US" sz="1100" dirty="0"/>
          </a:p>
        </p:txBody>
      </p:sp>
      <p:sp>
        <p:nvSpPr>
          <p:cNvPr id="26" name="Text 24">
            <a:extLst>
              <a:ext uri="{FF2B5EF4-FFF2-40B4-BE49-F238E27FC236}">
                <a16:creationId xmlns:a16="http://schemas.microsoft.com/office/drawing/2014/main" id="{9E08D815-AE76-B937-6055-4F05D661AD77}"/>
              </a:ext>
            </a:extLst>
          </p:cNvPr>
          <p:cNvSpPr/>
          <p:nvPr/>
        </p:nvSpPr>
        <p:spPr>
          <a:xfrm>
            <a:off x="320040" y="2042160"/>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Data storage</a:t>
            </a:r>
            <a:endParaRPr lang="en-US" sz="1000" dirty="0"/>
          </a:p>
        </p:txBody>
      </p:sp>
      <p:sp>
        <p:nvSpPr>
          <p:cNvPr id="27" name="Shape 25">
            <a:extLst>
              <a:ext uri="{FF2B5EF4-FFF2-40B4-BE49-F238E27FC236}">
                <a16:creationId xmlns:a16="http://schemas.microsoft.com/office/drawing/2014/main" id="{1FF2F939-081A-B9E0-D281-AF8FCDF22AD0}"/>
              </a:ext>
            </a:extLst>
          </p:cNvPr>
          <p:cNvSpPr/>
          <p:nvPr/>
        </p:nvSpPr>
        <p:spPr>
          <a:xfrm>
            <a:off x="2450592" y="1749552"/>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28" name="Text 26">
            <a:extLst>
              <a:ext uri="{FF2B5EF4-FFF2-40B4-BE49-F238E27FC236}">
                <a16:creationId xmlns:a16="http://schemas.microsoft.com/office/drawing/2014/main" id="{0C530E36-C95F-654B-0685-B525FE5668C6}"/>
              </a:ext>
            </a:extLst>
          </p:cNvPr>
          <p:cNvSpPr/>
          <p:nvPr/>
        </p:nvSpPr>
        <p:spPr>
          <a:xfrm>
            <a:off x="2496312" y="1767840"/>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AWS/Google Cloud</a:t>
            </a:r>
            <a:endParaRPr lang="en-US" sz="1100" dirty="0"/>
          </a:p>
        </p:txBody>
      </p:sp>
      <p:sp>
        <p:nvSpPr>
          <p:cNvPr id="29" name="Text 27">
            <a:extLst>
              <a:ext uri="{FF2B5EF4-FFF2-40B4-BE49-F238E27FC236}">
                <a16:creationId xmlns:a16="http://schemas.microsoft.com/office/drawing/2014/main" id="{9B6D9B9C-2A55-D3CB-5A2B-973B62BD3209}"/>
              </a:ext>
            </a:extLst>
          </p:cNvPr>
          <p:cNvSpPr/>
          <p:nvPr/>
        </p:nvSpPr>
        <p:spPr>
          <a:xfrm>
            <a:off x="2496312" y="2042160"/>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Cloud infrastructure</a:t>
            </a:r>
            <a:endParaRPr lang="en-US" sz="1000" dirty="0"/>
          </a:p>
        </p:txBody>
      </p:sp>
      <p:sp>
        <p:nvSpPr>
          <p:cNvPr id="30" name="Shape 28">
            <a:extLst>
              <a:ext uri="{FF2B5EF4-FFF2-40B4-BE49-F238E27FC236}">
                <a16:creationId xmlns:a16="http://schemas.microsoft.com/office/drawing/2014/main" id="{72326F9B-EE64-9BD0-0C54-C9678CED39F3}"/>
              </a:ext>
            </a:extLst>
          </p:cNvPr>
          <p:cNvSpPr/>
          <p:nvPr/>
        </p:nvSpPr>
        <p:spPr>
          <a:xfrm>
            <a:off x="4626864" y="1749552"/>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31" name="Text 29">
            <a:extLst>
              <a:ext uri="{FF2B5EF4-FFF2-40B4-BE49-F238E27FC236}">
                <a16:creationId xmlns:a16="http://schemas.microsoft.com/office/drawing/2014/main" id="{BE8E2E94-C7F0-71EA-9B41-9455C12C8F65}"/>
              </a:ext>
            </a:extLst>
          </p:cNvPr>
          <p:cNvSpPr/>
          <p:nvPr/>
        </p:nvSpPr>
        <p:spPr>
          <a:xfrm>
            <a:off x="4672584" y="1767840"/>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React</a:t>
            </a:r>
            <a:endParaRPr lang="en-US" sz="1100" dirty="0"/>
          </a:p>
        </p:txBody>
      </p:sp>
      <p:sp>
        <p:nvSpPr>
          <p:cNvPr id="32" name="Text 30">
            <a:extLst>
              <a:ext uri="{FF2B5EF4-FFF2-40B4-BE49-F238E27FC236}">
                <a16:creationId xmlns:a16="http://schemas.microsoft.com/office/drawing/2014/main" id="{FCC89557-ACF0-A736-4D31-6B2CFAC5D60C}"/>
              </a:ext>
            </a:extLst>
          </p:cNvPr>
          <p:cNvSpPr/>
          <p:nvPr/>
        </p:nvSpPr>
        <p:spPr>
          <a:xfrm>
            <a:off x="4672584" y="2042160"/>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Web dashboard</a:t>
            </a:r>
            <a:endParaRPr lang="en-US" sz="1000" dirty="0"/>
          </a:p>
        </p:txBody>
      </p:sp>
      <p:sp>
        <p:nvSpPr>
          <p:cNvPr id="33" name="Shape 31">
            <a:extLst>
              <a:ext uri="{FF2B5EF4-FFF2-40B4-BE49-F238E27FC236}">
                <a16:creationId xmlns:a16="http://schemas.microsoft.com/office/drawing/2014/main" id="{FD6A113F-8CA2-DD91-674F-FCB7CEF00B13}"/>
              </a:ext>
            </a:extLst>
          </p:cNvPr>
          <p:cNvSpPr/>
          <p:nvPr/>
        </p:nvSpPr>
        <p:spPr>
          <a:xfrm>
            <a:off x="6803136" y="1749552"/>
            <a:ext cx="2029968" cy="594360"/>
          </a:xfrm>
          <a:prstGeom prst="rect">
            <a:avLst/>
          </a:prstGeom>
          <a:solidFill>
            <a:srgbClr val="0D1B2A"/>
          </a:solidFill>
          <a:ln/>
          <a:effectLst>
            <a:outerShdw blurRad="101600" dist="38100" dir="8100000" algn="bl" rotWithShape="0">
              <a:srgbClr val="000000">
                <a:alpha val="12000"/>
              </a:srgbClr>
            </a:outerShdw>
          </a:effectLst>
        </p:spPr>
        <p:txBody>
          <a:bodyPr/>
          <a:lstStyle/>
          <a:p>
            <a:endParaRPr lang="en-US"/>
          </a:p>
        </p:txBody>
      </p:sp>
      <p:sp>
        <p:nvSpPr>
          <p:cNvPr id="34" name="Text 32">
            <a:extLst>
              <a:ext uri="{FF2B5EF4-FFF2-40B4-BE49-F238E27FC236}">
                <a16:creationId xmlns:a16="http://schemas.microsoft.com/office/drawing/2014/main" id="{238A9FF4-4669-DFF2-5954-74D318F95DB6}"/>
              </a:ext>
            </a:extLst>
          </p:cNvPr>
          <p:cNvSpPr/>
          <p:nvPr/>
        </p:nvSpPr>
        <p:spPr>
          <a:xfrm>
            <a:off x="6848856" y="1767840"/>
            <a:ext cx="1938528" cy="292608"/>
          </a:xfrm>
          <a:prstGeom prst="rect">
            <a:avLst/>
          </a:prstGeom>
          <a:noFill/>
          <a:ln/>
        </p:spPr>
        <p:txBody>
          <a:bodyPr wrap="square" lIns="0" tIns="0" rIns="0" bIns="0" rtlCol="0" anchor="ctr"/>
          <a:lstStyle/>
          <a:p>
            <a:pPr marL="0" indent="0" algn="ctr">
              <a:buNone/>
            </a:pPr>
            <a:r>
              <a:rPr lang="en-US" sz="1100" b="1" dirty="0">
                <a:solidFill>
                  <a:srgbClr val="94D2BD"/>
                </a:solidFill>
                <a:latin typeface="Calibri" pitchFamily="34" charset="0"/>
                <a:ea typeface="Calibri" pitchFamily="34" charset="-122"/>
                <a:cs typeface="Calibri" pitchFamily="34" charset="-120"/>
              </a:rPr>
              <a:t>Browser Extension</a:t>
            </a:r>
            <a:endParaRPr lang="en-US" sz="1100" dirty="0"/>
          </a:p>
        </p:txBody>
      </p:sp>
      <p:sp>
        <p:nvSpPr>
          <p:cNvPr id="35" name="Text 33">
            <a:extLst>
              <a:ext uri="{FF2B5EF4-FFF2-40B4-BE49-F238E27FC236}">
                <a16:creationId xmlns:a16="http://schemas.microsoft.com/office/drawing/2014/main" id="{9B2C8719-D8A2-9ED9-199F-AF9240A6CAFC}"/>
              </a:ext>
            </a:extLst>
          </p:cNvPr>
          <p:cNvSpPr/>
          <p:nvPr/>
        </p:nvSpPr>
        <p:spPr>
          <a:xfrm>
            <a:off x="6848856" y="2042160"/>
            <a:ext cx="1938528" cy="256032"/>
          </a:xfrm>
          <a:prstGeom prst="rect">
            <a:avLst/>
          </a:prstGeom>
          <a:noFill/>
          <a:ln/>
        </p:spPr>
        <p:txBody>
          <a:bodyPr wrap="square" lIns="0" tIns="0" rIns="0" bIns="0"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Scam blocking</a:t>
            </a:r>
            <a:endParaRPr lang="en-US" sz="1000" dirty="0"/>
          </a:p>
        </p:txBody>
      </p:sp>
      <p:sp>
        <p:nvSpPr>
          <p:cNvPr id="36" name="Shape 0">
            <a:extLst>
              <a:ext uri="{FF2B5EF4-FFF2-40B4-BE49-F238E27FC236}">
                <a16:creationId xmlns:a16="http://schemas.microsoft.com/office/drawing/2014/main" id="{6FCA3B4C-00FC-DCCE-512A-58B80214F621}"/>
              </a:ext>
            </a:extLst>
          </p:cNvPr>
          <p:cNvSpPr/>
          <p:nvPr/>
        </p:nvSpPr>
        <p:spPr>
          <a:xfrm>
            <a:off x="0" y="1"/>
            <a:ext cx="9144000" cy="750569"/>
          </a:xfrm>
          <a:prstGeom prst="rect">
            <a:avLst/>
          </a:prstGeom>
          <a:solidFill>
            <a:srgbClr val="0D1B2A"/>
          </a:solidFill>
          <a:ln/>
        </p:spPr>
        <p:txBody>
          <a:bodyPr/>
          <a:lstStyle/>
          <a:p>
            <a:r>
              <a:rPr lang="en-US" sz="1400" b="1" dirty="0">
                <a:solidFill>
                  <a:srgbClr val="FFFFFF"/>
                </a:solidFill>
                <a:latin typeface="Calibri" pitchFamily="34" charset="0"/>
                <a:ea typeface="Calibri" pitchFamily="34" charset="-122"/>
                <a:cs typeface="Calibri" pitchFamily="34" charset="-120"/>
              </a:rPr>
              <a:t>Human Centered Défense and Awareness System for AI – Driven Scams</a:t>
            </a:r>
          </a:p>
          <a:p>
            <a:r>
              <a:rPr lang="en-US" sz="2800" b="1" dirty="0">
                <a:solidFill>
                  <a:srgbClr val="FFFFFF"/>
                </a:solidFill>
                <a:latin typeface="Calibri" pitchFamily="34" charset="0"/>
                <a:ea typeface="Calibri" pitchFamily="34" charset="-122"/>
                <a:cs typeface="Calibri" pitchFamily="34" charset="-120"/>
              </a:rPr>
              <a:t>Technology, Validation, Evaluation and  Data Ethics</a:t>
            </a:r>
          </a:p>
        </p:txBody>
      </p:sp>
      <p:sp>
        <p:nvSpPr>
          <p:cNvPr id="37" name="Shape 2">
            <a:extLst>
              <a:ext uri="{FF2B5EF4-FFF2-40B4-BE49-F238E27FC236}">
                <a16:creationId xmlns:a16="http://schemas.microsoft.com/office/drawing/2014/main" id="{B72ABB4E-BE93-DAAD-F748-285FBEE6619F}"/>
              </a:ext>
            </a:extLst>
          </p:cNvPr>
          <p:cNvSpPr/>
          <p:nvPr/>
        </p:nvSpPr>
        <p:spPr>
          <a:xfrm>
            <a:off x="274320" y="2452986"/>
            <a:ext cx="8595360" cy="1171731"/>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dirty="0"/>
          </a:p>
        </p:txBody>
      </p:sp>
      <p:sp>
        <p:nvSpPr>
          <p:cNvPr id="38" name="Shape 3">
            <a:extLst>
              <a:ext uri="{FF2B5EF4-FFF2-40B4-BE49-F238E27FC236}">
                <a16:creationId xmlns:a16="http://schemas.microsoft.com/office/drawing/2014/main" id="{491B448F-6EDE-E7C8-1B4D-7177644A64F7}"/>
              </a:ext>
            </a:extLst>
          </p:cNvPr>
          <p:cNvSpPr/>
          <p:nvPr/>
        </p:nvSpPr>
        <p:spPr>
          <a:xfrm>
            <a:off x="262128" y="2452986"/>
            <a:ext cx="8595360" cy="339690"/>
          </a:xfrm>
          <a:prstGeom prst="rect">
            <a:avLst/>
          </a:prstGeom>
          <a:solidFill>
            <a:srgbClr val="0A9396"/>
          </a:solidFill>
          <a:ln/>
        </p:spPr>
        <p:txBody>
          <a:bodyPr/>
          <a:lstStyle/>
          <a:p>
            <a:r>
              <a:rPr lang="en-US" sz="1300" b="1" dirty="0">
                <a:solidFill>
                  <a:schemeClr val="bg1"/>
                </a:solidFill>
              </a:rPr>
              <a:t>Validation and Evaluation</a:t>
            </a:r>
          </a:p>
        </p:txBody>
      </p:sp>
      <p:sp>
        <p:nvSpPr>
          <p:cNvPr id="39" name="Text 4">
            <a:extLst>
              <a:ext uri="{FF2B5EF4-FFF2-40B4-BE49-F238E27FC236}">
                <a16:creationId xmlns:a16="http://schemas.microsoft.com/office/drawing/2014/main" id="{077B29C9-BBC9-9398-BA31-8F9648BF00FF}"/>
              </a:ext>
            </a:extLst>
          </p:cNvPr>
          <p:cNvSpPr/>
          <p:nvPr/>
        </p:nvSpPr>
        <p:spPr>
          <a:xfrm>
            <a:off x="457200" y="2488853"/>
            <a:ext cx="8321040" cy="461665"/>
          </a:xfrm>
          <a:prstGeom prst="rect">
            <a:avLst/>
          </a:prstGeom>
          <a:noFill/>
          <a:ln/>
        </p:spPr>
        <p:txBody>
          <a:bodyPr wrap="square" lIns="0" tIns="0" rIns="0" bIns="0" rtlCol="0" anchor="ctr"/>
          <a:lstStyle/>
          <a:p>
            <a:pPr marL="0" indent="0">
              <a:buNone/>
            </a:pPr>
            <a:endParaRPr lang="en-US" sz="1300" dirty="0"/>
          </a:p>
        </p:txBody>
      </p:sp>
      <p:sp>
        <p:nvSpPr>
          <p:cNvPr id="40" name="TextBox 39">
            <a:extLst>
              <a:ext uri="{FF2B5EF4-FFF2-40B4-BE49-F238E27FC236}">
                <a16:creationId xmlns:a16="http://schemas.microsoft.com/office/drawing/2014/main" id="{2F3A785C-F8BD-1A35-B378-34A545E05303}"/>
              </a:ext>
            </a:extLst>
          </p:cNvPr>
          <p:cNvSpPr txBox="1"/>
          <p:nvPr/>
        </p:nvSpPr>
        <p:spPr>
          <a:xfrm>
            <a:off x="387096" y="2744943"/>
            <a:ext cx="8400288" cy="1171731"/>
          </a:xfrm>
          <a:prstGeom prst="rect">
            <a:avLst/>
          </a:prstGeom>
          <a:noFill/>
        </p:spPr>
        <p:txBody>
          <a:bodyPr wrap="square" rtlCol="0">
            <a:spAutoFit/>
          </a:bodyPr>
          <a:lstStyle/>
          <a:p>
            <a:pPr>
              <a:lnSpc>
                <a:spcPct val="150000"/>
              </a:lnSpc>
            </a:pPr>
            <a:r>
              <a:rPr lang="en-US" sz="1200" dirty="0"/>
              <a:t>•  </a:t>
            </a:r>
            <a:r>
              <a:rPr lang="en-US" sz="1200" b="1" dirty="0"/>
              <a:t>Blocking Decision accuracy</a:t>
            </a:r>
            <a:r>
              <a:rPr lang="en-US" sz="1200" dirty="0"/>
              <a:t>		</a:t>
            </a:r>
          </a:p>
          <a:p>
            <a:pPr>
              <a:lnSpc>
                <a:spcPct val="150000"/>
              </a:lnSpc>
            </a:pPr>
            <a:r>
              <a:rPr lang="en-US" sz="1200" dirty="0"/>
              <a:t>•  </a:t>
            </a:r>
            <a:r>
              <a:rPr lang="en-US" sz="1200" b="1" dirty="0"/>
              <a:t>False Positive Rate </a:t>
            </a:r>
            <a:r>
              <a:rPr lang="en-US" sz="1200" dirty="0"/>
              <a:t>– legitimate messages flagged as scams</a:t>
            </a:r>
          </a:p>
          <a:p>
            <a:pPr>
              <a:lnSpc>
                <a:spcPct val="150000"/>
              </a:lnSpc>
            </a:pPr>
            <a:r>
              <a:rPr lang="en-US" sz="1200" dirty="0"/>
              <a:t>•  </a:t>
            </a:r>
            <a:r>
              <a:rPr lang="en-US" sz="1200" b="1" dirty="0"/>
              <a:t>User understanding score </a:t>
            </a:r>
            <a:r>
              <a:rPr lang="en-US" sz="1200" dirty="0"/>
              <a:t>– evaluation using user survey or awareness score</a:t>
            </a:r>
          </a:p>
          <a:p>
            <a:pPr>
              <a:lnSpc>
                <a:spcPct val="150000"/>
              </a:lnSpc>
            </a:pPr>
            <a:endParaRPr lang="en-US" sz="1200" dirty="0"/>
          </a:p>
        </p:txBody>
      </p:sp>
      <p:sp>
        <p:nvSpPr>
          <p:cNvPr id="42" name="Shape 2">
            <a:extLst>
              <a:ext uri="{FF2B5EF4-FFF2-40B4-BE49-F238E27FC236}">
                <a16:creationId xmlns:a16="http://schemas.microsoft.com/office/drawing/2014/main" id="{09A1389A-3002-EC2B-DAD7-394BCB67D3AE}"/>
              </a:ext>
            </a:extLst>
          </p:cNvPr>
          <p:cNvSpPr/>
          <p:nvPr/>
        </p:nvSpPr>
        <p:spPr>
          <a:xfrm>
            <a:off x="274320" y="3700327"/>
            <a:ext cx="8595360" cy="117173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dirty="0"/>
          </a:p>
        </p:txBody>
      </p:sp>
      <p:sp>
        <p:nvSpPr>
          <p:cNvPr id="43" name="Shape 3">
            <a:extLst>
              <a:ext uri="{FF2B5EF4-FFF2-40B4-BE49-F238E27FC236}">
                <a16:creationId xmlns:a16="http://schemas.microsoft.com/office/drawing/2014/main" id="{3C8CD4E7-ED7B-E358-5E77-3F4744D84374}"/>
              </a:ext>
            </a:extLst>
          </p:cNvPr>
          <p:cNvSpPr/>
          <p:nvPr/>
        </p:nvSpPr>
        <p:spPr>
          <a:xfrm>
            <a:off x="262128" y="3700326"/>
            <a:ext cx="8595360" cy="252215"/>
          </a:xfrm>
          <a:prstGeom prst="rect">
            <a:avLst/>
          </a:prstGeom>
          <a:solidFill>
            <a:srgbClr val="0A9396"/>
          </a:solidFill>
          <a:ln/>
        </p:spPr>
        <p:txBody>
          <a:bodyPr/>
          <a:lstStyle/>
          <a:p>
            <a:r>
              <a:rPr lang="en-US" sz="1300" b="1" dirty="0">
                <a:solidFill>
                  <a:schemeClr val="bg1"/>
                </a:solidFill>
              </a:rPr>
              <a:t>Data and Ethics</a:t>
            </a:r>
          </a:p>
        </p:txBody>
      </p:sp>
      <p:sp>
        <p:nvSpPr>
          <p:cNvPr id="44" name="Text 4">
            <a:extLst>
              <a:ext uri="{FF2B5EF4-FFF2-40B4-BE49-F238E27FC236}">
                <a16:creationId xmlns:a16="http://schemas.microsoft.com/office/drawing/2014/main" id="{78FF7BC9-66F7-65F7-E02C-2279807049BE}"/>
              </a:ext>
            </a:extLst>
          </p:cNvPr>
          <p:cNvSpPr/>
          <p:nvPr/>
        </p:nvSpPr>
        <p:spPr>
          <a:xfrm>
            <a:off x="457200" y="3736193"/>
            <a:ext cx="8321040" cy="461665"/>
          </a:xfrm>
          <a:prstGeom prst="rect">
            <a:avLst/>
          </a:prstGeom>
          <a:noFill/>
          <a:ln/>
        </p:spPr>
        <p:txBody>
          <a:bodyPr wrap="square" lIns="0" tIns="0" rIns="0" bIns="0" rtlCol="0" anchor="ctr"/>
          <a:lstStyle/>
          <a:p>
            <a:pPr marL="0" indent="0">
              <a:buNone/>
            </a:pPr>
            <a:endParaRPr lang="en-US" sz="1300" dirty="0"/>
          </a:p>
        </p:txBody>
      </p:sp>
      <p:sp>
        <p:nvSpPr>
          <p:cNvPr id="45" name="TextBox 44">
            <a:extLst>
              <a:ext uri="{FF2B5EF4-FFF2-40B4-BE49-F238E27FC236}">
                <a16:creationId xmlns:a16="http://schemas.microsoft.com/office/drawing/2014/main" id="{6960B0DF-61FA-2290-2EB8-D7D9DA6C5037}"/>
              </a:ext>
            </a:extLst>
          </p:cNvPr>
          <p:cNvSpPr txBox="1"/>
          <p:nvPr/>
        </p:nvSpPr>
        <p:spPr>
          <a:xfrm>
            <a:off x="387096" y="3909226"/>
            <a:ext cx="8400288" cy="1171731"/>
          </a:xfrm>
          <a:prstGeom prst="rect">
            <a:avLst/>
          </a:prstGeom>
          <a:noFill/>
        </p:spPr>
        <p:txBody>
          <a:bodyPr wrap="square" rtlCol="0">
            <a:spAutoFit/>
          </a:bodyPr>
          <a:lstStyle/>
          <a:p>
            <a:pPr>
              <a:lnSpc>
                <a:spcPct val="150000"/>
              </a:lnSpc>
            </a:pPr>
            <a:r>
              <a:rPr lang="en-US" sz="1200" dirty="0"/>
              <a:t>•  Public Datasets – Collecting data publicly available 	</a:t>
            </a:r>
          </a:p>
          <a:p>
            <a:pPr>
              <a:lnSpc>
                <a:spcPct val="150000"/>
              </a:lnSpc>
            </a:pPr>
            <a:r>
              <a:rPr lang="en-US" sz="1200" dirty="0"/>
              <a:t>•  Data Anonymization – if using real message or simulated data, the system must protect user privacy</a:t>
            </a:r>
          </a:p>
          <a:p>
            <a:pPr>
              <a:lnSpc>
                <a:spcPct val="150000"/>
              </a:lnSpc>
            </a:pPr>
            <a:r>
              <a:rPr lang="en-US" sz="1200" dirty="0"/>
              <a:t>•  Compliance with research ethics guidelines – following ethical standards for handling digital data.</a:t>
            </a:r>
          </a:p>
          <a:p>
            <a:pPr>
              <a:lnSpc>
                <a:spcPct val="150000"/>
              </a:lnSpc>
            </a:pPr>
            <a:endParaRPr lang="en-US" sz="1200" dirty="0"/>
          </a:p>
        </p:txBody>
      </p:sp>
      <p:sp>
        <p:nvSpPr>
          <p:cNvPr id="46" name="TextBox 45">
            <a:extLst>
              <a:ext uri="{FF2B5EF4-FFF2-40B4-BE49-F238E27FC236}">
                <a16:creationId xmlns:a16="http://schemas.microsoft.com/office/drawing/2014/main" id="{CA79F31F-8CB5-B9F1-5ED7-3E63094447C3}"/>
              </a:ext>
            </a:extLst>
          </p:cNvPr>
          <p:cNvSpPr txBox="1"/>
          <p:nvPr/>
        </p:nvSpPr>
        <p:spPr>
          <a:xfrm>
            <a:off x="2312670" y="4812669"/>
            <a:ext cx="4518660" cy="276999"/>
          </a:xfrm>
          <a:prstGeom prst="rect">
            <a:avLst/>
          </a:prstGeom>
          <a:noFill/>
        </p:spPr>
        <p:txBody>
          <a:bodyPr wrap="square" rtlCol="0">
            <a:spAutoFit/>
          </a:bodyPr>
          <a:lstStyle/>
          <a:p>
            <a:pPr algn="ctr"/>
            <a:r>
              <a:rPr lang="en-US" sz="1200" b="1" dirty="0">
                <a:latin typeface="Calibri" pitchFamily="34" charset="0"/>
                <a:ea typeface="Calibri" pitchFamily="34" charset="-122"/>
                <a:cs typeface="Calibri" pitchFamily="34" charset="-120"/>
              </a:rPr>
              <a:t>IT22299048| Visini Vidara| R26-CS-011</a:t>
            </a:r>
            <a:endParaRPr lang="en-US" sz="1200" dirty="0"/>
          </a:p>
        </p:txBody>
      </p:sp>
    </p:spTree>
    <p:extLst>
      <p:ext uri="{BB962C8B-B14F-4D97-AF65-F5344CB8AC3E}">
        <p14:creationId xmlns:p14="http://schemas.microsoft.com/office/powerpoint/2010/main" val="2725641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endParaRPr lang="en-US" sz="2400" b="1" dirty="0">
              <a:solidFill>
                <a:srgbClr val="FFFFFF"/>
              </a:solidFill>
              <a:latin typeface="Calibri" pitchFamily="34" charset="0"/>
              <a:ea typeface="Calibri" pitchFamily="34" charset="-122"/>
              <a:cs typeface="Calibri" pitchFamily="34" charset="-120"/>
            </a:endParaRPr>
          </a:p>
          <a:p>
            <a:pPr marL="0" indent="0">
              <a:buNone/>
            </a:pPr>
            <a:r>
              <a:rPr lang="en-US" sz="2400" b="1" dirty="0">
                <a:solidFill>
                  <a:srgbClr val="FFFFFF"/>
                </a:solidFill>
                <a:latin typeface="Calibri" pitchFamily="34" charset="0"/>
                <a:ea typeface="Calibri" pitchFamily="34" charset="-122"/>
                <a:cs typeface="Calibri" pitchFamily="34" charset="-120"/>
              </a:rPr>
              <a:t>Commercialization Strategy</a:t>
            </a:r>
            <a:endParaRPr lang="en-US" sz="2400" dirty="0"/>
          </a:p>
        </p:txBody>
      </p:sp>
      <p:sp>
        <p:nvSpPr>
          <p:cNvPr id="4" name="Shape 2"/>
          <p:cNvSpPr/>
          <p:nvPr/>
        </p:nvSpPr>
        <p:spPr>
          <a:xfrm>
            <a:off x="274320" y="822960"/>
            <a:ext cx="4206240"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822960"/>
            <a:ext cx="4206240" cy="411480"/>
          </a:xfrm>
          <a:prstGeom prst="rect">
            <a:avLst/>
          </a:prstGeom>
          <a:solidFill>
            <a:srgbClr val="0A9396"/>
          </a:solidFill>
          <a:ln/>
        </p:spPr>
        <p:txBody>
          <a:bodyPr/>
          <a:lstStyle/>
          <a:p>
            <a:endParaRPr lang="en-US"/>
          </a:p>
        </p:txBody>
      </p:sp>
      <p:sp>
        <p:nvSpPr>
          <p:cNvPr id="6" name="Text 4"/>
          <p:cNvSpPr/>
          <p:nvPr/>
        </p:nvSpPr>
        <p:spPr>
          <a:xfrm>
            <a:off x="365760" y="822960"/>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Target Market</a:t>
            </a:r>
            <a:endParaRPr lang="en-US" sz="1300" dirty="0"/>
          </a:p>
        </p:txBody>
      </p:sp>
      <p:sp>
        <p:nvSpPr>
          <p:cNvPr id="7" name="Text 5"/>
          <p:cNvSpPr/>
          <p:nvPr/>
        </p:nvSpPr>
        <p:spPr>
          <a:xfrm>
            <a:off x="384048" y="1280160"/>
            <a:ext cx="4005072" cy="1234440"/>
          </a:xfrm>
          <a:prstGeom prst="rect">
            <a:avLst/>
          </a:prstGeom>
          <a:noFill/>
          <a:ln/>
        </p:spPr>
        <p:txBody>
          <a:bodyPr wrap="square" lIns="50800" tIns="50800" rIns="50800" bIns="5080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Individuals &amp; SMBs concerned about AI-driven scams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Communication platform providers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Cybersecurity organizations &amp; enterprises</a:t>
            </a:r>
            <a:endParaRPr lang="en-US" sz="1100" dirty="0"/>
          </a:p>
        </p:txBody>
      </p:sp>
      <p:sp>
        <p:nvSpPr>
          <p:cNvPr id="8" name="Shape 6"/>
          <p:cNvSpPr/>
          <p:nvPr/>
        </p:nvSpPr>
        <p:spPr>
          <a:xfrm>
            <a:off x="4709160" y="822960"/>
            <a:ext cx="4206240"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09160" y="822960"/>
            <a:ext cx="4206240" cy="411480"/>
          </a:xfrm>
          <a:prstGeom prst="rect">
            <a:avLst/>
          </a:prstGeom>
          <a:solidFill>
            <a:srgbClr val="EE9B00"/>
          </a:solidFill>
          <a:ln/>
        </p:spPr>
        <p:txBody>
          <a:bodyPr/>
          <a:lstStyle/>
          <a:p>
            <a:endParaRPr lang="en-US"/>
          </a:p>
        </p:txBody>
      </p:sp>
      <p:sp>
        <p:nvSpPr>
          <p:cNvPr id="10" name="Text 8"/>
          <p:cNvSpPr/>
          <p:nvPr/>
        </p:nvSpPr>
        <p:spPr>
          <a:xfrm>
            <a:off x="4800600" y="822960"/>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Investment &amp; Recovery</a:t>
            </a:r>
            <a:endParaRPr lang="en-US" sz="1300" dirty="0"/>
          </a:p>
        </p:txBody>
      </p:sp>
      <p:sp>
        <p:nvSpPr>
          <p:cNvPr id="11" name="Text 9"/>
          <p:cNvSpPr/>
          <p:nvPr/>
        </p:nvSpPr>
        <p:spPr>
          <a:xfrm>
            <a:off x="4818888" y="1280160"/>
            <a:ext cx="4005072" cy="1234440"/>
          </a:xfrm>
          <a:prstGeom prst="rect">
            <a:avLst/>
          </a:prstGeom>
          <a:noFill/>
          <a:ln/>
        </p:spPr>
        <p:txBody>
          <a:bodyPr wrap="square" lIns="50800" tIns="50800" rIns="50800" bIns="5080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Labour: Development, research &amp; ML engineering team</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Material: Cloud infrastructure (AWS/GCP), tooling</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Recovery: SaaS subscription model + API licensing fees</a:t>
            </a:r>
            <a:endParaRPr lang="en-US" sz="1100" dirty="0"/>
          </a:p>
        </p:txBody>
      </p:sp>
      <p:sp>
        <p:nvSpPr>
          <p:cNvPr id="12" name="Shape 10"/>
          <p:cNvSpPr/>
          <p:nvPr/>
        </p:nvSpPr>
        <p:spPr>
          <a:xfrm>
            <a:off x="274320" y="2880360"/>
            <a:ext cx="4206240"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880360"/>
            <a:ext cx="4206240" cy="411480"/>
          </a:xfrm>
          <a:prstGeom prst="rect">
            <a:avLst/>
          </a:prstGeom>
          <a:solidFill>
            <a:srgbClr val="2D6A4F"/>
          </a:solidFill>
          <a:ln/>
        </p:spPr>
        <p:txBody>
          <a:bodyPr/>
          <a:lstStyle/>
          <a:p>
            <a:endParaRPr lang="en-US"/>
          </a:p>
        </p:txBody>
      </p:sp>
      <p:sp>
        <p:nvSpPr>
          <p:cNvPr id="14" name="Text 12"/>
          <p:cNvSpPr/>
          <p:nvPr/>
        </p:nvSpPr>
        <p:spPr>
          <a:xfrm>
            <a:off x="365760" y="2880360"/>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Value Proposition</a:t>
            </a:r>
            <a:endParaRPr lang="en-US" sz="1300" dirty="0"/>
          </a:p>
        </p:txBody>
      </p:sp>
      <p:sp>
        <p:nvSpPr>
          <p:cNvPr id="15" name="Text 13"/>
          <p:cNvSpPr/>
          <p:nvPr/>
        </p:nvSpPr>
        <p:spPr>
          <a:xfrm>
            <a:off x="384048" y="3337560"/>
            <a:ext cx="4005072" cy="1234440"/>
          </a:xfrm>
          <a:prstGeom prst="rect">
            <a:avLst/>
          </a:prstGeom>
          <a:noFill/>
          <a:ln/>
        </p:spPr>
        <p:txBody>
          <a:bodyPr wrap="square" lIns="50800" tIns="50800" rIns="50800" bIns="5080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Lightweight, affordable protection vs. costly enterprise tools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Explainable AI decisions that build user trust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Integrated detection + awareness in a single platform</a:t>
            </a:r>
            <a:endParaRPr lang="en-US" sz="1100" dirty="0"/>
          </a:p>
        </p:txBody>
      </p:sp>
      <p:sp>
        <p:nvSpPr>
          <p:cNvPr id="16" name="Shape 14"/>
          <p:cNvSpPr/>
          <p:nvPr/>
        </p:nvSpPr>
        <p:spPr>
          <a:xfrm>
            <a:off x="4709160" y="2880360"/>
            <a:ext cx="4206240"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09160" y="2880360"/>
            <a:ext cx="4206240" cy="411480"/>
          </a:xfrm>
          <a:prstGeom prst="rect">
            <a:avLst/>
          </a:prstGeom>
          <a:solidFill>
            <a:srgbClr val="6D2E46"/>
          </a:solidFill>
          <a:ln/>
        </p:spPr>
        <p:txBody>
          <a:bodyPr/>
          <a:lstStyle/>
          <a:p>
            <a:endParaRPr lang="en-US"/>
          </a:p>
        </p:txBody>
      </p:sp>
      <p:sp>
        <p:nvSpPr>
          <p:cNvPr id="18" name="Text 16"/>
          <p:cNvSpPr/>
          <p:nvPr/>
        </p:nvSpPr>
        <p:spPr>
          <a:xfrm>
            <a:off x="4800600" y="2880360"/>
            <a:ext cx="40233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Intellectual Property</a:t>
            </a:r>
            <a:endParaRPr lang="en-US" sz="1300" dirty="0"/>
          </a:p>
        </p:txBody>
      </p:sp>
      <p:sp>
        <p:nvSpPr>
          <p:cNvPr id="19" name="Text 17"/>
          <p:cNvSpPr/>
          <p:nvPr/>
        </p:nvSpPr>
        <p:spPr>
          <a:xfrm>
            <a:off x="4818888" y="3337560"/>
            <a:ext cx="4005072" cy="1234440"/>
          </a:xfrm>
          <a:prstGeom prst="rect">
            <a:avLst/>
          </a:prstGeom>
          <a:noFill/>
          <a:ln/>
        </p:spPr>
        <p:txBody>
          <a:bodyPr wrap="square" lIns="50800" tIns="50800" rIns="50800" bIns="5080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Novel multi-modal scam detection algorithm</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Explainable attribution method (SHAP-based)</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Human-centered adaptive blocking mechanism</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Patent applications to be filed upon completion</a:t>
            </a:r>
            <a:endParaRPr lang="en-US" sz="1100" dirty="0"/>
          </a:p>
        </p:txBody>
      </p:sp>
      <p:sp>
        <p:nvSpPr>
          <p:cNvPr id="20" name="TextBox 19">
            <a:extLst>
              <a:ext uri="{FF2B5EF4-FFF2-40B4-BE49-F238E27FC236}">
                <a16:creationId xmlns:a16="http://schemas.microsoft.com/office/drawing/2014/main" id="{8F4A1DEC-9AB4-572C-B924-BFDA818377AE}"/>
              </a:ext>
            </a:extLst>
          </p:cNvPr>
          <p:cNvSpPr txBox="1"/>
          <p:nvPr/>
        </p:nvSpPr>
        <p:spPr>
          <a:xfrm>
            <a:off x="155034" y="48163"/>
            <a:ext cx="6418485" cy="323165"/>
          </a:xfrm>
          <a:prstGeom prst="rect">
            <a:avLst/>
          </a:prstGeom>
          <a:noFill/>
        </p:spPr>
        <p:txBody>
          <a:bodyPr wrap="square">
            <a:spAutoFit/>
          </a:bodyPr>
          <a:lstStyle/>
          <a:p>
            <a:pPr marL="0" indent="0">
              <a:buNone/>
            </a:pPr>
            <a:r>
              <a:rPr lang="en-US" sz="1500" b="1" dirty="0">
                <a:solidFill>
                  <a:schemeClr val="bg1"/>
                </a:solidFill>
                <a:latin typeface="Calibri" pitchFamily="34" charset="0"/>
                <a:ea typeface="Calibri" pitchFamily="34" charset="-122"/>
                <a:cs typeface="Calibri" pitchFamily="34" charset="-120"/>
              </a:rPr>
              <a:t>  A Lightweight Defense Framework for AI-Driven Scams</a:t>
            </a:r>
          </a:p>
        </p:txBody>
      </p:sp>
      <p:sp>
        <p:nvSpPr>
          <p:cNvPr id="21" name="TextBox 20">
            <a:extLst>
              <a:ext uri="{FF2B5EF4-FFF2-40B4-BE49-F238E27FC236}">
                <a16:creationId xmlns:a16="http://schemas.microsoft.com/office/drawing/2014/main" id="{7AEC3720-28BD-5987-E1E4-876EB0F59BA2}"/>
              </a:ext>
            </a:extLst>
          </p:cNvPr>
          <p:cNvSpPr txBox="1"/>
          <p:nvPr/>
        </p:nvSpPr>
        <p:spPr>
          <a:xfrm>
            <a:off x="3291839" y="4815691"/>
            <a:ext cx="3215640" cy="338554"/>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endParaRPr lang="en-US" sz="2200" b="1" dirty="0">
              <a:solidFill>
                <a:srgbClr val="FFFFFF"/>
              </a:solidFill>
              <a:latin typeface="Calibri" pitchFamily="34" charset="0"/>
              <a:ea typeface="Calibri" pitchFamily="34" charset="-122"/>
              <a:cs typeface="Calibri" pitchFamily="34" charset="-120"/>
            </a:endParaRPr>
          </a:p>
          <a:p>
            <a:pPr marL="0" indent="0">
              <a:buNone/>
            </a:pPr>
            <a:r>
              <a:rPr lang="en-US" sz="2200" b="1" dirty="0">
                <a:solidFill>
                  <a:srgbClr val="FFFFFF"/>
                </a:solidFill>
                <a:latin typeface="Calibri" pitchFamily="34" charset="0"/>
                <a:ea typeface="Calibri" pitchFamily="34" charset="-122"/>
                <a:cs typeface="Calibri" pitchFamily="34" charset="-120"/>
              </a:rPr>
              <a:t>Project Plan &amp; Work Breakdown Structure</a:t>
            </a:r>
            <a:endParaRPr lang="en-US" sz="2200" dirty="0"/>
          </a:p>
        </p:txBody>
      </p:sp>
      <p:pic>
        <p:nvPicPr>
          <p:cNvPr id="36" name="Picture 35">
            <a:extLst>
              <a:ext uri="{FF2B5EF4-FFF2-40B4-BE49-F238E27FC236}">
                <a16:creationId xmlns:a16="http://schemas.microsoft.com/office/drawing/2014/main" id="{30900C5D-14A5-AF82-1962-753570BA4040}"/>
              </a:ext>
            </a:extLst>
          </p:cNvPr>
          <p:cNvPicPr>
            <a:picLocks noChangeAspect="1"/>
          </p:cNvPicPr>
          <p:nvPr/>
        </p:nvPicPr>
        <p:blipFill>
          <a:blip r:embed="rId3"/>
          <a:srcRect t="8894" b="8484"/>
          <a:stretch>
            <a:fillRect/>
          </a:stretch>
        </p:blipFill>
        <p:spPr>
          <a:xfrm>
            <a:off x="365760" y="904240"/>
            <a:ext cx="8327225" cy="3870960"/>
          </a:xfrm>
          <a:prstGeom prst="rect">
            <a:avLst/>
          </a:prstGeom>
        </p:spPr>
      </p:pic>
      <p:sp>
        <p:nvSpPr>
          <p:cNvPr id="37" name="TextBox 36">
            <a:extLst>
              <a:ext uri="{FF2B5EF4-FFF2-40B4-BE49-F238E27FC236}">
                <a16:creationId xmlns:a16="http://schemas.microsoft.com/office/drawing/2014/main" id="{F4C73C58-3FF4-89D0-80FF-05EB93E74E93}"/>
              </a:ext>
            </a:extLst>
          </p:cNvPr>
          <p:cNvSpPr txBox="1"/>
          <p:nvPr/>
        </p:nvSpPr>
        <p:spPr>
          <a:xfrm>
            <a:off x="155034" y="48163"/>
            <a:ext cx="6418485" cy="323165"/>
          </a:xfrm>
          <a:prstGeom prst="rect">
            <a:avLst/>
          </a:prstGeom>
          <a:noFill/>
        </p:spPr>
        <p:txBody>
          <a:bodyPr wrap="square">
            <a:spAutoFit/>
          </a:bodyPr>
          <a:lstStyle/>
          <a:p>
            <a:pPr marL="0" indent="0">
              <a:buNone/>
            </a:pPr>
            <a:r>
              <a:rPr lang="en-US" sz="1500" b="1" dirty="0">
                <a:solidFill>
                  <a:schemeClr val="bg1"/>
                </a:solidFill>
                <a:latin typeface="Calibri" pitchFamily="34" charset="0"/>
                <a:ea typeface="Calibri" pitchFamily="34" charset="-122"/>
                <a:cs typeface="Calibri" pitchFamily="34" charset="-120"/>
              </a:rPr>
              <a:t>  A Lightweight Defense Framework for AI-Driven Scams</a:t>
            </a:r>
          </a:p>
        </p:txBody>
      </p:sp>
      <p:sp>
        <p:nvSpPr>
          <p:cNvPr id="38" name="TextBox 37">
            <a:extLst>
              <a:ext uri="{FF2B5EF4-FFF2-40B4-BE49-F238E27FC236}">
                <a16:creationId xmlns:a16="http://schemas.microsoft.com/office/drawing/2014/main" id="{707B2F47-4EB0-7027-4C25-86036CB2D5C6}"/>
              </a:ext>
            </a:extLst>
          </p:cNvPr>
          <p:cNvSpPr txBox="1"/>
          <p:nvPr/>
        </p:nvSpPr>
        <p:spPr>
          <a:xfrm>
            <a:off x="3291839" y="4815691"/>
            <a:ext cx="3215640" cy="338554"/>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914400"/>
            <a:ext cx="5029200" cy="5029200"/>
          </a:xfrm>
          <a:prstGeom prst="ellipse">
            <a:avLst/>
          </a:prstGeom>
          <a:solidFill>
            <a:srgbClr val="0A9396">
              <a:alpha val="15000"/>
            </a:srgbClr>
          </a:solidFill>
          <a:ln/>
        </p:spPr>
        <p:txBody>
          <a:bodyPr/>
          <a:lstStyle/>
          <a:p>
            <a:endParaRPr lang="en-US"/>
          </a:p>
        </p:txBody>
      </p:sp>
      <p:sp>
        <p:nvSpPr>
          <p:cNvPr id="3" name="Shape 1"/>
          <p:cNvSpPr/>
          <p:nvPr/>
        </p:nvSpPr>
        <p:spPr>
          <a:xfrm>
            <a:off x="6400800" y="2743200"/>
            <a:ext cx="3657600" cy="3657600"/>
          </a:xfrm>
          <a:prstGeom prst="ellipse">
            <a:avLst/>
          </a:prstGeom>
          <a:solidFill>
            <a:srgbClr val="EE9B00">
              <a:alpha val="12000"/>
            </a:srgbClr>
          </a:solidFill>
          <a:ln/>
        </p:spPr>
        <p:txBody>
          <a:bodyPr/>
          <a:lstStyle/>
          <a:p>
            <a:endParaRPr lang="en-US"/>
          </a:p>
        </p:txBody>
      </p:sp>
      <p:sp>
        <p:nvSpPr>
          <p:cNvPr id="4" name="Shape 2"/>
          <p:cNvSpPr/>
          <p:nvPr/>
        </p:nvSpPr>
        <p:spPr>
          <a:xfrm>
            <a:off x="0" y="0"/>
            <a:ext cx="164592" cy="5143500"/>
          </a:xfrm>
          <a:prstGeom prst="rect">
            <a:avLst/>
          </a:prstGeom>
          <a:solidFill>
            <a:srgbClr val="0A9396"/>
          </a:solidFill>
          <a:ln/>
        </p:spPr>
        <p:txBody>
          <a:bodyPr/>
          <a:lstStyle/>
          <a:p>
            <a:endParaRPr lang="en-US"/>
          </a:p>
        </p:txBody>
      </p:sp>
      <p:sp>
        <p:nvSpPr>
          <p:cNvPr id="5" name="Text 3"/>
          <p:cNvSpPr/>
          <p:nvPr/>
        </p:nvSpPr>
        <p:spPr>
          <a:xfrm>
            <a:off x="457200" y="54864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6" name="Shape 4"/>
          <p:cNvSpPr/>
          <p:nvPr/>
        </p:nvSpPr>
        <p:spPr>
          <a:xfrm>
            <a:off x="457200" y="1417320"/>
            <a:ext cx="8229600" cy="685800"/>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457200" y="1417320"/>
            <a:ext cx="73152" cy="685800"/>
          </a:xfrm>
          <a:prstGeom prst="rect">
            <a:avLst/>
          </a:prstGeom>
          <a:solidFill>
            <a:srgbClr val="EE9B00"/>
          </a:solidFill>
          <a:ln/>
        </p:spPr>
        <p:txBody>
          <a:bodyPr/>
          <a:lstStyle/>
          <a:p>
            <a:endParaRPr lang="en-US"/>
          </a:p>
        </p:txBody>
      </p:sp>
      <p:sp>
        <p:nvSpPr>
          <p:cNvPr id="8" name="Text 6"/>
          <p:cNvSpPr/>
          <p:nvPr/>
        </p:nvSpPr>
        <p:spPr>
          <a:xfrm>
            <a:off x="621792" y="1417320"/>
            <a:ext cx="2194560" cy="685800"/>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Unified Framework:</a:t>
            </a:r>
            <a:endParaRPr lang="en-US" sz="1300" dirty="0"/>
          </a:p>
        </p:txBody>
      </p:sp>
      <p:sp>
        <p:nvSpPr>
          <p:cNvPr id="9" name="Text 7"/>
          <p:cNvSpPr/>
          <p:nvPr/>
        </p:nvSpPr>
        <p:spPr>
          <a:xfrm>
            <a:off x="2834640" y="1417320"/>
            <a:ext cx="5760720" cy="685800"/>
          </a:xfrm>
          <a:prstGeom prst="rect">
            <a:avLst/>
          </a:prstGeom>
          <a:noFill/>
          <a:ln/>
        </p:spPr>
        <p:txBody>
          <a:bodyPr wrap="square" lIns="50800" tIns="50800" rIns="50800" bIns="508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Three integrated components covering detection, attribution, and human-centered defense.</a:t>
            </a:r>
            <a:endParaRPr lang="en-US" sz="1200" dirty="0"/>
          </a:p>
        </p:txBody>
      </p:sp>
      <p:sp>
        <p:nvSpPr>
          <p:cNvPr id="10" name="Shape 8"/>
          <p:cNvSpPr/>
          <p:nvPr/>
        </p:nvSpPr>
        <p:spPr>
          <a:xfrm>
            <a:off x="457200" y="2267712"/>
            <a:ext cx="8229600" cy="685800"/>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457200" y="2267712"/>
            <a:ext cx="73152" cy="685800"/>
          </a:xfrm>
          <a:prstGeom prst="rect">
            <a:avLst/>
          </a:prstGeom>
          <a:solidFill>
            <a:srgbClr val="EE9B00"/>
          </a:solidFill>
          <a:ln/>
        </p:spPr>
        <p:txBody>
          <a:bodyPr/>
          <a:lstStyle/>
          <a:p>
            <a:endParaRPr lang="en-US"/>
          </a:p>
        </p:txBody>
      </p:sp>
      <p:sp>
        <p:nvSpPr>
          <p:cNvPr id="12" name="Text 10"/>
          <p:cNvSpPr/>
          <p:nvPr/>
        </p:nvSpPr>
        <p:spPr>
          <a:xfrm>
            <a:off x="621792" y="2267712"/>
            <a:ext cx="2194560" cy="685800"/>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AI-Powered Protection:</a:t>
            </a:r>
            <a:endParaRPr lang="en-US" sz="1300" dirty="0"/>
          </a:p>
        </p:txBody>
      </p:sp>
      <p:sp>
        <p:nvSpPr>
          <p:cNvPr id="13" name="Text 11"/>
          <p:cNvSpPr/>
          <p:nvPr/>
        </p:nvSpPr>
        <p:spPr>
          <a:xfrm>
            <a:off x="2834640" y="2267712"/>
            <a:ext cx="5760720" cy="685800"/>
          </a:xfrm>
          <a:prstGeom prst="rect">
            <a:avLst/>
          </a:prstGeom>
          <a:noFill/>
          <a:ln/>
        </p:spPr>
        <p:txBody>
          <a:bodyPr wrap="square" lIns="50800" tIns="50800" rIns="50800" bIns="508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Leverages NLP, multi-modal analysis, and explainable AI to fight AI-driven scams.</a:t>
            </a:r>
            <a:endParaRPr lang="en-US" sz="1200" dirty="0"/>
          </a:p>
        </p:txBody>
      </p:sp>
      <p:sp>
        <p:nvSpPr>
          <p:cNvPr id="14" name="Shape 12"/>
          <p:cNvSpPr/>
          <p:nvPr/>
        </p:nvSpPr>
        <p:spPr>
          <a:xfrm>
            <a:off x="457200" y="3118104"/>
            <a:ext cx="8229600" cy="685800"/>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57200" y="3118104"/>
            <a:ext cx="73152" cy="685800"/>
          </a:xfrm>
          <a:prstGeom prst="rect">
            <a:avLst/>
          </a:prstGeom>
          <a:solidFill>
            <a:srgbClr val="EE9B00"/>
          </a:solidFill>
          <a:ln/>
        </p:spPr>
        <p:txBody>
          <a:bodyPr/>
          <a:lstStyle/>
          <a:p>
            <a:endParaRPr lang="en-US"/>
          </a:p>
        </p:txBody>
      </p:sp>
      <p:sp>
        <p:nvSpPr>
          <p:cNvPr id="16" name="Text 14"/>
          <p:cNvSpPr/>
          <p:nvPr/>
        </p:nvSpPr>
        <p:spPr>
          <a:xfrm>
            <a:off x="621792" y="3118104"/>
            <a:ext cx="2194560" cy="685800"/>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Accessible &amp; Lightweight:</a:t>
            </a:r>
            <a:endParaRPr lang="en-US" sz="1300" dirty="0"/>
          </a:p>
        </p:txBody>
      </p:sp>
      <p:sp>
        <p:nvSpPr>
          <p:cNvPr id="17" name="Text 15"/>
          <p:cNvSpPr/>
          <p:nvPr/>
        </p:nvSpPr>
        <p:spPr>
          <a:xfrm>
            <a:off x="2834640" y="3118104"/>
            <a:ext cx="5760720" cy="685800"/>
          </a:xfrm>
          <a:prstGeom prst="rect">
            <a:avLst/>
          </a:prstGeom>
          <a:noFill/>
          <a:ln/>
        </p:spPr>
        <p:txBody>
          <a:bodyPr wrap="square" lIns="50800" tIns="50800" rIns="50800" bIns="508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Designed for individuals and SMBs — affordable, cloud-based, easy to deploy.</a:t>
            </a:r>
            <a:endParaRPr lang="en-US" sz="1200" dirty="0"/>
          </a:p>
        </p:txBody>
      </p:sp>
      <p:sp>
        <p:nvSpPr>
          <p:cNvPr id="18" name="Shape 16"/>
          <p:cNvSpPr/>
          <p:nvPr/>
        </p:nvSpPr>
        <p:spPr>
          <a:xfrm>
            <a:off x="457200" y="3968496"/>
            <a:ext cx="8229600" cy="685800"/>
          </a:xfrm>
          <a:prstGeom prst="rect">
            <a:avLst/>
          </a:prstGeom>
          <a:solidFill>
            <a:srgbClr val="1A2D45"/>
          </a:solidFill>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57200" y="3968496"/>
            <a:ext cx="73152" cy="685800"/>
          </a:xfrm>
          <a:prstGeom prst="rect">
            <a:avLst/>
          </a:prstGeom>
          <a:solidFill>
            <a:srgbClr val="EE9B00"/>
          </a:solidFill>
          <a:ln/>
        </p:spPr>
        <p:txBody>
          <a:bodyPr/>
          <a:lstStyle/>
          <a:p>
            <a:endParaRPr lang="en-US"/>
          </a:p>
        </p:txBody>
      </p:sp>
      <p:sp>
        <p:nvSpPr>
          <p:cNvPr id="20" name="Text 18"/>
          <p:cNvSpPr/>
          <p:nvPr/>
        </p:nvSpPr>
        <p:spPr>
          <a:xfrm>
            <a:off x="621792" y="3968496"/>
            <a:ext cx="2194560" cy="685800"/>
          </a:xfrm>
          <a:prstGeom prst="rect">
            <a:avLst/>
          </a:prstGeom>
          <a:noFill/>
          <a:ln/>
        </p:spPr>
        <p:txBody>
          <a:bodyPr wrap="square" lIns="0" tIns="0" rIns="0" bIns="0" rtlCol="0" anchor="ctr"/>
          <a:lstStyle/>
          <a:p>
            <a:pPr marL="0" indent="0">
              <a:buNone/>
            </a:pPr>
            <a:r>
              <a:rPr lang="en-US" sz="1300" b="1" dirty="0">
                <a:solidFill>
                  <a:srgbClr val="94D2BD"/>
                </a:solidFill>
                <a:latin typeface="Calibri" pitchFamily="34" charset="0"/>
                <a:ea typeface="Calibri" pitchFamily="34" charset="-122"/>
                <a:cs typeface="Calibri" pitchFamily="34" charset="-120"/>
              </a:rPr>
              <a:t>Research-Backed:</a:t>
            </a:r>
            <a:endParaRPr lang="en-US" sz="1300" dirty="0"/>
          </a:p>
        </p:txBody>
      </p:sp>
      <p:sp>
        <p:nvSpPr>
          <p:cNvPr id="21" name="Text 19"/>
          <p:cNvSpPr/>
          <p:nvPr/>
        </p:nvSpPr>
        <p:spPr>
          <a:xfrm>
            <a:off x="2834640" y="3968496"/>
            <a:ext cx="5760720" cy="685800"/>
          </a:xfrm>
          <a:prstGeom prst="rect">
            <a:avLst/>
          </a:prstGeom>
          <a:noFill/>
          <a:ln/>
        </p:spPr>
        <p:txBody>
          <a:bodyPr wrap="square" lIns="50800" tIns="50800" rIns="50800" bIns="508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Validated using public scam datasets with rigorous accuracy and ethics standards.</a:t>
            </a:r>
            <a:endParaRPr lang="en-US" sz="1200" dirty="0"/>
          </a:p>
        </p:txBody>
      </p:sp>
      <p:sp>
        <p:nvSpPr>
          <p:cNvPr id="23" name="TextBox 22">
            <a:extLst>
              <a:ext uri="{FF2B5EF4-FFF2-40B4-BE49-F238E27FC236}">
                <a16:creationId xmlns:a16="http://schemas.microsoft.com/office/drawing/2014/main" id="{1332A466-7ACB-9FD0-D298-F2423D2855FF}"/>
              </a:ext>
            </a:extLst>
          </p:cNvPr>
          <p:cNvSpPr txBox="1"/>
          <p:nvPr/>
        </p:nvSpPr>
        <p:spPr>
          <a:xfrm>
            <a:off x="155034" y="48163"/>
            <a:ext cx="6418485" cy="323165"/>
          </a:xfrm>
          <a:prstGeom prst="rect">
            <a:avLst/>
          </a:prstGeom>
          <a:noFill/>
        </p:spPr>
        <p:txBody>
          <a:bodyPr wrap="square">
            <a:spAutoFit/>
          </a:bodyPr>
          <a:lstStyle/>
          <a:p>
            <a:pPr marL="0" indent="0">
              <a:buNone/>
            </a:pPr>
            <a:r>
              <a:rPr lang="en-US" sz="1500" b="1" dirty="0">
                <a:solidFill>
                  <a:schemeClr val="bg1"/>
                </a:solidFill>
                <a:latin typeface="Calibri" pitchFamily="34" charset="0"/>
                <a:ea typeface="Calibri" pitchFamily="34" charset="-122"/>
                <a:cs typeface="Calibri" pitchFamily="34" charset="-120"/>
              </a:rPr>
              <a:t>  A Lightweight Defense Framework for AI-Driven Scams</a:t>
            </a:r>
          </a:p>
        </p:txBody>
      </p:sp>
      <p:sp>
        <p:nvSpPr>
          <p:cNvPr id="24" name="TextBox 23">
            <a:extLst>
              <a:ext uri="{FF2B5EF4-FFF2-40B4-BE49-F238E27FC236}">
                <a16:creationId xmlns:a16="http://schemas.microsoft.com/office/drawing/2014/main" id="{6CD39AF6-6BA8-2A80-0C2A-F634A1759318}"/>
              </a:ext>
            </a:extLst>
          </p:cNvPr>
          <p:cNvSpPr txBox="1"/>
          <p:nvPr/>
        </p:nvSpPr>
        <p:spPr>
          <a:xfrm>
            <a:off x="3291839" y="4815691"/>
            <a:ext cx="3215640" cy="338554"/>
          </a:xfrm>
          <a:prstGeom prst="rect">
            <a:avLst/>
          </a:prstGeom>
          <a:noFill/>
        </p:spPr>
        <p:txBody>
          <a:bodyPr wrap="square" rtlCol="0">
            <a:spAutoFit/>
          </a:bodyPr>
          <a:lstStyle/>
          <a:p>
            <a:r>
              <a:rPr 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0ED776-B537-7CC1-E504-EC3F793E86C4}"/>
            </a:ext>
          </a:extLst>
        </p:cNvPr>
        <p:cNvGrpSpPr/>
        <p:nvPr/>
      </p:nvGrpSpPr>
      <p:grpSpPr>
        <a:xfrm>
          <a:off x="0" y="0"/>
          <a:ext cx="0" cy="0"/>
          <a:chOff x="0" y="0"/>
          <a:chExt cx="0" cy="0"/>
        </a:xfrm>
      </p:grpSpPr>
      <p:pic>
        <p:nvPicPr>
          <p:cNvPr id="11266" name="Picture 2" descr="Let's Give Thanks for How Far We've Come - and Forge Ahead!">
            <a:extLst>
              <a:ext uri="{FF2B5EF4-FFF2-40B4-BE49-F238E27FC236}">
                <a16:creationId xmlns:a16="http://schemas.microsoft.com/office/drawing/2014/main" id="{03479823-8520-4882-6850-C8AEE39F6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261" r="6434"/>
          <a:stretch>
            <a:fillRect/>
          </a:stretch>
        </p:blipFill>
        <p:spPr bwMode="auto">
          <a:xfrm>
            <a:off x="2911927" y="10"/>
            <a:ext cx="6232072" cy="5143490"/>
          </a:xfrm>
          <a:custGeom>
            <a:avLst/>
            <a:gdLst/>
            <a:ahLst/>
            <a:cxnLst/>
            <a:rect l="l" t="t" r="r" b="b"/>
            <a:pathLst>
              <a:path w="12192000" h="6858000">
                <a:moveTo>
                  <a:pt x="0" y="0"/>
                </a:moveTo>
                <a:lnTo>
                  <a:pt x="12192000" y="0"/>
                </a:lnTo>
                <a:lnTo>
                  <a:pt x="1219200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pSp>
        <p:nvGrpSpPr>
          <p:cNvPr id="11271" name="Group 11270">
            <a:extLst>
              <a:ext uri="{FF2B5EF4-FFF2-40B4-BE49-F238E27FC236}">
                <a16:creationId xmlns:a16="http://schemas.microsoft.com/office/drawing/2014/main" id="{63737881-458F-40AD-B72B-B57D267DC4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3436144" cy="5143500"/>
            <a:chOff x="-2" y="-1"/>
            <a:chExt cx="4581527" cy="6858002"/>
          </a:xfrm>
          <a:effectLst>
            <a:outerShdw blurRad="381000" dist="50800" algn="ctr" rotWithShape="0">
              <a:srgbClr val="000000">
                <a:alpha val="10000"/>
              </a:srgbClr>
            </a:outerShdw>
          </a:effectLst>
        </p:grpSpPr>
        <p:sp>
          <p:nvSpPr>
            <p:cNvPr id="11272" name="Freeform: Shape 11271">
              <a:extLst>
                <a:ext uri="{FF2B5EF4-FFF2-40B4-BE49-F238E27FC236}">
                  <a16:creationId xmlns:a16="http://schemas.microsoft.com/office/drawing/2014/main" id="{C2967126-346F-41EA-982D-63D8EBB60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273" name="Group 11272">
              <a:extLst>
                <a:ext uri="{FF2B5EF4-FFF2-40B4-BE49-F238E27FC236}">
                  <a16:creationId xmlns:a16="http://schemas.microsoft.com/office/drawing/2014/main" id="{1BCD9601-1F44-4E40-998C-1B256DAE94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11274" name="Group 11273">
                <a:extLst>
                  <a:ext uri="{FF2B5EF4-FFF2-40B4-BE49-F238E27FC236}">
                    <a16:creationId xmlns:a16="http://schemas.microsoft.com/office/drawing/2014/main" id="{1A1CA4E9-12FA-47EB-8471-25E8D55152C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11278" name="Freeform: Shape 11277">
                  <a:extLst>
                    <a:ext uri="{FF2B5EF4-FFF2-40B4-BE49-F238E27FC236}">
                      <a16:creationId xmlns:a16="http://schemas.microsoft.com/office/drawing/2014/main" id="{E13A9BF0-334C-4457-A635-9CA4877E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79" name="Freeform: Shape 11278">
                  <a:extLst>
                    <a:ext uri="{FF2B5EF4-FFF2-40B4-BE49-F238E27FC236}">
                      <a16:creationId xmlns:a16="http://schemas.microsoft.com/office/drawing/2014/main" id="{FF05821A-8598-44E4-A18C-538D5331E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275" name="Group 11274">
                <a:extLst>
                  <a:ext uri="{FF2B5EF4-FFF2-40B4-BE49-F238E27FC236}">
                    <a16:creationId xmlns:a16="http://schemas.microsoft.com/office/drawing/2014/main" id="{8A4ECC81-E17F-4F87-9A0B-398363A864A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4">
                  <a:alphaModFix amt="57000"/>
                </a:blip>
                <a:tile tx="0" ty="0" sx="100000" sy="100000" flip="none" algn="tl"/>
              </a:blipFill>
              <a:effectLst/>
            </p:grpSpPr>
            <p:sp>
              <p:nvSpPr>
                <p:cNvPr id="11276" name="Freeform: Shape 11275">
                  <a:extLst>
                    <a:ext uri="{FF2B5EF4-FFF2-40B4-BE49-F238E27FC236}">
                      <a16:creationId xmlns:a16="http://schemas.microsoft.com/office/drawing/2014/main" id="{1FBBD7D8-A895-40D0-A53D-DEDF495B2F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77" name="Freeform: Shape 11276">
                  <a:extLst>
                    <a:ext uri="{FF2B5EF4-FFF2-40B4-BE49-F238E27FC236}">
                      <a16:creationId xmlns:a16="http://schemas.microsoft.com/office/drawing/2014/main" id="{BA602493-BC70-48CF-BDBA-88A866227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35" name="TextBox 34">
            <a:extLst>
              <a:ext uri="{FF2B5EF4-FFF2-40B4-BE49-F238E27FC236}">
                <a16:creationId xmlns:a16="http://schemas.microsoft.com/office/drawing/2014/main" id="{456C84F4-6E1D-0B26-331F-E0D08632BAE7}"/>
              </a:ext>
            </a:extLst>
          </p:cNvPr>
          <p:cNvSpPr txBox="1"/>
          <p:nvPr/>
        </p:nvSpPr>
        <p:spPr>
          <a:xfrm>
            <a:off x="3291839" y="4815691"/>
            <a:ext cx="3215640" cy="338554"/>
          </a:xfrm>
          <a:prstGeom prst="rect">
            <a:avLst/>
          </a:prstGeom>
          <a:noFill/>
        </p:spPr>
        <p:txBody>
          <a:bodyPr wrap="square" rtlCol="0">
            <a:spAutoFit/>
          </a:bodyPr>
          <a:lstStyle/>
          <a:p>
            <a:r>
              <a:rPr 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extLst>
      <p:ext uri="{BB962C8B-B14F-4D97-AF65-F5344CB8AC3E}">
        <p14:creationId xmlns:p14="http://schemas.microsoft.com/office/powerpoint/2010/main" val="1316096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1ADB1B-716A-31EB-CAB5-BD8AA7CB3493}"/>
            </a:ext>
          </a:extLst>
        </p:cNvPr>
        <p:cNvGrpSpPr/>
        <p:nvPr/>
      </p:nvGrpSpPr>
      <p:grpSpPr>
        <a:xfrm>
          <a:off x="0" y="0"/>
          <a:ext cx="0" cy="0"/>
          <a:chOff x="0" y="0"/>
          <a:chExt cx="0" cy="0"/>
        </a:xfrm>
      </p:grpSpPr>
      <p:sp>
        <p:nvSpPr>
          <p:cNvPr id="13319" name="Rectangle 1331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314" name="Picture 2" descr="What Are Emoji? - The Atlantic">
            <a:extLst>
              <a:ext uri="{FF2B5EF4-FFF2-40B4-BE49-F238E27FC236}">
                <a16:creationId xmlns:a16="http://schemas.microsoft.com/office/drawing/2014/main" id="{CDDAB5AC-8367-33E1-679F-68972A2B0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539" b="1"/>
          <a:stretch>
            <a:fillRect/>
          </a:stretch>
        </p:blipFill>
        <p:spPr bwMode="auto">
          <a:xfrm>
            <a:off x="-1123" y="961"/>
            <a:ext cx="9143980" cy="514253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8096DF2A-FE2B-8B08-16B3-5C6B276B1FF5}"/>
              </a:ext>
            </a:extLst>
          </p:cNvPr>
          <p:cNvPicPr>
            <a:picLocks noChangeAspect="1"/>
          </p:cNvPicPr>
          <p:nvPr/>
        </p:nvPicPr>
        <p:blipFill>
          <a:blip r:embed="rId4"/>
          <a:srcRect r="9481" b="24077"/>
          <a:stretch>
            <a:fillRect/>
          </a:stretch>
        </p:blipFill>
        <p:spPr>
          <a:xfrm>
            <a:off x="263875" y="76100"/>
            <a:ext cx="4084605" cy="2402940"/>
          </a:xfrm>
          <a:prstGeom prst="rect">
            <a:avLst/>
          </a:prstGeom>
        </p:spPr>
      </p:pic>
      <p:sp>
        <p:nvSpPr>
          <p:cNvPr id="37" name="TextBox 36">
            <a:extLst>
              <a:ext uri="{FF2B5EF4-FFF2-40B4-BE49-F238E27FC236}">
                <a16:creationId xmlns:a16="http://schemas.microsoft.com/office/drawing/2014/main" id="{53581CE0-475A-9441-F938-61AA45C31D25}"/>
              </a:ext>
            </a:extLst>
          </p:cNvPr>
          <p:cNvSpPr txBox="1"/>
          <p:nvPr/>
        </p:nvSpPr>
        <p:spPr>
          <a:xfrm>
            <a:off x="3291839" y="4815691"/>
            <a:ext cx="3215640" cy="338554"/>
          </a:xfrm>
          <a:prstGeom prst="rect">
            <a:avLst/>
          </a:prstGeom>
          <a:noFill/>
        </p:spPr>
        <p:txBody>
          <a:bodyPr wrap="square" rtlCol="0">
            <a:spAutoFit/>
          </a:bodyPr>
          <a:lstStyle/>
          <a:p>
            <a:r>
              <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ID - R26 – CS - 011</a:t>
            </a:r>
          </a:p>
        </p:txBody>
      </p:sp>
    </p:spTree>
    <p:extLst>
      <p:ext uri="{BB962C8B-B14F-4D97-AF65-F5344CB8AC3E}">
        <p14:creationId xmlns:p14="http://schemas.microsoft.com/office/powerpoint/2010/main" val="2079982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8C81FAF-D970-4FAB-947E-11892295FC79}">
  <ds:schemaRefs>
    <ds:schemaRef ds:uri="http://schemas.microsoft.com/sharepoint/v3/contenttype/forms"/>
  </ds:schemaRefs>
</ds:datastoreItem>
</file>

<file path=customXml/itemProps2.xml><?xml version="1.0" encoding="utf-8"?>
<ds:datastoreItem xmlns:ds="http://schemas.openxmlformats.org/officeDocument/2006/customXml" ds:itemID="{C37947AD-5FD7-4A76-BEA7-4C60723448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ad1aa7-8ede-435c-b3a7-ac11bacaeb50"/>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B79A79-7A3E-450C-8986-8983E480E743}">
  <ds:schemaRefs>
    <ds:schemaRef ds:uri="http://schemas.microsoft.com/office/2006/metadata/properties"/>
    <ds:schemaRef ds:uri="http://schemas.microsoft.com/office/infopath/2007/PartnerControls"/>
    <ds:schemaRef ds:uri="db72c12f-87a4-44ab-bbc5-4cc8306b158a"/>
    <ds:schemaRef ds:uri="5aad1aa7-8ede-435c-b3a7-ac11bacaeb50"/>
  </ds:schemaRefs>
</ds:datastoreItem>
</file>

<file path=docProps/app.xml><?xml version="1.0" encoding="utf-8"?>
<Properties xmlns="http://schemas.openxmlformats.org/officeDocument/2006/extended-properties" xmlns:vt="http://schemas.openxmlformats.org/officeDocument/2006/docPropsVTypes">
  <TotalTime>801</TotalTime>
  <Words>1520</Words>
  <Application>Microsoft Office PowerPoint</Application>
  <PresentationFormat>On-screen Show (16:9)</PresentationFormat>
  <Paragraphs>269</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Lightweight Defense Framework for AI-Driven Scams</dc:title>
  <dc:subject>PptxGenJS Presentation</dc:subject>
  <dc:creator>PptxGenJS</dc:creator>
  <cp:lastModifiedBy>PRIYADEWA P D J C it22628718</cp:lastModifiedBy>
  <cp:revision>27</cp:revision>
  <dcterms:created xsi:type="dcterms:W3CDTF">2026-03-15T18:13:47Z</dcterms:created>
  <dcterms:modified xsi:type="dcterms:W3CDTF">2026-10-20T06:42:06Z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