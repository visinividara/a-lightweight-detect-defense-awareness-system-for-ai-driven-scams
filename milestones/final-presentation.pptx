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1" r:id="rId2"/>
    <p:sldId id="256" r:id="rId3"/>
    <p:sldId id="272" r:id="rId4"/>
    <p:sldId id="257" r:id="rId5"/>
    <p:sldId id="273" r:id="rId6"/>
    <p:sldId id="276" r:id="rId7"/>
    <p:sldId id="274" r:id="rId8"/>
    <p:sldId id="259" r:id="rId9"/>
    <p:sldId id="275" r:id="rId10"/>
    <p:sldId id="260" r:id="rId11"/>
    <p:sldId id="261" r:id="rId12"/>
    <p:sldId id="28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70EBE5-240F-4271-85D1-C83DF4EF726E}"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4238A2-8A56-4B40-983A-71912D6531B6}" type="slidenum">
              <a:rPr lang="en-US" smtClean="0"/>
              <a:t>‹#›</a:t>
            </a:fld>
            <a:endParaRPr lang="en-US"/>
          </a:p>
        </p:txBody>
      </p:sp>
    </p:spTree>
    <p:extLst>
      <p:ext uri="{BB962C8B-B14F-4D97-AF65-F5344CB8AC3E}">
        <p14:creationId xmlns:p14="http://schemas.microsoft.com/office/powerpoint/2010/main" val="245871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sz="1400" dirty="0"/>
          </a:p>
        </p:txBody>
      </p:sp>
    </p:spTree>
    <p:extLst>
      <p:ext uri="{BB962C8B-B14F-4D97-AF65-F5344CB8AC3E}">
        <p14:creationId xmlns:p14="http://schemas.microsoft.com/office/powerpoint/2010/main" val="62549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49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278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A5B"/>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E2BC16-EFA8-AF20-BF81-B46BF13B0520}"/>
              </a:ext>
            </a:extLst>
          </p:cNvPr>
          <p:cNvSpPr txBox="1"/>
          <p:nvPr/>
        </p:nvSpPr>
        <p:spPr>
          <a:xfrm>
            <a:off x="822960" y="822960"/>
            <a:ext cx="10543032" cy="1463040"/>
          </a:xfrm>
          <a:prstGeom prst="rect">
            <a:avLst/>
          </a:prstGeom>
          <a:noFill/>
        </p:spPr>
        <p:txBody>
          <a:bodyPr wrap="square" lIns="0" tIns="0" rIns="0" bIns="0" rtlCol="0" anchor="ctr">
            <a:spAutoFit/>
          </a:bodyPr>
          <a:lstStyle/>
          <a:p>
            <a:pPr algn="ctr">
              <a:lnSpc>
                <a:spcPct val="95000"/>
              </a:lnSpc>
              <a:spcAft>
                <a:spcPts val="0"/>
              </a:spcAft>
            </a:pPr>
            <a:r>
              <a:rPr lang="en-US" sz="3600" b="1" i="0" dirty="0">
                <a:solidFill>
                  <a:srgbClr val="FFFFFF"/>
                </a:solidFill>
                <a:latin typeface="Calibri"/>
                <a:ea typeface="Calibri"/>
                <a:cs typeface="Calibri"/>
              </a:rPr>
              <a:t>A Lightweight Detect, Defense and Awareness System for AI-Driven Scams</a:t>
            </a:r>
          </a:p>
          <a:p>
            <a:pPr algn="ctr">
              <a:lnSpc>
                <a:spcPct val="95000"/>
              </a:lnSpc>
              <a:spcAft>
                <a:spcPts val="0"/>
              </a:spcAft>
            </a:pPr>
            <a:endParaRPr lang="en-US" sz="3600" b="1" i="0" dirty="0">
              <a:solidFill>
                <a:srgbClr val="FFFFFF"/>
              </a:solidFill>
              <a:effectLst>
                <a:outerShdw blurRad="38100" dist="38100" dir="2700000" algn="tl">
                  <a:srgbClr val="000000">
                    <a:alpha val="43137"/>
                  </a:srgbClr>
                </a:outerShdw>
              </a:effectLst>
              <a:latin typeface="Calibri"/>
              <a:ea typeface="Calibri"/>
              <a:cs typeface="Calibri"/>
            </a:endParaRPr>
          </a:p>
        </p:txBody>
      </p:sp>
      <p:sp>
        <p:nvSpPr>
          <p:cNvPr id="4" name="TextBox 3">
            <a:extLst>
              <a:ext uri="{FF2B5EF4-FFF2-40B4-BE49-F238E27FC236}">
                <a16:creationId xmlns:a16="http://schemas.microsoft.com/office/drawing/2014/main" id="{5924D6E4-6E43-F4EA-F81C-212AA0F31852}"/>
              </a:ext>
            </a:extLst>
          </p:cNvPr>
          <p:cNvSpPr txBox="1"/>
          <p:nvPr/>
        </p:nvSpPr>
        <p:spPr>
          <a:xfrm>
            <a:off x="822960" y="2468880"/>
            <a:ext cx="10543032" cy="365760"/>
          </a:xfrm>
          <a:prstGeom prst="rect">
            <a:avLst/>
          </a:prstGeom>
          <a:noFill/>
        </p:spPr>
        <p:txBody>
          <a:bodyPr wrap="square" lIns="0" tIns="0" rIns="0" bIns="0" rtlCol="0" anchor="t">
            <a:spAutoFit/>
          </a:bodyPr>
          <a:lstStyle/>
          <a:p>
            <a:pPr algn="ctr">
              <a:spcAft>
                <a:spcPts val="0"/>
              </a:spcAft>
            </a:pPr>
            <a:r>
              <a:rPr lang="en-US" sz="1300" b="1" i="0" kern="0" spc="80" dirty="0">
                <a:solidFill>
                  <a:srgbClr val="CADCFC"/>
                </a:solidFill>
                <a:latin typeface="Calibri"/>
                <a:ea typeface="Calibri"/>
                <a:cs typeface="Calibri"/>
              </a:rPr>
              <a:t>FINAL PRESENTATION  —  RESEARCH PROJECT (IT4010)  •  2026</a:t>
            </a:r>
            <a:endParaRPr lang="en-US" sz="1300" b="1" i="0" dirty="0">
              <a:solidFill>
                <a:srgbClr val="CADCFC"/>
              </a:solidFill>
              <a:latin typeface="Calibri"/>
              <a:ea typeface="Calibri"/>
              <a:cs typeface="Calibri"/>
            </a:endParaRPr>
          </a:p>
          <a:p>
            <a:pPr algn="ctr">
              <a:spcAft>
                <a:spcPts val="0"/>
              </a:spcAft>
            </a:pPr>
            <a:r>
              <a:rPr lang="en-US" sz="1300" b="1" i="0" dirty="0">
                <a:solidFill>
                  <a:srgbClr val="CADCFC"/>
                </a:solidFill>
                <a:latin typeface="Calibri"/>
                <a:ea typeface="Calibri"/>
                <a:cs typeface="Calibri"/>
              </a:rPr>
              <a:t> </a:t>
            </a:r>
          </a:p>
        </p:txBody>
      </p:sp>
      <p:sp>
        <p:nvSpPr>
          <p:cNvPr id="5" name="TextBox 4">
            <a:extLst>
              <a:ext uri="{FF2B5EF4-FFF2-40B4-BE49-F238E27FC236}">
                <a16:creationId xmlns:a16="http://schemas.microsoft.com/office/drawing/2014/main" id="{6DE5CB03-82D9-3663-BA47-0442A341DB2B}"/>
              </a:ext>
            </a:extLst>
          </p:cNvPr>
          <p:cNvSpPr txBox="1"/>
          <p:nvPr/>
        </p:nvSpPr>
        <p:spPr>
          <a:xfrm>
            <a:off x="822960" y="2880360"/>
            <a:ext cx="10543032" cy="365760"/>
          </a:xfrm>
          <a:prstGeom prst="rect">
            <a:avLst/>
          </a:prstGeom>
          <a:noFill/>
        </p:spPr>
        <p:txBody>
          <a:bodyPr wrap="square" lIns="0" tIns="0" rIns="0" bIns="0" rtlCol="0" anchor="t">
            <a:spAutoFit/>
          </a:bodyPr>
          <a:lstStyle/>
          <a:p>
            <a:pPr algn="ctr">
              <a:spcAft>
                <a:spcPts val="0"/>
              </a:spcAft>
            </a:pPr>
            <a:r>
              <a:rPr lang="en-US" sz="1600" b="0" i="0" dirty="0">
                <a:solidFill>
                  <a:srgbClr val="E8EEF8"/>
                </a:solidFill>
                <a:latin typeface="Calibri"/>
                <a:ea typeface="Calibri"/>
                <a:cs typeface="Calibri"/>
              </a:rPr>
              <a:t>Specializing in Cyber Security   |   SLIIT — Faculty of Computing</a:t>
            </a:r>
          </a:p>
          <a:p>
            <a:pPr algn="ctr">
              <a:spcAft>
                <a:spcPts val="0"/>
              </a:spcAft>
            </a:pPr>
            <a:endParaRPr lang="en-US" sz="1600" b="0" i="0" dirty="0">
              <a:solidFill>
                <a:srgbClr val="E8EEF8"/>
              </a:solidFill>
              <a:latin typeface="Calibri"/>
              <a:ea typeface="Calibri"/>
              <a:cs typeface="Calibri"/>
            </a:endParaRPr>
          </a:p>
        </p:txBody>
      </p:sp>
      <p:sp>
        <p:nvSpPr>
          <p:cNvPr id="8" name="Text 4">
            <a:extLst>
              <a:ext uri="{FF2B5EF4-FFF2-40B4-BE49-F238E27FC236}">
                <a16:creationId xmlns:a16="http://schemas.microsoft.com/office/drawing/2014/main" id="{4A0F31DA-19B1-B5C2-7CD2-12C48D183A1B}"/>
              </a:ext>
            </a:extLst>
          </p:cNvPr>
          <p:cNvSpPr/>
          <p:nvPr/>
        </p:nvSpPr>
        <p:spPr>
          <a:xfrm>
            <a:off x="822960" y="3474720"/>
            <a:ext cx="10543032" cy="320040"/>
          </a:xfrm>
          <a:prstGeom prst="rect">
            <a:avLst/>
          </a:prstGeom>
          <a:noFill/>
          <a:ln/>
        </p:spPr>
        <p:txBody>
          <a:bodyPr wrap="square" lIns="0" tIns="0" rIns="0" bIns="0" rtlCol="0" anchor="t"/>
          <a:lstStyle/>
          <a:p>
            <a:pPr algn="ctr">
              <a:spcAft>
                <a:spcPts val="0"/>
              </a:spcAft>
            </a:pPr>
            <a:r>
              <a:rPr lang="en-US" sz="1300" b="0" i="0" dirty="0">
                <a:solidFill>
                  <a:srgbClr val="FFFFFF"/>
                </a:solidFill>
                <a:latin typeface="Calibri"/>
                <a:ea typeface="Calibri"/>
                <a:cs typeface="Calibri"/>
              </a:rPr>
              <a:t>Group ID: RP-CS-011      Supervisor: Mr. Dinith Primal</a:t>
            </a:r>
          </a:p>
        </p:txBody>
      </p:sp>
      <p:graphicFrame>
        <p:nvGraphicFramePr>
          <p:cNvPr id="11" name="Table 0">
            <a:extLst>
              <a:ext uri="{FF2B5EF4-FFF2-40B4-BE49-F238E27FC236}">
                <a16:creationId xmlns:a16="http://schemas.microsoft.com/office/drawing/2014/main" id="{F1CC516B-ADA5-C202-3CF7-D5E96889F69B}"/>
              </a:ext>
            </a:extLst>
          </p:cNvPr>
          <p:cNvGraphicFramePr>
            <a:graphicFrameLocks noGrp="1"/>
          </p:cNvGraphicFramePr>
          <p:nvPr>
            <p:extLst>
              <p:ext uri="{D42A27DB-BD31-4B8C-83A1-F6EECF244321}">
                <p14:modId xmlns:p14="http://schemas.microsoft.com/office/powerpoint/2010/main" val="187933907"/>
              </p:ext>
            </p:extLst>
          </p:nvPr>
        </p:nvGraphicFramePr>
        <p:xfrm>
          <a:off x="1901605" y="3873910"/>
          <a:ext cx="8388789" cy="1993116"/>
        </p:xfrm>
        <a:graphic>
          <a:graphicData uri="http://schemas.openxmlformats.org/drawingml/2006/table">
            <a:tbl>
              <a:tblPr/>
              <a:tblGrid>
                <a:gridCol w="1778226">
                  <a:extLst>
                    <a:ext uri="{9D8B030D-6E8A-4147-A177-3AD203B41FA5}">
                      <a16:colId xmlns:a16="http://schemas.microsoft.com/office/drawing/2014/main" val="20000"/>
                    </a:ext>
                  </a:extLst>
                </a:gridCol>
                <a:gridCol w="1890107">
                  <a:extLst>
                    <a:ext uri="{9D8B030D-6E8A-4147-A177-3AD203B41FA5}">
                      <a16:colId xmlns:a16="http://schemas.microsoft.com/office/drawing/2014/main" val="20001"/>
                    </a:ext>
                  </a:extLst>
                </a:gridCol>
                <a:gridCol w="4720456">
                  <a:extLst>
                    <a:ext uri="{9D8B030D-6E8A-4147-A177-3AD203B41FA5}">
                      <a16:colId xmlns:a16="http://schemas.microsoft.com/office/drawing/2014/main" val="20002"/>
                    </a:ext>
                  </a:extLst>
                </a:gridCol>
              </a:tblGrid>
              <a:tr h="498279">
                <a:tc>
                  <a:txBody>
                    <a:bodyPr/>
                    <a:lstStyle/>
                    <a:p>
                      <a:pPr marL="0" indent="0" algn="ctr">
                        <a:spcAft>
                          <a:spcPts val="0"/>
                        </a:spcAft>
                        <a:buNone/>
                      </a:pPr>
                      <a:r>
                        <a:rPr lang="en-US" sz="1200" b="1" i="0" dirty="0">
                          <a:solidFill>
                            <a:srgbClr val="FFFFFF"/>
                          </a:solidFill>
                          <a:latin typeface="Calibri"/>
                          <a:ea typeface="Calibri"/>
                          <a:cs typeface="Calibri"/>
                        </a:rPr>
                        <a:t>Student IT Number</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2365B0"/>
                    </a:solidFill>
                  </a:tcPr>
                </a:tc>
                <a:tc>
                  <a:txBody>
                    <a:bodyPr/>
                    <a:lstStyle/>
                    <a:p>
                      <a:pPr marL="0" indent="0" algn="ctr">
                        <a:spcAft>
                          <a:spcPts val="0"/>
                        </a:spcAft>
                        <a:buNone/>
                      </a:pPr>
                      <a:r>
                        <a:rPr lang="en-US" sz="1200" b="1" i="0" dirty="0">
                          <a:solidFill>
                            <a:srgbClr val="FFFFFF"/>
                          </a:solidFill>
                          <a:latin typeface="Calibri"/>
                          <a:ea typeface="Calibri"/>
                          <a:cs typeface="Calibri"/>
                        </a:rPr>
                        <a:t>Name</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2365B0"/>
                    </a:solidFill>
                  </a:tcPr>
                </a:tc>
                <a:tc>
                  <a:txBody>
                    <a:bodyPr/>
                    <a:lstStyle/>
                    <a:p>
                      <a:pPr marL="0" indent="0" algn="ctr">
                        <a:spcAft>
                          <a:spcPts val="0"/>
                        </a:spcAft>
                        <a:buNone/>
                      </a:pPr>
                      <a:r>
                        <a:rPr lang="en-US" sz="1200" b="1" i="0" dirty="0">
                          <a:solidFill>
                            <a:srgbClr val="FFFFFF"/>
                          </a:solidFill>
                          <a:latin typeface="Calibri"/>
                          <a:ea typeface="Calibri"/>
                          <a:cs typeface="Calibri"/>
                        </a:rPr>
                        <a:t>Co-Topic</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2365B0"/>
                    </a:solidFill>
                  </a:tcPr>
                </a:tc>
                <a:extLst>
                  <a:ext uri="{0D108BD9-81ED-4DB2-BD59-A6C34878D82A}">
                    <a16:rowId xmlns:a16="http://schemas.microsoft.com/office/drawing/2014/main" val="10000"/>
                  </a:ext>
                </a:extLst>
              </a:tr>
              <a:tr h="498279">
                <a:tc>
                  <a:txBody>
                    <a:bodyPr/>
                    <a:lstStyle/>
                    <a:p>
                      <a:pPr marL="0" indent="0" algn="ctr">
                        <a:spcAft>
                          <a:spcPts val="0"/>
                        </a:spcAft>
                        <a:buNone/>
                      </a:pPr>
                      <a:r>
                        <a:rPr lang="en-US" sz="1100" b="0" i="0" dirty="0">
                          <a:solidFill>
                            <a:srgbClr val="232D3C"/>
                          </a:solidFill>
                          <a:latin typeface="Calibri"/>
                          <a:ea typeface="Calibri"/>
                          <a:cs typeface="Calibri"/>
                        </a:rPr>
                        <a:t>IT22277268</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FFFFF"/>
                    </a:solidFill>
                  </a:tcPr>
                </a:tc>
                <a:tc>
                  <a:txBody>
                    <a:bodyPr/>
                    <a:lstStyle/>
                    <a:p>
                      <a:pPr marL="0" marR="0" lvl="0" indent="0" algn="ctr" defTabSz="914400" eaLnBrk="1" fontAlgn="auto" latinLnBrk="0" hangingPunct="1">
                        <a:spcAft>
                          <a:spcPts val="0"/>
                        </a:spcAft>
                        <a:buClrTx/>
                        <a:buSzTx/>
                        <a:buFontTx/>
                        <a:buNone/>
                        <a:tabLst/>
                        <a:defRPr/>
                      </a:pPr>
                      <a:r>
                        <a:rPr lang="en-US" sz="1100" b="0" i="0" dirty="0" err="1">
                          <a:solidFill>
                            <a:srgbClr val="232D3C"/>
                          </a:solidFill>
                          <a:latin typeface="Calibri"/>
                          <a:ea typeface="Calibri"/>
                          <a:cs typeface="Calibri"/>
                        </a:rPr>
                        <a:t>Aberathna</a:t>
                      </a:r>
                      <a:r>
                        <a:rPr lang="en-US" sz="1100" b="0" i="0" dirty="0">
                          <a:solidFill>
                            <a:srgbClr val="232D3C"/>
                          </a:solidFill>
                          <a:latin typeface="Calibri"/>
                          <a:ea typeface="Calibri"/>
                          <a:cs typeface="Calibri"/>
                        </a:rPr>
                        <a:t> H M </a:t>
                      </a:r>
                      <a:r>
                        <a:rPr lang="en-US" sz="1100" b="0" i="0" dirty="0" err="1">
                          <a:solidFill>
                            <a:srgbClr val="232D3C"/>
                          </a:solidFill>
                          <a:latin typeface="Calibri"/>
                          <a:ea typeface="Calibri"/>
                          <a:cs typeface="Calibri"/>
                        </a:rPr>
                        <a:t>M</a:t>
                      </a:r>
                      <a:r>
                        <a:rPr lang="en-US" sz="1100" b="0" i="0" dirty="0">
                          <a:solidFill>
                            <a:srgbClr val="232D3C"/>
                          </a:solidFill>
                          <a:latin typeface="Calibri"/>
                          <a:ea typeface="Calibri"/>
                          <a:cs typeface="Calibri"/>
                        </a:rPr>
                        <a:t> K</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spcAft>
                          <a:spcPts val="0"/>
                        </a:spcAft>
                        <a:buClrTx/>
                        <a:buSzTx/>
                        <a:buFontTx/>
                        <a:buNone/>
                        <a:tabLst/>
                        <a:defRPr/>
                      </a:pPr>
                      <a:r>
                        <a:rPr lang="en-AU" sz="1100" b="0" i="0" dirty="0">
                          <a:solidFill>
                            <a:srgbClr val="232D3C"/>
                          </a:solidFill>
                          <a:latin typeface="Calibri"/>
                          <a:ea typeface="Calibri"/>
                          <a:cs typeface="Calibri"/>
                        </a:rPr>
                        <a:t>A Lightweight </a:t>
                      </a:r>
                      <a:r>
                        <a:rPr lang="en-AU" sz="1100" b="0" i="0" dirty="0" err="1">
                          <a:solidFill>
                            <a:srgbClr val="232D3C"/>
                          </a:solidFill>
                          <a:latin typeface="Calibri"/>
                          <a:ea typeface="Calibri"/>
                          <a:cs typeface="Calibri"/>
                        </a:rPr>
                        <a:t>Defense</a:t>
                      </a:r>
                      <a:r>
                        <a:rPr lang="en-AU" sz="1100" b="0" i="0" dirty="0">
                          <a:solidFill>
                            <a:srgbClr val="232D3C"/>
                          </a:solidFill>
                          <a:latin typeface="Calibri"/>
                          <a:ea typeface="Calibri"/>
                          <a:cs typeface="Calibri"/>
                        </a:rPr>
                        <a:t> Model  for AI-Driven Scams</a:t>
                      </a:r>
                      <a:endParaRPr lang="en-US" sz="1100" b="0" i="0" dirty="0">
                        <a:solidFill>
                          <a:srgbClr val="232D3C"/>
                        </a:solidFill>
                        <a:effectLst>
                          <a:outerShdw blurRad="38100" dist="38100" dir="2700000" algn="tl">
                            <a:srgbClr val="000000">
                              <a:alpha val="43137"/>
                            </a:srgbClr>
                          </a:outerShdw>
                        </a:effectLst>
                        <a:latin typeface="Calibri"/>
                        <a:ea typeface="Calibri"/>
                        <a:cs typeface="Calibri"/>
                      </a:endParaRP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498279">
                <a:tc>
                  <a:txBody>
                    <a:bodyPr/>
                    <a:lstStyle/>
                    <a:p>
                      <a:pPr marL="0" indent="0" algn="ctr">
                        <a:spcAft>
                          <a:spcPts val="0"/>
                        </a:spcAft>
                        <a:buNone/>
                      </a:pPr>
                      <a:r>
                        <a:rPr lang="en-US" sz="1100" b="0" i="0" dirty="0">
                          <a:solidFill>
                            <a:srgbClr val="232D3C"/>
                          </a:solidFill>
                          <a:latin typeface="Calibri"/>
                          <a:ea typeface="Calibri"/>
                          <a:cs typeface="Calibri"/>
                        </a:rPr>
                        <a:t>IT22299048</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5F7FA"/>
                    </a:solidFill>
                  </a:tcPr>
                </a:tc>
                <a:tc>
                  <a:txBody>
                    <a:bodyPr/>
                    <a:lstStyle/>
                    <a:p>
                      <a:pPr marL="0" indent="0" algn="ctr">
                        <a:spcAft>
                          <a:spcPts val="0"/>
                        </a:spcAft>
                        <a:buNone/>
                      </a:pPr>
                      <a:r>
                        <a:rPr lang="en-US" sz="1100" b="0" i="0" dirty="0" err="1">
                          <a:solidFill>
                            <a:srgbClr val="232D3C"/>
                          </a:solidFill>
                          <a:latin typeface="Calibri"/>
                          <a:ea typeface="Calibri"/>
                          <a:cs typeface="Calibri"/>
                        </a:rPr>
                        <a:t>Vidara</a:t>
                      </a:r>
                      <a:r>
                        <a:rPr lang="en-US" sz="1100" b="0" i="0" dirty="0">
                          <a:solidFill>
                            <a:srgbClr val="232D3C"/>
                          </a:solidFill>
                          <a:latin typeface="Calibri"/>
                          <a:ea typeface="Calibri"/>
                          <a:cs typeface="Calibri"/>
                        </a:rPr>
                        <a:t> S V</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5F7FA"/>
                    </a:solidFill>
                  </a:tcPr>
                </a:tc>
                <a:tc>
                  <a:txBody>
                    <a:bodyPr/>
                    <a:lstStyle/>
                    <a:p>
                      <a:pPr marL="0" marR="0" lvl="0" indent="0" algn="ctr" defTabSz="914400" eaLnBrk="1" fontAlgn="auto" latinLnBrk="0" hangingPunct="1">
                        <a:spcAft>
                          <a:spcPts val="0"/>
                        </a:spcAft>
                        <a:buClrTx/>
                        <a:buSzTx/>
                        <a:buFontTx/>
                        <a:buNone/>
                        <a:tabLst/>
                        <a:defRPr/>
                      </a:pPr>
                      <a:r>
                        <a:rPr lang="en-US" sz="1100" b="0" i="0" dirty="0">
                          <a:solidFill>
                            <a:srgbClr val="232D3C"/>
                          </a:solidFill>
                          <a:latin typeface="Calibri"/>
                          <a:ea typeface="Calibri"/>
                          <a:cs typeface="Calibri"/>
                        </a:rPr>
                        <a:t>Human Centered Defense &amp; Detect System For AI – Driven Scams</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5F7FA"/>
                    </a:solidFill>
                  </a:tcPr>
                </a:tc>
                <a:extLst>
                  <a:ext uri="{0D108BD9-81ED-4DB2-BD59-A6C34878D82A}">
                    <a16:rowId xmlns:a16="http://schemas.microsoft.com/office/drawing/2014/main" val="10002"/>
                  </a:ext>
                </a:extLst>
              </a:tr>
              <a:tr h="498279">
                <a:tc>
                  <a:txBody>
                    <a:bodyPr/>
                    <a:lstStyle/>
                    <a:p>
                      <a:pPr marL="0" indent="0" algn="ctr">
                        <a:spcAft>
                          <a:spcPts val="0"/>
                        </a:spcAft>
                        <a:buNone/>
                      </a:pPr>
                      <a:r>
                        <a:rPr lang="en-US" sz="1100" b="0" i="0" dirty="0">
                          <a:solidFill>
                            <a:srgbClr val="232D3C"/>
                          </a:solidFill>
                          <a:latin typeface="Calibri"/>
                          <a:ea typeface="Calibri"/>
                          <a:cs typeface="Calibri"/>
                        </a:rPr>
                        <a:t>IT22628718</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FFFFF"/>
                    </a:solidFill>
                  </a:tcPr>
                </a:tc>
                <a:tc>
                  <a:txBody>
                    <a:bodyPr/>
                    <a:lstStyle/>
                    <a:p>
                      <a:pPr marL="0" indent="0" algn="ctr">
                        <a:spcAft>
                          <a:spcPts val="0"/>
                        </a:spcAft>
                        <a:buNone/>
                      </a:pPr>
                      <a:r>
                        <a:rPr lang="en-US" sz="1100" b="0" i="0" dirty="0" err="1">
                          <a:solidFill>
                            <a:srgbClr val="232D3C"/>
                          </a:solidFill>
                          <a:latin typeface="Calibri"/>
                          <a:ea typeface="Calibri"/>
                          <a:cs typeface="Calibri"/>
                        </a:rPr>
                        <a:t>Priyadewa</a:t>
                      </a:r>
                      <a:r>
                        <a:rPr lang="en-US" sz="1100" b="0" i="0" dirty="0">
                          <a:solidFill>
                            <a:srgbClr val="232D3C"/>
                          </a:solidFill>
                          <a:latin typeface="Calibri"/>
                          <a:ea typeface="Calibri"/>
                          <a:cs typeface="Calibri"/>
                        </a:rPr>
                        <a:t> P D J C</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FFFFF"/>
                    </a:solidFill>
                  </a:tcPr>
                </a:tc>
                <a:tc>
                  <a:txBody>
                    <a:bodyPr/>
                    <a:lstStyle/>
                    <a:p>
                      <a:pPr marL="0" indent="0" algn="ctr">
                        <a:spcAft>
                          <a:spcPts val="0"/>
                        </a:spcAft>
                        <a:buNone/>
                      </a:pPr>
                      <a:r>
                        <a:rPr lang="en-US" sz="1100" b="0" i="0" dirty="0">
                          <a:solidFill>
                            <a:srgbClr val="232D3C"/>
                          </a:solidFill>
                          <a:latin typeface="Calibri"/>
                          <a:ea typeface="Calibri"/>
                          <a:cs typeface="Calibri"/>
                        </a:rPr>
                        <a:t>Explainable AI – Based Steganographic Image Detection in Email Attachments</a:t>
                      </a:r>
                    </a:p>
                  </a:txBody>
                  <a:tcPr marL="73152" marR="73152" marT="36576" marB="36576" anchor="ctr">
                    <a:lnL w="9525">
                      <a:noFill/>
                    </a:lnL>
                    <a:lnR w="9525">
                      <a:noFill/>
                    </a:lnR>
                    <a:lnT w="9525">
                      <a:noFill/>
                    </a:lnT>
                    <a:lnB w="9525">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sp>
        <p:nvSpPr>
          <p:cNvPr id="43" name="TextBox 42">
            <a:extLst>
              <a:ext uri="{FF2B5EF4-FFF2-40B4-BE49-F238E27FC236}">
                <a16:creationId xmlns:a16="http://schemas.microsoft.com/office/drawing/2014/main" id="{0C78666B-4A53-8A14-7398-6B1CCFE5E849}"/>
              </a:ext>
            </a:extLst>
          </p:cNvPr>
          <p:cNvSpPr txBox="1"/>
          <p:nvPr/>
        </p:nvSpPr>
        <p:spPr>
          <a:xfrm>
            <a:off x="822960" y="6126480"/>
            <a:ext cx="10543032" cy="365760"/>
          </a:xfrm>
          <a:prstGeom prst="rect">
            <a:avLst/>
          </a:prstGeom>
          <a:noFill/>
        </p:spPr>
        <p:txBody>
          <a:bodyPr wrap="square" lIns="0" tIns="0" rIns="0" bIns="0" rtlCol="0" anchor="t">
            <a:spAutoFit/>
          </a:bodyPr>
          <a:lstStyle/>
          <a:p>
            <a:pPr algn="ctr">
              <a:spcAft>
                <a:spcPts val="0"/>
              </a:spcAft>
            </a:pPr>
            <a:r>
              <a:rPr lang="en-US" sz="1200" b="0" i="0" dirty="0">
                <a:solidFill>
                  <a:srgbClr val="CADCFC"/>
                </a:solidFill>
                <a:effectLst>
                  <a:outerShdw blurRad="38100" dist="19050" dir="2700000" algn="tl" rotWithShape="0">
                    <a:schemeClr val="dk1">
                      <a:alpha val="40000"/>
                    </a:schemeClr>
                  </a:outerShdw>
                </a:effectLst>
                <a:latin typeface="Calibri"/>
                <a:ea typeface="Calibri"/>
                <a:cs typeface="Calibri"/>
              </a:rPr>
              <a:t>Detection Pipeline ·  Defense &amp; Awareness ·  Steganographic Image Detection </a:t>
            </a:r>
          </a:p>
          <a:p>
            <a:pPr algn="ctr">
              <a:spcAft>
                <a:spcPts val="0"/>
              </a:spcAft>
            </a:pPr>
            <a:endParaRPr lang="en-US" sz="1200" b="0" i="0" dirty="0">
              <a:solidFill>
                <a:srgbClr val="CADCFC"/>
              </a:solidFill>
              <a:effectLst>
                <a:outerShdw blurRad="38100" dist="19050" dir="2700000" algn="tl" rotWithShape="0">
                  <a:schemeClr val="dk1">
                    <a:alpha val="40000"/>
                  </a:schemeClr>
                </a:outerShdw>
              </a:effectLst>
              <a:latin typeface="Calibri"/>
              <a:ea typeface="Calibri"/>
              <a:cs typeface="Calibri"/>
            </a:endParaRPr>
          </a:p>
        </p:txBody>
      </p:sp>
    </p:spTree>
    <p:extLst>
      <p:ext uri="{BB962C8B-B14F-4D97-AF65-F5344CB8AC3E}">
        <p14:creationId xmlns:p14="http://schemas.microsoft.com/office/powerpoint/2010/main" val="2341729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ounded Rectangle 8"/>
          <p:cNvSpPr/>
          <p:nvPr/>
        </p:nvSpPr>
        <p:spPr>
          <a:xfrm>
            <a:off x="548640" y="1280160"/>
            <a:ext cx="5440680" cy="2377440"/>
          </a:xfrm>
          <a:prstGeom prst="roundRect">
            <a:avLst>
              <a:gd name="adj" fmla="val 6000"/>
            </a:avLst>
          </a:prstGeom>
          <a:solidFill>
            <a:srgbClr val="EBF3FC"/>
          </a:solidFill>
          <a:ln w="9525">
            <a:noFill/>
          </a:ln>
          <a:effectLst>
            <a:outerShdw blurRad="101600" dist="25400" dir="5400000" algn="t" rotWithShape="0">
              <a:srgbClr val="142A5B">
                <a:alpha val="14000"/>
              </a:srgbClr>
            </a:outerShdw>
          </a:effectLst>
        </p:spPr>
        <p:txBody>
          <a:bodyPr rtlCol="0" anchor="ctr"/>
          <a:lstStyle/>
          <a:p>
            <a:pPr algn="ctr"/>
            <a:endParaRPr/>
          </a:p>
        </p:txBody>
      </p:sp>
      <p:sp>
        <p:nvSpPr>
          <p:cNvPr id="11" name="TextBox 10"/>
          <p:cNvSpPr txBox="1"/>
          <p:nvPr/>
        </p:nvSpPr>
        <p:spPr>
          <a:xfrm>
            <a:off x="868680" y="1508760"/>
            <a:ext cx="4846320" cy="365760"/>
          </a:xfrm>
          <a:prstGeom prst="rect">
            <a:avLst/>
          </a:prstGeom>
          <a:noFill/>
        </p:spPr>
        <p:txBody>
          <a:bodyPr wrap="square" lIns="0" tIns="0" rIns="0" bIns="0" anchor="t">
            <a:spAutoFit/>
          </a:bodyPr>
          <a:lstStyle/>
          <a:p>
            <a:pPr algn="l">
              <a:spcAft>
                <a:spcPts val="0"/>
              </a:spcAft>
              <a:defRPr sz="1800" b="1" i="0">
                <a:solidFill>
                  <a:srgbClr val="142A5B"/>
                </a:solidFill>
                <a:latin typeface="Calibri"/>
                <a:ea typeface="Calibri"/>
                <a:cs typeface="Calibri"/>
              </a:defRPr>
            </a:pPr>
            <a:r>
              <a:rPr lang="en-US" sz="1800" b="1" i="0" dirty="0">
                <a:solidFill>
                  <a:srgbClr val="142A5B"/>
                </a:solidFill>
                <a:latin typeface="Calibri"/>
                <a:ea typeface="Calibri"/>
                <a:cs typeface="Calibri"/>
              </a:rPr>
              <a:t>Research problem</a:t>
            </a:r>
          </a:p>
        </p:txBody>
      </p:sp>
      <p:sp>
        <p:nvSpPr>
          <p:cNvPr id="12" name="TextBox 11"/>
          <p:cNvSpPr txBox="1"/>
          <p:nvPr/>
        </p:nvSpPr>
        <p:spPr>
          <a:xfrm>
            <a:off x="868680" y="1965960"/>
            <a:ext cx="4846320" cy="1645920"/>
          </a:xfrm>
          <a:prstGeom prst="rect">
            <a:avLst/>
          </a:prstGeom>
          <a:noFill/>
        </p:spPr>
        <p:txBody>
          <a:bodyPr wrap="square" lIns="0" tIns="0" rIns="0" bIns="0" anchor="t">
            <a:spAutoFit/>
          </a:bodyPr>
          <a:lstStyle/>
          <a:p>
            <a:pPr algn="l">
              <a:lnSpc>
                <a:spcPct val="120000"/>
              </a:lnSpc>
              <a:spcAft>
                <a:spcPts val="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Email scams can combine deceptive messages, impersonated senders, malicious links, and suspicious attachments. Traditional single-purpose checks may miss parts of the threat, while warnings alone may not explain the evidence or guide users toward safer actions.</a:t>
            </a:r>
          </a:p>
        </p:txBody>
      </p:sp>
      <p:sp>
        <p:nvSpPr>
          <p:cNvPr id="13" name="Rounded Rectangle 12"/>
          <p:cNvSpPr/>
          <p:nvPr/>
        </p:nvSpPr>
        <p:spPr>
          <a:xfrm>
            <a:off x="6199632" y="1280160"/>
            <a:ext cx="5440680" cy="2377440"/>
          </a:xfrm>
          <a:prstGeom prst="roundRect">
            <a:avLst>
              <a:gd name="adj" fmla="val 6000"/>
            </a:avLst>
          </a:prstGeom>
          <a:solidFill>
            <a:srgbClr val="EBF3FC"/>
          </a:solidFill>
          <a:ln w="9525">
            <a:noFill/>
          </a:ln>
          <a:effectLst>
            <a:outerShdw blurRad="101600" dist="25400" dir="5400000" algn="t" rotWithShape="0">
              <a:srgbClr val="142A5B">
                <a:alpha val="14000"/>
              </a:srgbClr>
            </a:outerShdw>
          </a:effectLst>
        </p:spPr>
        <p:txBody>
          <a:bodyPr rtlCol="0" anchor="ctr"/>
          <a:lstStyle/>
          <a:p>
            <a:pPr algn="ctr"/>
            <a:endParaRPr/>
          </a:p>
        </p:txBody>
      </p:sp>
      <p:sp>
        <p:nvSpPr>
          <p:cNvPr id="15" name="TextBox 14"/>
          <p:cNvSpPr txBox="1"/>
          <p:nvPr/>
        </p:nvSpPr>
        <p:spPr>
          <a:xfrm>
            <a:off x="6519672" y="1508760"/>
            <a:ext cx="4846320" cy="365760"/>
          </a:xfrm>
          <a:prstGeom prst="rect">
            <a:avLst/>
          </a:prstGeom>
          <a:noFill/>
        </p:spPr>
        <p:txBody>
          <a:bodyPr wrap="square" lIns="0" tIns="0" rIns="0" bIns="0" anchor="t">
            <a:spAutoFit/>
          </a:bodyPr>
          <a:lstStyle/>
          <a:p>
            <a:pPr algn="l">
              <a:spcAft>
                <a:spcPts val="0"/>
              </a:spcAft>
              <a:defRPr sz="1800" b="1" i="0">
                <a:solidFill>
                  <a:srgbClr val="142A5B"/>
                </a:solidFill>
                <a:latin typeface="Calibri"/>
                <a:ea typeface="Calibri"/>
                <a:cs typeface="Calibri"/>
              </a:defRPr>
            </a:pPr>
            <a:r>
              <a:rPr lang="en-US" sz="1800" b="1" i="0" dirty="0">
                <a:solidFill>
                  <a:srgbClr val="142A5B"/>
                </a:solidFill>
                <a:latin typeface="Calibri"/>
                <a:ea typeface="Calibri"/>
                <a:cs typeface="Calibri"/>
              </a:rPr>
              <a:t>Proposed solution</a:t>
            </a:r>
          </a:p>
        </p:txBody>
      </p:sp>
      <p:sp>
        <p:nvSpPr>
          <p:cNvPr id="16" name="TextBox 15"/>
          <p:cNvSpPr txBox="1"/>
          <p:nvPr/>
        </p:nvSpPr>
        <p:spPr>
          <a:xfrm>
            <a:off x="6519672" y="1965960"/>
            <a:ext cx="4846320" cy="1645920"/>
          </a:xfrm>
          <a:prstGeom prst="rect">
            <a:avLst/>
          </a:prstGeom>
          <a:noFill/>
        </p:spPr>
        <p:txBody>
          <a:bodyPr wrap="square" lIns="0" tIns="0" rIns="0" bIns="0" anchor="t">
            <a:spAutoFit/>
          </a:bodyPr>
          <a:lstStyle/>
          <a:p>
            <a:pPr algn="l">
              <a:lnSpc>
                <a:spcPct val="120000"/>
              </a:lnSpc>
              <a:spcAft>
                <a:spcPts val="0"/>
              </a:spcAft>
              <a:defRPr sz="1500" b="0" i="0">
                <a:solidFill>
                  <a:srgbClr val="232D3C"/>
                </a:solidFill>
                <a:latin typeface="Calibri"/>
                <a:ea typeface="Calibri"/>
                <a:cs typeface="Calibri"/>
              </a:defRPr>
            </a:pPr>
            <a:r>
              <a:rPr sz="1500" b="0" i="0">
                <a:solidFill>
                  <a:srgbClr val="232D3C"/>
                </a:solidFill>
                <a:latin typeface="Calibri"/>
                <a:ea typeface="Calibri"/>
                <a:cs typeface="Calibri"/>
              </a:rPr>
              <a:t>The project integrates three components in Thunderbird: a lightweight AI-driven scam detector, a human-centred defense and awareness system, and StegoGuard for explainable steganographic image detection. Together, they analyse different signals, provide understandable evidence, and support risk-based protective actions.</a:t>
            </a:r>
          </a:p>
        </p:txBody>
      </p:sp>
      <p:sp>
        <p:nvSpPr>
          <p:cNvPr id="17" name="TextBox 16"/>
          <p:cNvSpPr txBox="1"/>
          <p:nvPr/>
        </p:nvSpPr>
        <p:spPr>
          <a:xfrm>
            <a:off x="548640" y="3931920"/>
            <a:ext cx="11064240" cy="320040"/>
          </a:xfrm>
          <a:prstGeom prst="rect">
            <a:avLst/>
          </a:prstGeom>
          <a:noFill/>
        </p:spPr>
        <p:txBody>
          <a:bodyPr wrap="square" lIns="0" tIns="0" rIns="0" bIns="0" anchor="t">
            <a:spAutoFit/>
          </a:bodyPr>
          <a:lstStyle/>
          <a:p>
            <a:pPr algn="l">
              <a:spcAft>
                <a:spcPts val="0"/>
              </a:spcAft>
              <a:defRPr sz="1200" b="1" i="0">
                <a:solidFill>
                  <a:srgbClr val="2365B0"/>
                </a:solidFill>
                <a:latin typeface="Calibri"/>
                <a:ea typeface="Calibri"/>
                <a:cs typeface="Calibri"/>
              </a:defRPr>
            </a:pPr>
            <a:r>
              <a:rPr sz="1200" b="1" i="0">
                <a:solidFill>
                  <a:srgbClr val="2365B0"/>
                </a:solidFill>
                <a:latin typeface="Calibri"/>
                <a:ea typeface="Calibri"/>
                <a:cs typeface="Calibri"/>
              </a:rPr>
              <a:t>HOW THE COMPONENTS WORK TOGETHER</a:t>
            </a:r>
          </a:p>
        </p:txBody>
      </p:sp>
      <p:sp>
        <p:nvSpPr>
          <p:cNvPr id="18" name="Rounded Rectangle 17"/>
          <p:cNvSpPr/>
          <p:nvPr/>
        </p:nvSpPr>
        <p:spPr>
          <a:xfrm>
            <a:off x="548640" y="4389120"/>
            <a:ext cx="3474720" cy="1828800"/>
          </a:xfrm>
          <a:prstGeom prst="roundRect">
            <a:avLst>
              <a:gd name="adj" fmla="val 6000"/>
            </a:avLst>
          </a:prstGeom>
          <a:solidFill>
            <a:srgbClr val="FFFFFF"/>
          </a:solidFill>
          <a:ln w="9525">
            <a:solidFill>
              <a:srgbClr val="D8E0EA"/>
            </a:solidFill>
          </a:ln>
          <a:effectLst>
            <a:outerShdw blurRad="101600" dist="25400" dir="5400000" algn="t" rotWithShape="0">
              <a:srgbClr val="142A5B">
                <a:alpha val="14000"/>
              </a:srgbClr>
            </a:outerShdw>
          </a:effectLst>
        </p:spPr>
        <p:txBody>
          <a:bodyPr rtlCol="0" anchor="ctr"/>
          <a:lstStyle/>
          <a:p>
            <a:pPr algn="ctr"/>
            <a:endParaRPr/>
          </a:p>
        </p:txBody>
      </p:sp>
      <p:sp>
        <p:nvSpPr>
          <p:cNvPr id="19" name="TextBox 18"/>
          <p:cNvSpPr txBox="1"/>
          <p:nvPr/>
        </p:nvSpPr>
        <p:spPr>
          <a:xfrm>
            <a:off x="822960" y="4617720"/>
            <a:ext cx="502920" cy="502920"/>
          </a:xfrm>
          <a:prstGeom prst="ellipse">
            <a:avLst/>
          </a:prstGeom>
          <a:solidFill>
            <a:srgbClr val="2365B0"/>
          </a:solidFill>
          <a:ln w="9525">
            <a:noFill/>
          </a:ln>
        </p:spPr>
        <p:txBody>
          <a:bodyPr wrap="square" lIns="0" tIns="0" rIns="0" bIns="0" anchor="ctr">
            <a:spAutoFit/>
          </a:bodyPr>
          <a:lstStyle/>
          <a:p>
            <a:pPr algn="ctr">
              <a:spcAft>
                <a:spcPts val="0"/>
              </a:spcAft>
              <a:defRPr sz="1300" b="1" i="0">
                <a:solidFill>
                  <a:srgbClr val="FFFFFF"/>
                </a:solidFill>
                <a:latin typeface="Calibri"/>
                <a:ea typeface="Calibri"/>
                <a:cs typeface="Calibri"/>
              </a:defRPr>
            </a:pPr>
            <a:r>
              <a:rPr sz="1300" b="1" i="0">
                <a:solidFill>
                  <a:srgbClr val="FFFFFF"/>
                </a:solidFill>
                <a:latin typeface="Calibri"/>
                <a:ea typeface="Calibri"/>
                <a:cs typeface="Calibri"/>
              </a:rPr>
              <a:t>01</a:t>
            </a:r>
          </a:p>
        </p:txBody>
      </p:sp>
      <p:sp>
        <p:nvSpPr>
          <p:cNvPr id="20" name="TextBox 19"/>
          <p:cNvSpPr txBox="1"/>
          <p:nvPr/>
        </p:nvSpPr>
        <p:spPr>
          <a:xfrm>
            <a:off x="822960" y="5303520"/>
            <a:ext cx="3017520" cy="365760"/>
          </a:xfrm>
          <a:prstGeom prst="rect">
            <a:avLst/>
          </a:prstGeom>
          <a:noFill/>
        </p:spPr>
        <p:txBody>
          <a:bodyPr wrap="square" lIns="0" tIns="0" rIns="0" bIns="0" anchor="t">
            <a:spAutoFit/>
          </a:bodyPr>
          <a:lstStyle/>
          <a:p>
            <a:pPr algn="l">
              <a:spcAft>
                <a:spcPts val="0"/>
              </a:spcAft>
              <a:defRPr sz="1800" b="1" i="0">
                <a:solidFill>
                  <a:srgbClr val="142A5B"/>
                </a:solidFill>
                <a:latin typeface="Calibri"/>
                <a:ea typeface="Calibri"/>
                <a:cs typeface="Calibri"/>
              </a:defRPr>
            </a:pPr>
            <a:r>
              <a:rPr sz="1800" b="1" i="0">
                <a:solidFill>
                  <a:srgbClr val="142A5B"/>
                </a:solidFill>
                <a:latin typeface="Calibri"/>
                <a:ea typeface="Calibri"/>
                <a:cs typeface="Calibri"/>
              </a:rPr>
              <a:t>Detect scams</a:t>
            </a:r>
          </a:p>
        </p:txBody>
      </p:sp>
      <p:sp>
        <p:nvSpPr>
          <p:cNvPr id="21" name="TextBox 20"/>
          <p:cNvSpPr txBox="1"/>
          <p:nvPr/>
        </p:nvSpPr>
        <p:spPr>
          <a:xfrm>
            <a:off x="822960" y="5715000"/>
            <a:ext cx="3017520" cy="731520"/>
          </a:xfrm>
          <a:prstGeom prst="rect">
            <a:avLst/>
          </a:prstGeom>
          <a:noFill/>
        </p:spPr>
        <p:txBody>
          <a:bodyPr wrap="square" lIns="0" tIns="0" rIns="0" bIns="0" anchor="t">
            <a:spAutoFit/>
          </a:bodyPr>
          <a:lstStyle/>
          <a:p>
            <a:pPr algn="l">
              <a:lnSpc>
                <a:spcPct val="114999"/>
              </a:lnSpc>
              <a:spcAft>
                <a:spcPts val="0"/>
              </a:spcAft>
              <a:defRPr sz="1400" b="0" i="0">
                <a:solidFill>
                  <a:srgbClr val="232D3C"/>
                </a:solidFill>
                <a:latin typeface="Calibri"/>
                <a:ea typeface="Calibri"/>
                <a:cs typeface="Calibri"/>
              </a:defRPr>
            </a:pPr>
            <a:r>
              <a:rPr sz="1400" b="0" i="0">
                <a:solidFill>
                  <a:srgbClr val="232D3C"/>
                </a:solidFill>
                <a:latin typeface="Calibri"/>
                <a:ea typeface="Calibri"/>
                <a:cs typeface="Calibri"/>
              </a:rPr>
              <a:t>Email text, sender, links and risk indicators</a:t>
            </a:r>
          </a:p>
        </p:txBody>
      </p:sp>
      <p:sp>
        <p:nvSpPr>
          <p:cNvPr id="23" name="Rounded Rectangle 22"/>
          <p:cNvSpPr/>
          <p:nvPr/>
        </p:nvSpPr>
        <p:spPr>
          <a:xfrm>
            <a:off x="4361688" y="4389120"/>
            <a:ext cx="3474720" cy="1828800"/>
          </a:xfrm>
          <a:prstGeom prst="roundRect">
            <a:avLst>
              <a:gd name="adj" fmla="val 6000"/>
            </a:avLst>
          </a:prstGeom>
          <a:solidFill>
            <a:srgbClr val="FFFFFF"/>
          </a:solidFill>
          <a:ln w="9525">
            <a:solidFill>
              <a:srgbClr val="D8E0EA"/>
            </a:solidFill>
          </a:ln>
          <a:effectLst>
            <a:outerShdw blurRad="101600" dist="25400" dir="5400000" algn="t" rotWithShape="0">
              <a:srgbClr val="142A5B">
                <a:alpha val="14000"/>
              </a:srgbClr>
            </a:outerShdw>
          </a:effectLst>
        </p:spPr>
        <p:txBody>
          <a:bodyPr rtlCol="0" anchor="ctr"/>
          <a:lstStyle/>
          <a:p>
            <a:pPr algn="ctr"/>
            <a:endParaRPr/>
          </a:p>
        </p:txBody>
      </p:sp>
      <p:sp>
        <p:nvSpPr>
          <p:cNvPr id="24" name="TextBox 23"/>
          <p:cNvSpPr txBox="1"/>
          <p:nvPr/>
        </p:nvSpPr>
        <p:spPr>
          <a:xfrm>
            <a:off x="4636008" y="4617720"/>
            <a:ext cx="502920" cy="502920"/>
          </a:xfrm>
          <a:prstGeom prst="ellipse">
            <a:avLst/>
          </a:prstGeom>
          <a:solidFill>
            <a:srgbClr val="2365B0"/>
          </a:solidFill>
          <a:ln w="9525">
            <a:noFill/>
          </a:ln>
        </p:spPr>
        <p:txBody>
          <a:bodyPr wrap="square" lIns="0" tIns="0" rIns="0" bIns="0" anchor="ctr">
            <a:spAutoFit/>
          </a:bodyPr>
          <a:lstStyle/>
          <a:p>
            <a:pPr algn="ctr">
              <a:spcAft>
                <a:spcPts val="0"/>
              </a:spcAft>
              <a:defRPr sz="1300" b="1" i="0">
                <a:solidFill>
                  <a:srgbClr val="FFFFFF"/>
                </a:solidFill>
                <a:latin typeface="Calibri"/>
                <a:ea typeface="Calibri"/>
                <a:cs typeface="Calibri"/>
              </a:defRPr>
            </a:pPr>
            <a:r>
              <a:rPr sz="1300" b="1" i="0">
                <a:solidFill>
                  <a:srgbClr val="FFFFFF"/>
                </a:solidFill>
                <a:latin typeface="Calibri"/>
                <a:ea typeface="Calibri"/>
                <a:cs typeface="Calibri"/>
              </a:rPr>
              <a:t>02</a:t>
            </a:r>
          </a:p>
        </p:txBody>
      </p:sp>
      <p:sp>
        <p:nvSpPr>
          <p:cNvPr id="25" name="TextBox 24"/>
          <p:cNvSpPr txBox="1"/>
          <p:nvPr/>
        </p:nvSpPr>
        <p:spPr>
          <a:xfrm>
            <a:off x="4636008" y="5303520"/>
            <a:ext cx="3017520" cy="365760"/>
          </a:xfrm>
          <a:prstGeom prst="rect">
            <a:avLst/>
          </a:prstGeom>
          <a:noFill/>
        </p:spPr>
        <p:txBody>
          <a:bodyPr wrap="square" lIns="0" tIns="0" rIns="0" bIns="0" anchor="t">
            <a:spAutoFit/>
          </a:bodyPr>
          <a:lstStyle/>
          <a:p>
            <a:pPr algn="l">
              <a:spcAft>
                <a:spcPts val="0"/>
              </a:spcAft>
              <a:defRPr sz="1800" b="1" i="0">
                <a:solidFill>
                  <a:srgbClr val="142A5B"/>
                </a:solidFill>
                <a:latin typeface="Calibri"/>
                <a:ea typeface="Calibri"/>
                <a:cs typeface="Calibri"/>
              </a:defRPr>
            </a:pPr>
            <a:r>
              <a:rPr sz="1800" b="1" i="0">
                <a:solidFill>
                  <a:srgbClr val="142A5B"/>
                </a:solidFill>
                <a:latin typeface="Calibri"/>
                <a:ea typeface="Calibri"/>
                <a:cs typeface="Calibri"/>
              </a:rPr>
              <a:t>Inspect images</a:t>
            </a:r>
          </a:p>
        </p:txBody>
      </p:sp>
      <p:sp>
        <p:nvSpPr>
          <p:cNvPr id="26" name="TextBox 25"/>
          <p:cNvSpPr txBox="1"/>
          <p:nvPr/>
        </p:nvSpPr>
        <p:spPr>
          <a:xfrm>
            <a:off x="4636008" y="5715000"/>
            <a:ext cx="3017520" cy="731520"/>
          </a:xfrm>
          <a:prstGeom prst="rect">
            <a:avLst/>
          </a:prstGeom>
          <a:noFill/>
        </p:spPr>
        <p:txBody>
          <a:bodyPr wrap="square" lIns="0" tIns="0" rIns="0" bIns="0" anchor="t">
            <a:spAutoFit/>
          </a:bodyPr>
          <a:lstStyle/>
          <a:p>
            <a:pPr algn="l">
              <a:lnSpc>
                <a:spcPct val="114999"/>
              </a:lnSpc>
              <a:spcAft>
                <a:spcPts val="0"/>
              </a:spcAft>
              <a:defRPr sz="1400" b="0" i="0">
                <a:solidFill>
                  <a:srgbClr val="232D3C"/>
                </a:solidFill>
                <a:latin typeface="Calibri"/>
                <a:ea typeface="Calibri"/>
                <a:cs typeface="Calibri"/>
              </a:defRPr>
            </a:pPr>
            <a:r>
              <a:rPr sz="1400" b="0" i="0">
                <a:solidFill>
                  <a:srgbClr val="232D3C"/>
                </a:solidFill>
                <a:latin typeface="Calibri"/>
                <a:ea typeface="Calibri"/>
                <a:cs typeface="Calibri"/>
              </a:rPr>
              <a:t>Clean/Stego prediction and Grad-CAM heatmap</a:t>
            </a:r>
          </a:p>
        </p:txBody>
      </p:sp>
      <p:sp>
        <p:nvSpPr>
          <p:cNvPr id="28" name="Rounded Rectangle 27"/>
          <p:cNvSpPr/>
          <p:nvPr/>
        </p:nvSpPr>
        <p:spPr>
          <a:xfrm>
            <a:off x="8165592" y="4389120"/>
            <a:ext cx="3474720" cy="1828800"/>
          </a:xfrm>
          <a:prstGeom prst="roundRect">
            <a:avLst>
              <a:gd name="adj" fmla="val 6000"/>
            </a:avLst>
          </a:prstGeom>
          <a:solidFill>
            <a:srgbClr val="FFFFFF"/>
          </a:solidFill>
          <a:ln w="9525">
            <a:solidFill>
              <a:srgbClr val="D8E0EA"/>
            </a:solidFill>
          </a:ln>
          <a:effectLst>
            <a:outerShdw blurRad="101600" dist="25400" dir="5400000" algn="t" rotWithShape="0">
              <a:srgbClr val="142A5B">
                <a:alpha val="14000"/>
              </a:srgbClr>
            </a:outerShdw>
          </a:effectLst>
        </p:spPr>
        <p:txBody>
          <a:bodyPr rtlCol="0" anchor="ctr"/>
          <a:lstStyle/>
          <a:p>
            <a:pPr algn="ctr"/>
            <a:endParaRPr/>
          </a:p>
        </p:txBody>
      </p:sp>
      <p:sp>
        <p:nvSpPr>
          <p:cNvPr id="29" name="TextBox 28"/>
          <p:cNvSpPr txBox="1"/>
          <p:nvPr/>
        </p:nvSpPr>
        <p:spPr>
          <a:xfrm>
            <a:off x="8439912" y="4617720"/>
            <a:ext cx="502920" cy="502920"/>
          </a:xfrm>
          <a:prstGeom prst="ellipse">
            <a:avLst/>
          </a:prstGeom>
          <a:solidFill>
            <a:srgbClr val="2365B0"/>
          </a:solidFill>
          <a:ln w="9525">
            <a:noFill/>
          </a:ln>
        </p:spPr>
        <p:txBody>
          <a:bodyPr wrap="square" lIns="0" tIns="0" rIns="0" bIns="0" anchor="ctr">
            <a:spAutoFit/>
          </a:bodyPr>
          <a:lstStyle/>
          <a:p>
            <a:pPr algn="ctr">
              <a:spcAft>
                <a:spcPts val="0"/>
              </a:spcAft>
              <a:defRPr sz="1300" b="1" i="0">
                <a:solidFill>
                  <a:srgbClr val="FFFFFF"/>
                </a:solidFill>
                <a:latin typeface="Calibri"/>
                <a:ea typeface="Calibri"/>
                <a:cs typeface="Calibri"/>
              </a:defRPr>
            </a:pPr>
            <a:r>
              <a:rPr sz="1300" b="1" i="0">
                <a:solidFill>
                  <a:srgbClr val="FFFFFF"/>
                </a:solidFill>
                <a:latin typeface="Calibri"/>
                <a:ea typeface="Calibri"/>
                <a:cs typeface="Calibri"/>
              </a:rPr>
              <a:t>03</a:t>
            </a:r>
          </a:p>
        </p:txBody>
      </p:sp>
      <p:sp>
        <p:nvSpPr>
          <p:cNvPr id="30" name="TextBox 29"/>
          <p:cNvSpPr txBox="1"/>
          <p:nvPr/>
        </p:nvSpPr>
        <p:spPr>
          <a:xfrm>
            <a:off x="8439912" y="5303520"/>
            <a:ext cx="3017520" cy="365760"/>
          </a:xfrm>
          <a:prstGeom prst="rect">
            <a:avLst/>
          </a:prstGeom>
          <a:noFill/>
        </p:spPr>
        <p:txBody>
          <a:bodyPr wrap="square" lIns="0" tIns="0" rIns="0" bIns="0" anchor="t">
            <a:spAutoFit/>
          </a:bodyPr>
          <a:lstStyle/>
          <a:p>
            <a:pPr algn="l">
              <a:spcAft>
                <a:spcPts val="0"/>
              </a:spcAft>
              <a:defRPr sz="1800" b="1" i="0">
                <a:solidFill>
                  <a:srgbClr val="142A5B"/>
                </a:solidFill>
                <a:latin typeface="Calibri"/>
                <a:ea typeface="Calibri"/>
                <a:cs typeface="Calibri"/>
              </a:defRPr>
            </a:pPr>
            <a:r>
              <a:rPr sz="1800" b="1" i="0">
                <a:solidFill>
                  <a:srgbClr val="142A5B"/>
                </a:solidFill>
                <a:latin typeface="Calibri"/>
                <a:ea typeface="Calibri"/>
                <a:cs typeface="Calibri"/>
              </a:rPr>
              <a:t>Protect &amp; explain</a:t>
            </a:r>
          </a:p>
        </p:txBody>
      </p:sp>
      <p:sp>
        <p:nvSpPr>
          <p:cNvPr id="31" name="TextBox 30"/>
          <p:cNvSpPr txBox="1"/>
          <p:nvPr/>
        </p:nvSpPr>
        <p:spPr>
          <a:xfrm>
            <a:off x="8439912" y="5715000"/>
            <a:ext cx="3017520" cy="731520"/>
          </a:xfrm>
          <a:prstGeom prst="rect">
            <a:avLst/>
          </a:prstGeom>
          <a:noFill/>
        </p:spPr>
        <p:txBody>
          <a:bodyPr wrap="square" lIns="0" tIns="0" rIns="0" bIns="0" anchor="t">
            <a:spAutoFit/>
          </a:bodyPr>
          <a:lstStyle/>
          <a:p>
            <a:pPr algn="l">
              <a:lnSpc>
                <a:spcPct val="114999"/>
              </a:lnSpc>
              <a:spcAft>
                <a:spcPts val="0"/>
              </a:spcAft>
              <a:defRPr sz="1400" b="0" i="0">
                <a:solidFill>
                  <a:srgbClr val="232D3C"/>
                </a:solidFill>
                <a:latin typeface="Calibri"/>
                <a:ea typeface="Calibri"/>
                <a:cs typeface="Calibri"/>
              </a:defRPr>
            </a:pPr>
            <a:r>
              <a:rPr sz="1400" b="0" i="0">
                <a:solidFill>
                  <a:srgbClr val="232D3C"/>
                </a:solidFill>
                <a:latin typeface="Calibri"/>
                <a:ea typeface="Calibri"/>
                <a:cs typeface="Calibri"/>
              </a:rPr>
              <a:t>Risk-based action, evidence and user awareness</a:t>
            </a:r>
          </a:p>
        </p:txBody>
      </p:sp>
      <p:sp>
        <p:nvSpPr>
          <p:cNvPr id="6" name="TextBox 5">
            <a:extLst>
              <a:ext uri="{FF2B5EF4-FFF2-40B4-BE49-F238E27FC236}">
                <a16:creationId xmlns:a16="http://schemas.microsoft.com/office/drawing/2014/main" id="{BA5AEA8A-D85E-3CB8-9F19-A0D916A5F480}"/>
              </a:ext>
            </a:extLst>
          </p:cNvPr>
          <p:cNvSpPr txBox="1"/>
          <p:nvPr/>
        </p:nvSpPr>
        <p:spPr>
          <a:xfrm>
            <a:off x="548640" y="384048"/>
            <a:ext cx="11091672" cy="685800"/>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sz="2600" b="1" i="0" dirty="0">
                <a:solidFill>
                  <a:srgbClr val="142A5B"/>
                </a:solidFill>
                <a:latin typeface="Calibri"/>
                <a:ea typeface="Calibri"/>
                <a:cs typeface="Calibri"/>
              </a:rPr>
              <a:t>RESEARCH PROBLEM</a:t>
            </a:r>
            <a:r>
              <a:rPr lang="en-US" sz="2600" b="1" i="0" dirty="0">
                <a:solidFill>
                  <a:srgbClr val="142A5B"/>
                </a:solidFill>
                <a:latin typeface="Calibri"/>
                <a:ea typeface="Calibri"/>
                <a:cs typeface="Calibri"/>
              </a:rPr>
              <a:t> &amp; SOLUTION</a:t>
            </a:r>
            <a:endParaRPr sz="2600" b="1" i="0" dirty="0">
              <a:solidFill>
                <a:srgbClr val="142A5B"/>
              </a:solidFill>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CB6033-56E6-FA0B-5C8D-02E8658600D6}"/>
              </a:ext>
            </a:extLst>
          </p:cNvPr>
          <p:cNvPicPr>
            <a:picLocks noChangeAspect="1"/>
          </p:cNvPicPr>
          <p:nvPr/>
        </p:nvPicPr>
        <p:blipFill>
          <a:blip r:embed="rId3"/>
          <a:stretch>
            <a:fillRect/>
          </a:stretch>
        </p:blipFill>
        <p:spPr>
          <a:xfrm>
            <a:off x="717755" y="591865"/>
            <a:ext cx="10756490" cy="6050526"/>
          </a:xfrm>
          <a:prstGeom prst="rect">
            <a:avLst/>
          </a:prstGeom>
        </p:spPr>
      </p:pic>
      <p:sp>
        <p:nvSpPr>
          <p:cNvPr id="3" name="Text 1">
            <a:extLst>
              <a:ext uri="{FF2B5EF4-FFF2-40B4-BE49-F238E27FC236}">
                <a16:creationId xmlns:a16="http://schemas.microsoft.com/office/drawing/2014/main" id="{B549D890-C198-BA8B-AAEC-B75D3DC12F61}"/>
              </a:ext>
            </a:extLst>
          </p:cNvPr>
          <p:cNvSpPr/>
          <p:nvPr/>
        </p:nvSpPr>
        <p:spPr>
          <a:xfrm>
            <a:off x="551384" y="-86566"/>
            <a:ext cx="11091672" cy="685800"/>
          </a:xfrm>
          <a:prstGeom prst="rect">
            <a:avLst/>
          </a:prstGeom>
          <a:noFill/>
          <a:ln/>
        </p:spPr>
        <p:txBody>
          <a:bodyPr wrap="square" lIns="0" tIns="0" rIns="0" bIns="0" rtlCol="0" anchor="b">
            <a:normAutofit/>
          </a:bodyPr>
          <a:lstStyle/>
          <a:p>
            <a:pPr algn="l">
              <a:spcAft>
                <a:spcPts val="0"/>
              </a:spcAft>
            </a:pPr>
            <a:r>
              <a:rPr lang="en-US" sz="2600" b="1" i="0" dirty="0">
                <a:solidFill>
                  <a:srgbClr val="142A5B"/>
                </a:solidFill>
                <a:effectLst>
                  <a:outerShdw blurRad="38100" dist="38100" dir="2700000" algn="tl">
                    <a:srgbClr val="000000">
                      <a:alpha val="43137"/>
                    </a:srgbClr>
                  </a:outerShdw>
                </a:effectLst>
                <a:latin typeface="Calibri"/>
                <a:ea typeface="Calibri"/>
                <a:cs typeface="Calibri"/>
              </a:rPr>
              <a:t>Overall Design Excellence</a:t>
            </a:r>
          </a:p>
        </p:txBody>
      </p:sp>
    </p:spTree>
    <p:extLst>
      <p:ext uri="{BB962C8B-B14F-4D97-AF65-F5344CB8AC3E}">
        <p14:creationId xmlns:p14="http://schemas.microsoft.com/office/powerpoint/2010/main" val="3399372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txBox="1"/>
          <p:nvPr/>
        </p:nvSpPr>
        <p:spPr>
          <a:xfrm>
            <a:off x="548640" y="384048"/>
            <a:ext cx="11091672" cy="685800"/>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sz="4400" b="1" i="0" dirty="0">
                <a:solidFill>
                  <a:srgbClr val="142A5B"/>
                </a:solidFill>
                <a:latin typeface="Calibri"/>
                <a:ea typeface="Calibri"/>
                <a:cs typeface="Calibri"/>
              </a:rPr>
              <a:t>Lightweight AI-Driven Scam Detection</a:t>
            </a:r>
          </a:p>
        </p:txBody>
      </p:sp>
      <p:sp>
        <p:nvSpPr>
          <p:cNvPr id="8" name="TextBox 7"/>
          <p:cNvSpPr txBox="1"/>
          <p:nvPr/>
        </p:nvSpPr>
        <p:spPr>
          <a:xfrm>
            <a:off x="548640" y="2240280"/>
            <a:ext cx="8074250" cy="246221"/>
          </a:xfrm>
          <a:prstGeom prst="rect">
            <a:avLst/>
          </a:prstGeom>
          <a:noFill/>
        </p:spPr>
        <p:txBody>
          <a:bodyPr wrap="square" lIns="0" tIns="0" rIns="0" bIns="0" anchor="t">
            <a:spAutoFit/>
          </a:bodyPr>
          <a:lstStyle/>
          <a:p>
            <a:pPr algn="l">
              <a:spcAft>
                <a:spcPts val="0"/>
              </a:spcAft>
              <a:defRPr sz="1200" b="1" i="0">
                <a:solidFill>
                  <a:srgbClr val="2365B0"/>
                </a:solidFill>
                <a:latin typeface="Calibri"/>
                <a:ea typeface="Calibri"/>
                <a:cs typeface="Calibri"/>
              </a:defRPr>
            </a:pPr>
            <a:r>
              <a:rPr sz="1600" b="1" i="0" dirty="0">
                <a:solidFill>
                  <a:srgbClr val="2365B0"/>
                </a:solidFill>
                <a:latin typeface="Calibri"/>
                <a:ea typeface="Calibri"/>
                <a:cs typeface="Calibri"/>
              </a:rPr>
              <a:t>COMPONENT OVERVIEW</a:t>
            </a:r>
          </a:p>
        </p:txBody>
      </p:sp>
      <p:sp>
        <p:nvSpPr>
          <p:cNvPr id="9" name="Rounded Rectangle 8"/>
          <p:cNvSpPr/>
          <p:nvPr/>
        </p:nvSpPr>
        <p:spPr>
          <a:xfrm>
            <a:off x="548640" y="2606040"/>
            <a:ext cx="11091672" cy="3566160"/>
          </a:xfrm>
          <a:prstGeom prst="roundRect">
            <a:avLst>
              <a:gd name="adj" fmla="val 6000"/>
            </a:avLst>
          </a:prstGeom>
          <a:solidFill>
            <a:srgbClr val="F5F7FA"/>
          </a:solidFill>
          <a:ln w="9525">
            <a:solidFill>
              <a:srgbClr val="D8E0EA"/>
            </a:solidFill>
          </a:ln>
          <a:effectLst>
            <a:outerShdw blurRad="101600" dist="25400" dir="5400000" algn="t" rotWithShape="0">
              <a:srgbClr val="142A5B">
                <a:alpha val="14000"/>
              </a:srgbClr>
            </a:outerShdw>
          </a:effectLst>
        </p:spPr>
        <p:txBody>
          <a:bodyPr rtlCol="0" anchor="ctr"/>
          <a:lstStyle/>
          <a:p>
            <a:pPr algn="ctr"/>
            <a:endParaRPr/>
          </a:p>
        </p:txBody>
      </p:sp>
      <p:sp>
        <p:nvSpPr>
          <p:cNvPr id="10" name="TextBox 9"/>
          <p:cNvSpPr txBox="1"/>
          <p:nvPr/>
        </p:nvSpPr>
        <p:spPr>
          <a:xfrm>
            <a:off x="868680" y="2926080"/>
            <a:ext cx="10880868" cy="2041328"/>
          </a:xfrm>
          <a:prstGeom prst="rect">
            <a:avLst/>
          </a:prstGeom>
          <a:noFill/>
        </p:spPr>
        <p:txBody>
          <a:bodyPr wrap="square" lIns="0" tIns="0" rIns="0" bIns="0" anchor="t">
            <a:spAutoFit/>
          </a:bodyPr>
          <a:lstStyle/>
          <a:p>
            <a:pPr algn="l">
              <a:lnSpc>
                <a:spcPct val="135000"/>
              </a:lnSpc>
              <a:spcAft>
                <a:spcPts val="0"/>
              </a:spcAft>
              <a:defRPr sz="1700" b="0" i="0">
                <a:solidFill>
                  <a:srgbClr val="232D3C"/>
                </a:solidFill>
                <a:latin typeface="Calibri"/>
                <a:ea typeface="Calibri"/>
                <a:cs typeface="Calibri"/>
              </a:defRPr>
            </a:pPr>
            <a:r>
              <a:rPr sz="2000" b="0" i="0" dirty="0">
                <a:solidFill>
                  <a:srgbClr val="232D3C"/>
                </a:solidFill>
                <a:latin typeface="Calibri"/>
                <a:ea typeface="Calibri"/>
                <a:cs typeface="Calibri"/>
              </a:rPr>
              <a:t>This component analyses selected emails in Thunderbird to identify possible scam activity. It combines sender and authentication checks, URL and attachment indicators, social-engineering signals, and AI-based text classification to estimate the scam risk and provide supporting evidence. The resulting risk score and analysis details are passed to the integrated defense and awareness component, helping it decide how to respond and explain the risk to the user.</a:t>
            </a:r>
          </a:p>
        </p:txBody>
      </p:sp>
      <p:sp>
        <p:nvSpPr>
          <p:cNvPr id="11" name="TextBox 10"/>
          <p:cNvSpPr txBox="1"/>
          <p:nvPr/>
        </p:nvSpPr>
        <p:spPr>
          <a:xfrm>
            <a:off x="548640" y="1172880"/>
            <a:ext cx="7863840" cy="482183"/>
          </a:xfrm>
          <a:prstGeom prst="rect">
            <a:avLst/>
          </a:prstGeom>
          <a:noFill/>
        </p:spPr>
        <p:txBody>
          <a:bodyPr wrap="square" lIns="0" tIns="0" rIns="0" bIns="0" anchor="t">
            <a:spAutoFit/>
          </a:bodyPr>
          <a:lstStyle/>
          <a:p>
            <a:pPr algn="l">
              <a:spcAft>
                <a:spcPts val="400"/>
              </a:spcAft>
              <a:defRPr sz="1400" b="0" i="0">
                <a:solidFill>
                  <a:srgbClr val="232D3C"/>
                </a:solidFill>
                <a:latin typeface="Calibri"/>
                <a:ea typeface="Calibri"/>
                <a:cs typeface="Calibri"/>
              </a:defRPr>
            </a:pPr>
            <a:r>
              <a:rPr b="1" i="0" dirty="0">
                <a:solidFill>
                  <a:srgbClr val="2365B0"/>
                </a:solidFill>
                <a:latin typeface="Calibri"/>
                <a:ea typeface="Calibri"/>
                <a:cs typeface="Calibri"/>
              </a:rPr>
              <a:t>Presenter: </a:t>
            </a:r>
            <a:r>
              <a:rPr lang="en-US" b="1" i="0" dirty="0" err="1">
                <a:solidFill>
                  <a:srgbClr val="232D3C"/>
                </a:solidFill>
                <a:latin typeface="Calibri"/>
                <a:ea typeface="Calibri"/>
                <a:cs typeface="Calibri"/>
              </a:rPr>
              <a:t>Aberathna</a:t>
            </a:r>
            <a:r>
              <a:rPr lang="en-US" b="1" i="0" dirty="0">
                <a:solidFill>
                  <a:srgbClr val="232D3C"/>
                </a:solidFill>
                <a:latin typeface="Calibri"/>
                <a:ea typeface="Calibri"/>
                <a:cs typeface="Calibri"/>
              </a:rPr>
              <a:t> H M </a:t>
            </a:r>
            <a:r>
              <a:rPr lang="en-US" b="1" i="0" dirty="0" err="1">
                <a:solidFill>
                  <a:srgbClr val="232D3C"/>
                </a:solidFill>
                <a:latin typeface="Calibri"/>
                <a:ea typeface="Calibri"/>
                <a:cs typeface="Calibri"/>
              </a:rPr>
              <a:t>M</a:t>
            </a:r>
            <a:r>
              <a:rPr lang="en-US" b="1" i="0" dirty="0">
                <a:solidFill>
                  <a:srgbClr val="232D3C"/>
                </a:solidFill>
                <a:latin typeface="Calibri"/>
                <a:ea typeface="Calibri"/>
                <a:cs typeface="Calibri"/>
              </a:rPr>
              <a:t> K</a:t>
            </a:r>
          </a:p>
          <a:p>
            <a:pPr algn="l">
              <a:spcAft>
                <a:spcPts val="400"/>
              </a:spcAft>
              <a:defRPr sz="1400" b="0" i="0">
                <a:solidFill>
                  <a:srgbClr val="232D3C"/>
                </a:solidFill>
                <a:latin typeface="Calibri"/>
                <a:ea typeface="Calibri"/>
                <a:cs typeface="Calibri"/>
              </a:defRPr>
            </a:pPr>
            <a:r>
              <a:rPr b="1" i="0" dirty="0">
                <a:solidFill>
                  <a:srgbClr val="2365B0"/>
                </a:solidFill>
                <a:latin typeface="Calibri"/>
                <a:ea typeface="Calibri"/>
                <a:cs typeface="Calibri"/>
              </a:rPr>
              <a:t>Student ID: </a:t>
            </a:r>
            <a:r>
              <a:rPr lang="en-US" b="1" i="0" dirty="0">
                <a:solidFill>
                  <a:srgbClr val="232D3C"/>
                </a:solidFill>
                <a:latin typeface="Calibri"/>
                <a:ea typeface="Calibri"/>
                <a:cs typeface="Calibri"/>
              </a:rPr>
              <a:t>IT22277268</a:t>
            </a:r>
            <a:endParaRPr b="1" i="0" dirty="0">
              <a:solidFill>
                <a:srgbClr val="232D3C"/>
              </a:solidFill>
              <a:latin typeface="Calibri"/>
              <a:ea typeface="Calibri"/>
              <a:cs typeface="Calibri"/>
            </a:endParaRPr>
          </a:p>
        </p:txBody>
      </p:sp>
      <p:pic>
        <p:nvPicPr>
          <p:cNvPr id="3" name="Picture 2">
            <a:extLst>
              <a:ext uri="{FF2B5EF4-FFF2-40B4-BE49-F238E27FC236}">
                <a16:creationId xmlns:a16="http://schemas.microsoft.com/office/drawing/2014/main" id="{BDC6386E-4751-6BAF-3AA3-DD5BD1E841B6}"/>
              </a:ext>
            </a:extLst>
          </p:cNvPr>
          <p:cNvPicPr>
            <a:picLocks noChangeAspect="1"/>
          </p:cNvPicPr>
          <p:nvPr/>
        </p:nvPicPr>
        <p:blipFill>
          <a:blip r:embed="rId2"/>
          <a:stretch>
            <a:fillRect/>
          </a:stretch>
        </p:blipFill>
        <p:spPr>
          <a:xfrm>
            <a:off x="9809190" y="203938"/>
            <a:ext cx="1831122" cy="19695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4633AB-8B9E-5EC7-CB74-8A79A04CAEBF}"/>
              </a:ext>
            </a:extLst>
          </p:cNvPr>
          <p:cNvPicPr>
            <a:picLocks noChangeAspect="1"/>
          </p:cNvPicPr>
          <p:nvPr/>
        </p:nvPicPr>
        <p:blipFill>
          <a:blip r:embed="rId2"/>
          <a:stretch>
            <a:fillRect/>
          </a:stretch>
        </p:blipFill>
        <p:spPr>
          <a:xfrm>
            <a:off x="152400" y="720666"/>
            <a:ext cx="11887200" cy="6686551"/>
          </a:xfrm>
          <a:prstGeom prst="rect">
            <a:avLst/>
          </a:prstGeom>
        </p:spPr>
      </p:pic>
      <p:sp>
        <p:nvSpPr>
          <p:cNvPr id="3" name="TextBox 2">
            <a:extLst>
              <a:ext uri="{FF2B5EF4-FFF2-40B4-BE49-F238E27FC236}">
                <a16:creationId xmlns:a16="http://schemas.microsoft.com/office/drawing/2014/main" id="{A57783B1-0604-C095-EA5C-49ACEB5D3CA3}"/>
              </a:ext>
            </a:extLst>
          </p:cNvPr>
          <p:cNvSpPr txBox="1"/>
          <p:nvPr/>
        </p:nvSpPr>
        <p:spPr>
          <a:xfrm>
            <a:off x="548640" y="0"/>
            <a:ext cx="11091672" cy="685800"/>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lang="en-US" sz="2600" b="1" i="0" dirty="0">
                <a:solidFill>
                  <a:srgbClr val="142A5B"/>
                </a:solidFill>
                <a:latin typeface="Calibri"/>
                <a:ea typeface="Calibri"/>
                <a:cs typeface="Calibri"/>
              </a:rPr>
              <a:t>Lightweight AI-Driven Scam Detection</a:t>
            </a:r>
          </a:p>
        </p:txBody>
      </p:sp>
    </p:spTree>
    <p:extLst>
      <p:ext uri="{BB962C8B-B14F-4D97-AF65-F5344CB8AC3E}">
        <p14:creationId xmlns:p14="http://schemas.microsoft.com/office/powerpoint/2010/main" val="29115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CC3EA-CB25-AE51-AD68-CB64DFC3BBC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B1E6779-90F8-AF30-806F-8AF409156B8A}"/>
              </a:ext>
            </a:extLst>
          </p:cNvPr>
          <p:cNvSpPr txBox="1"/>
          <p:nvPr/>
        </p:nvSpPr>
        <p:spPr>
          <a:xfrm>
            <a:off x="548640" y="80252"/>
            <a:ext cx="9204960" cy="1231106"/>
          </a:xfrm>
          <a:prstGeom prst="rect">
            <a:avLst/>
          </a:prstGeom>
          <a:noFill/>
        </p:spPr>
        <p:txBody>
          <a:bodyPr wrap="square" lIns="0" tIns="0" rIns="0" bIns="0" anchor="b">
            <a:spAutoFit/>
          </a:bodyPr>
          <a:lstStyle/>
          <a:p>
            <a:pPr>
              <a:defRPr sz="2600" b="1" i="0">
                <a:solidFill>
                  <a:srgbClr val="142A5B"/>
                </a:solidFill>
                <a:latin typeface="Calibri"/>
                <a:ea typeface="Calibri"/>
                <a:cs typeface="Calibri"/>
              </a:defRPr>
            </a:pPr>
            <a:r>
              <a:rPr lang="en-US" sz="4000" b="1" dirty="0">
                <a:solidFill>
                  <a:srgbClr val="142A5B"/>
                </a:solidFill>
                <a:latin typeface="Calibri"/>
                <a:ea typeface="Calibri"/>
                <a:cs typeface="Calibri"/>
              </a:rPr>
              <a:t>Human-</a:t>
            </a:r>
            <a:r>
              <a:rPr lang="en-US" sz="4000" b="1" dirty="0" err="1">
                <a:solidFill>
                  <a:srgbClr val="142A5B"/>
                </a:solidFill>
                <a:latin typeface="Calibri"/>
                <a:ea typeface="Calibri"/>
                <a:cs typeface="Calibri"/>
              </a:rPr>
              <a:t>Centred</a:t>
            </a:r>
            <a:r>
              <a:rPr lang="en-US" sz="4000" b="1" dirty="0">
                <a:solidFill>
                  <a:srgbClr val="142A5B"/>
                </a:solidFill>
                <a:latin typeface="Calibri"/>
                <a:ea typeface="Calibri"/>
                <a:cs typeface="Calibri"/>
              </a:rPr>
              <a:t> Defense and Awareness System</a:t>
            </a:r>
          </a:p>
        </p:txBody>
      </p:sp>
      <p:sp>
        <p:nvSpPr>
          <p:cNvPr id="8" name="TextBox 7">
            <a:extLst>
              <a:ext uri="{FF2B5EF4-FFF2-40B4-BE49-F238E27FC236}">
                <a16:creationId xmlns:a16="http://schemas.microsoft.com/office/drawing/2014/main" id="{6B12624A-E1B1-F3A5-FC56-2701CFC91A75}"/>
              </a:ext>
            </a:extLst>
          </p:cNvPr>
          <p:cNvSpPr txBox="1"/>
          <p:nvPr/>
        </p:nvSpPr>
        <p:spPr>
          <a:xfrm>
            <a:off x="548640" y="2240280"/>
            <a:ext cx="8074250" cy="246221"/>
          </a:xfrm>
          <a:prstGeom prst="rect">
            <a:avLst/>
          </a:prstGeom>
          <a:noFill/>
        </p:spPr>
        <p:txBody>
          <a:bodyPr wrap="square" lIns="0" tIns="0" rIns="0" bIns="0" anchor="t">
            <a:spAutoFit/>
          </a:bodyPr>
          <a:lstStyle/>
          <a:p>
            <a:pPr algn="l">
              <a:spcAft>
                <a:spcPts val="0"/>
              </a:spcAft>
              <a:defRPr sz="1200" b="1" i="0">
                <a:solidFill>
                  <a:srgbClr val="2365B0"/>
                </a:solidFill>
                <a:latin typeface="Calibri"/>
                <a:ea typeface="Calibri"/>
                <a:cs typeface="Calibri"/>
              </a:defRPr>
            </a:pPr>
            <a:r>
              <a:rPr sz="1600" b="1" i="0" dirty="0">
                <a:solidFill>
                  <a:srgbClr val="2365B0"/>
                </a:solidFill>
                <a:latin typeface="Calibri"/>
                <a:ea typeface="Calibri"/>
                <a:cs typeface="Calibri"/>
              </a:rPr>
              <a:t>COMPONENT OVERVIEW</a:t>
            </a:r>
          </a:p>
        </p:txBody>
      </p:sp>
      <p:sp>
        <p:nvSpPr>
          <p:cNvPr id="9" name="Rounded Rectangle 8">
            <a:extLst>
              <a:ext uri="{FF2B5EF4-FFF2-40B4-BE49-F238E27FC236}">
                <a16:creationId xmlns:a16="http://schemas.microsoft.com/office/drawing/2014/main" id="{4E363913-BDFE-DC1B-F167-080E96584B81}"/>
              </a:ext>
            </a:extLst>
          </p:cNvPr>
          <p:cNvSpPr/>
          <p:nvPr/>
        </p:nvSpPr>
        <p:spPr>
          <a:xfrm>
            <a:off x="548640" y="2606040"/>
            <a:ext cx="11327646" cy="3566160"/>
          </a:xfrm>
          <a:prstGeom prst="roundRect">
            <a:avLst>
              <a:gd name="adj" fmla="val 6000"/>
            </a:avLst>
          </a:prstGeom>
          <a:solidFill>
            <a:srgbClr val="F5F7FA"/>
          </a:solidFill>
          <a:ln w="9525">
            <a:solidFill>
              <a:srgbClr val="D8E0EA"/>
            </a:solidFill>
          </a:ln>
          <a:effectLst>
            <a:outerShdw blurRad="101600" dist="25400" dir="5400000" algn="t" rotWithShape="0">
              <a:srgbClr val="142A5B">
                <a:alpha val="14000"/>
              </a:srgbClr>
            </a:outerShdw>
          </a:effectLst>
        </p:spPr>
        <p:txBody>
          <a:bodyPr rtlCol="0" anchor="ctr"/>
          <a:lstStyle/>
          <a:p>
            <a:pPr algn="ctr"/>
            <a:endParaRPr/>
          </a:p>
        </p:txBody>
      </p:sp>
      <p:sp>
        <p:nvSpPr>
          <p:cNvPr id="10" name="TextBox 9">
            <a:extLst>
              <a:ext uri="{FF2B5EF4-FFF2-40B4-BE49-F238E27FC236}">
                <a16:creationId xmlns:a16="http://schemas.microsoft.com/office/drawing/2014/main" id="{B6941B66-E95E-16A7-F195-ECBB92256B4E}"/>
              </a:ext>
            </a:extLst>
          </p:cNvPr>
          <p:cNvSpPr txBox="1"/>
          <p:nvPr/>
        </p:nvSpPr>
        <p:spPr>
          <a:xfrm>
            <a:off x="868680" y="2926080"/>
            <a:ext cx="10880868" cy="2041328"/>
          </a:xfrm>
          <a:prstGeom prst="rect">
            <a:avLst/>
          </a:prstGeom>
          <a:noFill/>
        </p:spPr>
        <p:txBody>
          <a:bodyPr wrap="square" lIns="0" tIns="0" rIns="0" bIns="0" anchor="t">
            <a:spAutoFit/>
          </a:bodyPr>
          <a:lstStyle/>
          <a:p>
            <a:pPr>
              <a:lnSpc>
                <a:spcPct val="135000"/>
              </a:lnSpc>
              <a:defRPr sz="1700" b="0" i="0">
                <a:solidFill>
                  <a:srgbClr val="232D3C"/>
                </a:solidFill>
                <a:latin typeface="Calibri"/>
                <a:ea typeface="Calibri"/>
                <a:cs typeface="Calibri"/>
              </a:defRPr>
            </a:pPr>
            <a:r>
              <a:rPr lang="en-US" sz="2000" dirty="0">
                <a:solidFill>
                  <a:srgbClr val="232D3C"/>
                </a:solidFill>
                <a:latin typeface="Calibri"/>
                <a:ea typeface="Calibri"/>
                <a:cs typeface="Calibri"/>
              </a:rPr>
              <a:t>This component uses the threat information produced by the detection components to support suitable protective actions and clear user explanations. Its defense engine applies risk-based responses, such as allowing, restricting, quarantining, or blocking suspicious emails, while its awareness engine presents the reasons and evidence behind a warning. A user security profile and activity history can also help users review security events and understand their interactions with potential threats.</a:t>
            </a:r>
          </a:p>
        </p:txBody>
      </p:sp>
      <p:sp>
        <p:nvSpPr>
          <p:cNvPr id="11" name="TextBox 10">
            <a:extLst>
              <a:ext uri="{FF2B5EF4-FFF2-40B4-BE49-F238E27FC236}">
                <a16:creationId xmlns:a16="http://schemas.microsoft.com/office/drawing/2014/main" id="{89503DE4-E64E-8239-F6CD-E3B8F6F7E20C}"/>
              </a:ext>
            </a:extLst>
          </p:cNvPr>
          <p:cNvSpPr txBox="1"/>
          <p:nvPr/>
        </p:nvSpPr>
        <p:spPr>
          <a:xfrm>
            <a:off x="548640" y="1457236"/>
            <a:ext cx="7863840" cy="482183"/>
          </a:xfrm>
          <a:prstGeom prst="rect">
            <a:avLst/>
          </a:prstGeom>
          <a:noFill/>
        </p:spPr>
        <p:txBody>
          <a:bodyPr wrap="square" lIns="0" tIns="0" rIns="0" bIns="0" anchor="t">
            <a:spAutoFit/>
          </a:bodyPr>
          <a:lstStyle/>
          <a:p>
            <a:pPr>
              <a:spcAft>
                <a:spcPts val="400"/>
              </a:spcAft>
              <a:defRPr sz="1400" b="0" i="0">
                <a:solidFill>
                  <a:srgbClr val="232D3C"/>
                </a:solidFill>
                <a:latin typeface="Calibri"/>
                <a:ea typeface="Calibri"/>
                <a:cs typeface="Calibri"/>
              </a:defRPr>
            </a:pPr>
            <a:r>
              <a:rPr lang="en-US" sz="1400" b="1" dirty="0">
                <a:solidFill>
                  <a:srgbClr val="2365B0"/>
                </a:solidFill>
                <a:latin typeface="Calibri"/>
                <a:ea typeface="Calibri"/>
                <a:cs typeface="Calibri"/>
              </a:rPr>
              <a:t>Presenter: </a:t>
            </a:r>
            <a:r>
              <a:rPr lang="en-US" sz="1400" b="1" dirty="0" err="1">
                <a:solidFill>
                  <a:srgbClr val="232D3C"/>
                </a:solidFill>
                <a:latin typeface="Calibri"/>
                <a:ea typeface="Calibri"/>
                <a:cs typeface="Calibri"/>
              </a:rPr>
              <a:t>Vidara</a:t>
            </a:r>
            <a:r>
              <a:rPr lang="en-US" sz="1400" b="1" dirty="0">
                <a:solidFill>
                  <a:srgbClr val="232D3C"/>
                </a:solidFill>
                <a:latin typeface="Calibri"/>
                <a:ea typeface="Calibri"/>
                <a:cs typeface="Calibri"/>
              </a:rPr>
              <a:t> S V</a:t>
            </a:r>
          </a:p>
          <a:p>
            <a:pPr>
              <a:spcAft>
                <a:spcPts val="400"/>
              </a:spcAft>
              <a:defRPr sz="1400" b="0" i="0">
                <a:solidFill>
                  <a:srgbClr val="232D3C"/>
                </a:solidFill>
                <a:latin typeface="Calibri"/>
                <a:ea typeface="Calibri"/>
                <a:cs typeface="Calibri"/>
              </a:defRPr>
            </a:pPr>
            <a:r>
              <a:rPr lang="en-US" sz="1400" b="1" dirty="0">
                <a:solidFill>
                  <a:srgbClr val="2365B0"/>
                </a:solidFill>
                <a:latin typeface="Calibri"/>
                <a:ea typeface="Calibri"/>
                <a:cs typeface="Calibri"/>
              </a:rPr>
              <a:t>Student ID: </a:t>
            </a:r>
            <a:r>
              <a:rPr lang="en-US" sz="1400" b="1" dirty="0">
                <a:solidFill>
                  <a:srgbClr val="232D3C"/>
                </a:solidFill>
                <a:latin typeface="Calibri"/>
                <a:ea typeface="Calibri"/>
                <a:cs typeface="Calibri"/>
              </a:rPr>
              <a:t>IT22299048</a:t>
            </a:r>
          </a:p>
        </p:txBody>
      </p:sp>
      <p:pic>
        <p:nvPicPr>
          <p:cNvPr id="4" name="Picture 3">
            <a:extLst>
              <a:ext uri="{FF2B5EF4-FFF2-40B4-BE49-F238E27FC236}">
                <a16:creationId xmlns:a16="http://schemas.microsoft.com/office/drawing/2014/main" id="{06CDB24C-F3B3-E138-A4DD-CE5162F15E56}"/>
              </a:ext>
            </a:extLst>
          </p:cNvPr>
          <p:cNvPicPr>
            <a:picLocks noChangeAspect="1"/>
          </p:cNvPicPr>
          <p:nvPr/>
        </p:nvPicPr>
        <p:blipFill>
          <a:blip r:embed="rId2"/>
          <a:srcRect l="22585" r="19597" b="20915"/>
          <a:stretch>
            <a:fillRect/>
          </a:stretch>
        </p:blipFill>
        <p:spPr>
          <a:xfrm>
            <a:off x="10076982" y="273828"/>
            <a:ext cx="1799304" cy="1966452"/>
          </a:xfrm>
          <a:prstGeom prst="rect">
            <a:avLst/>
          </a:prstGeom>
        </p:spPr>
      </p:pic>
    </p:spTree>
    <p:extLst>
      <p:ext uri="{BB962C8B-B14F-4D97-AF65-F5344CB8AC3E}">
        <p14:creationId xmlns:p14="http://schemas.microsoft.com/office/powerpoint/2010/main" val="357049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3488EF-11C7-10AD-D5D4-070653AFA5F1}"/>
              </a:ext>
            </a:extLst>
          </p:cNvPr>
          <p:cNvSpPr txBox="1"/>
          <p:nvPr/>
        </p:nvSpPr>
        <p:spPr>
          <a:xfrm>
            <a:off x="548640" y="-114300"/>
            <a:ext cx="11091672" cy="685800"/>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sz="2600" b="1" i="0" dirty="0">
                <a:solidFill>
                  <a:srgbClr val="142A5B"/>
                </a:solidFill>
                <a:latin typeface="Calibri"/>
                <a:ea typeface="Calibri"/>
                <a:cs typeface="Calibri"/>
              </a:rPr>
              <a:t>Human-</a:t>
            </a:r>
            <a:r>
              <a:rPr sz="2600" b="1" i="0" dirty="0" err="1">
                <a:solidFill>
                  <a:srgbClr val="142A5B"/>
                </a:solidFill>
                <a:latin typeface="Calibri"/>
                <a:ea typeface="Calibri"/>
                <a:cs typeface="Calibri"/>
              </a:rPr>
              <a:t>Centred</a:t>
            </a:r>
            <a:r>
              <a:rPr sz="2600" b="1" i="0" dirty="0">
                <a:solidFill>
                  <a:srgbClr val="142A5B"/>
                </a:solidFill>
                <a:latin typeface="Calibri"/>
                <a:ea typeface="Calibri"/>
                <a:cs typeface="Calibri"/>
              </a:rPr>
              <a:t> Defense and Awareness System</a:t>
            </a:r>
          </a:p>
        </p:txBody>
      </p:sp>
      <p:pic>
        <p:nvPicPr>
          <p:cNvPr id="5" name="Picture 4">
            <a:extLst>
              <a:ext uri="{FF2B5EF4-FFF2-40B4-BE49-F238E27FC236}">
                <a16:creationId xmlns:a16="http://schemas.microsoft.com/office/drawing/2014/main" id="{87D480CD-D594-46A4-B5A0-CC1E961EA485}"/>
              </a:ext>
            </a:extLst>
          </p:cNvPr>
          <p:cNvPicPr>
            <a:picLocks noChangeAspect="1"/>
          </p:cNvPicPr>
          <p:nvPr/>
        </p:nvPicPr>
        <p:blipFill>
          <a:blip r:embed="rId2"/>
          <a:stretch>
            <a:fillRect/>
          </a:stretch>
        </p:blipFill>
        <p:spPr>
          <a:xfrm>
            <a:off x="333993" y="599437"/>
            <a:ext cx="11523710" cy="6482086"/>
          </a:xfrm>
          <a:prstGeom prst="rect">
            <a:avLst/>
          </a:prstGeom>
        </p:spPr>
      </p:pic>
    </p:spTree>
    <p:extLst>
      <p:ext uri="{BB962C8B-B14F-4D97-AF65-F5344CB8AC3E}">
        <p14:creationId xmlns:p14="http://schemas.microsoft.com/office/powerpoint/2010/main" val="3855570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txBox="1"/>
          <p:nvPr/>
        </p:nvSpPr>
        <p:spPr>
          <a:xfrm>
            <a:off x="550164" y="93491"/>
            <a:ext cx="11091672" cy="1231106"/>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sz="4000" b="1" i="0" dirty="0" err="1">
                <a:solidFill>
                  <a:srgbClr val="142A5B"/>
                </a:solidFill>
                <a:latin typeface="Calibri"/>
                <a:ea typeface="Calibri"/>
                <a:cs typeface="Calibri"/>
              </a:rPr>
              <a:t>StegoGuard</a:t>
            </a:r>
            <a:r>
              <a:rPr sz="4000" b="1" i="0" dirty="0">
                <a:solidFill>
                  <a:srgbClr val="142A5B"/>
                </a:solidFill>
                <a:latin typeface="Calibri"/>
                <a:ea typeface="Calibri"/>
                <a:cs typeface="Calibri"/>
              </a:rPr>
              <a:t>: Explainable AI-Based </a:t>
            </a:r>
            <a:endParaRPr lang="en-US" sz="4000" b="1" i="0" dirty="0">
              <a:solidFill>
                <a:srgbClr val="142A5B"/>
              </a:solidFill>
              <a:latin typeface="Calibri"/>
              <a:ea typeface="Calibri"/>
              <a:cs typeface="Calibri"/>
            </a:endParaRPr>
          </a:p>
          <a:p>
            <a:pPr algn="l">
              <a:spcAft>
                <a:spcPts val="0"/>
              </a:spcAft>
              <a:defRPr sz="2600" b="1" i="0">
                <a:solidFill>
                  <a:srgbClr val="142A5B"/>
                </a:solidFill>
                <a:latin typeface="Calibri"/>
                <a:ea typeface="Calibri"/>
                <a:cs typeface="Calibri"/>
              </a:defRPr>
            </a:pPr>
            <a:r>
              <a:rPr sz="4000" b="1" i="0" dirty="0">
                <a:solidFill>
                  <a:srgbClr val="142A5B"/>
                </a:solidFill>
                <a:latin typeface="Calibri"/>
                <a:ea typeface="Calibri"/>
                <a:cs typeface="Calibri"/>
              </a:rPr>
              <a:t>Steganographic Image Detection</a:t>
            </a:r>
          </a:p>
        </p:txBody>
      </p:sp>
      <p:sp>
        <p:nvSpPr>
          <p:cNvPr id="8" name="TextBox 7"/>
          <p:cNvSpPr txBox="1"/>
          <p:nvPr/>
        </p:nvSpPr>
        <p:spPr>
          <a:xfrm>
            <a:off x="548640" y="2240280"/>
            <a:ext cx="7863840" cy="246221"/>
          </a:xfrm>
          <a:prstGeom prst="rect">
            <a:avLst/>
          </a:prstGeom>
          <a:noFill/>
        </p:spPr>
        <p:txBody>
          <a:bodyPr wrap="square" lIns="0" tIns="0" rIns="0" bIns="0" anchor="t">
            <a:spAutoFit/>
          </a:bodyPr>
          <a:lstStyle/>
          <a:p>
            <a:pPr algn="l">
              <a:spcAft>
                <a:spcPts val="0"/>
              </a:spcAft>
              <a:defRPr sz="1200" b="1" i="0">
                <a:solidFill>
                  <a:srgbClr val="2365B0"/>
                </a:solidFill>
                <a:latin typeface="Calibri"/>
                <a:ea typeface="Calibri"/>
                <a:cs typeface="Calibri"/>
              </a:defRPr>
            </a:pPr>
            <a:r>
              <a:rPr sz="1600" b="1" i="0" dirty="0">
                <a:solidFill>
                  <a:srgbClr val="2365B0"/>
                </a:solidFill>
                <a:latin typeface="Calibri"/>
                <a:ea typeface="Calibri"/>
                <a:cs typeface="Calibri"/>
              </a:rPr>
              <a:t>COMPONENT OVERVIEW</a:t>
            </a:r>
          </a:p>
        </p:txBody>
      </p:sp>
      <p:sp>
        <p:nvSpPr>
          <p:cNvPr id="9" name="Rounded Rectangle 8"/>
          <p:cNvSpPr/>
          <p:nvPr/>
        </p:nvSpPr>
        <p:spPr>
          <a:xfrm>
            <a:off x="548639" y="2606040"/>
            <a:ext cx="11299231" cy="3566160"/>
          </a:xfrm>
          <a:prstGeom prst="roundRect">
            <a:avLst>
              <a:gd name="adj" fmla="val 6000"/>
            </a:avLst>
          </a:prstGeom>
          <a:solidFill>
            <a:srgbClr val="F5F7FA"/>
          </a:solidFill>
          <a:ln w="9525">
            <a:solidFill>
              <a:srgbClr val="D8E0EA"/>
            </a:solidFill>
          </a:ln>
          <a:effectLst>
            <a:outerShdw blurRad="101600" dist="25400" dir="5400000" algn="t" rotWithShape="0">
              <a:srgbClr val="142A5B">
                <a:alpha val="14000"/>
              </a:srgbClr>
            </a:outerShdw>
          </a:effectLst>
        </p:spPr>
        <p:txBody>
          <a:bodyPr rtlCol="0" anchor="ctr"/>
          <a:lstStyle/>
          <a:p>
            <a:pPr algn="ctr"/>
            <a:endParaRPr/>
          </a:p>
        </p:txBody>
      </p:sp>
      <p:sp>
        <p:nvSpPr>
          <p:cNvPr id="10" name="TextBox 9"/>
          <p:cNvSpPr txBox="1"/>
          <p:nvPr/>
        </p:nvSpPr>
        <p:spPr>
          <a:xfrm>
            <a:off x="868680" y="2926080"/>
            <a:ext cx="10773156" cy="2456826"/>
          </a:xfrm>
          <a:prstGeom prst="rect">
            <a:avLst/>
          </a:prstGeom>
          <a:noFill/>
        </p:spPr>
        <p:txBody>
          <a:bodyPr wrap="square" lIns="0" tIns="0" rIns="0" bIns="0" anchor="t">
            <a:spAutoFit/>
          </a:bodyPr>
          <a:lstStyle/>
          <a:p>
            <a:pPr algn="l">
              <a:lnSpc>
                <a:spcPct val="135000"/>
              </a:lnSpc>
              <a:spcAft>
                <a:spcPts val="0"/>
              </a:spcAft>
              <a:defRPr sz="1700" b="0" i="0">
                <a:solidFill>
                  <a:srgbClr val="232D3C"/>
                </a:solidFill>
                <a:latin typeface="Calibri"/>
                <a:ea typeface="Calibri"/>
                <a:cs typeface="Calibri"/>
              </a:defRPr>
            </a:pPr>
            <a:r>
              <a:rPr sz="2000" b="0" i="0" dirty="0" err="1">
                <a:solidFill>
                  <a:srgbClr val="232D3C"/>
                </a:solidFill>
                <a:latin typeface="Calibri"/>
                <a:ea typeface="Calibri"/>
                <a:cs typeface="Calibri"/>
              </a:rPr>
              <a:t>StegoGuard</a:t>
            </a:r>
            <a:r>
              <a:rPr sz="2000" b="0" i="0" dirty="0">
                <a:solidFill>
                  <a:srgbClr val="232D3C"/>
                </a:solidFill>
                <a:latin typeface="Calibri"/>
                <a:ea typeface="Calibri"/>
                <a:cs typeface="Calibri"/>
              </a:rPr>
              <a:t> analyses image attachments from emails to identify whether they may contain hidden information embedded through steganography. A trained AI model classifies each supported image as Clean or </a:t>
            </a:r>
            <a:r>
              <a:rPr sz="2000" b="0" i="0" dirty="0" err="1">
                <a:solidFill>
                  <a:srgbClr val="232D3C"/>
                </a:solidFill>
                <a:latin typeface="Calibri"/>
                <a:ea typeface="Calibri"/>
                <a:cs typeface="Calibri"/>
              </a:rPr>
              <a:t>Stego</a:t>
            </a:r>
            <a:r>
              <a:rPr sz="2000" b="0" i="0" dirty="0">
                <a:solidFill>
                  <a:srgbClr val="232D3C"/>
                </a:solidFill>
                <a:latin typeface="Calibri"/>
                <a:ea typeface="Calibri"/>
                <a:cs typeface="Calibri"/>
              </a:rPr>
              <a:t> and provides class scores for the prediction. Grad-CAM generates a heatmap to highlight image regions that influenced the model, making the result easier to interpret. The prediction and supporting explanation can then contribute to the integrated system’s image-related defense and user awareness.</a:t>
            </a:r>
          </a:p>
        </p:txBody>
      </p:sp>
      <p:sp>
        <p:nvSpPr>
          <p:cNvPr id="13" name="TextBox 12">
            <a:extLst>
              <a:ext uri="{FF2B5EF4-FFF2-40B4-BE49-F238E27FC236}">
                <a16:creationId xmlns:a16="http://schemas.microsoft.com/office/drawing/2014/main" id="{A2FCA4BB-D699-C8A4-5428-1C319AD8FD00}"/>
              </a:ext>
            </a:extLst>
          </p:cNvPr>
          <p:cNvSpPr txBox="1"/>
          <p:nvPr/>
        </p:nvSpPr>
        <p:spPr>
          <a:xfrm>
            <a:off x="550164" y="1483135"/>
            <a:ext cx="7863840" cy="482183"/>
          </a:xfrm>
          <a:prstGeom prst="rect">
            <a:avLst/>
          </a:prstGeom>
          <a:noFill/>
        </p:spPr>
        <p:txBody>
          <a:bodyPr wrap="square" lIns="0" tIns="0" rIns="0" bIns="0" anchor="t">
            <a:spAutoFit/>
          </a:bodyPr>
          <a:lstStyle/>
          <a:p>
            <a:pPr algn="l">
              <a:spcAft>
                <a:spcPts val="400"/>
              </a:spcAft>
              <a:defRPr sz="1400" b="0" i="0">
                <a:solidFill>
                  <a:srgbClr val="232D3C"/>
                </a:solidFill>
                <a:latin typeface="Calibri"/>
                <a:ea typeface="Calibri"/>
                <a:cs typeface="Calibri"/>
              </a:defRPr>
            </a:pPr>
            <a:r>
              <a:rPr sz="1400" b="1" i="0" dirty="0">
                <a:solidFill>
                  <a:srgbClr val="2365B0"/>
                </a:solidFill>
                <a:latin typeface="Calibri"/>
                <a:ea typeface="Calibri"/>
                <a:cs typeface="Calibri"/>
              </a:rPr>
              <a:t>Presenter: </a:t>
            </a:r>
            <a:r>
              <a:rPr lang="en-US" sz="1400" b="1" i="0" dirty="0" err="1">
                <a:solidFill>
                  <a:srgbClr val="232D3C"/>
                </a:solidFill>
                <a:latin typeface="Calibri"/>
                <a:ea typeface="Calibri"/>
                <a:cs typeface="Calibri"/>
              </a:rPr>
              <a:t>Priyadewa</a:t>
            </a:r>
            <a:r>
              <a:rPr lang="en-US" sz="1400" b="1" i="0" dirty="0">
                <a:solidFill>
                  <a:srgbClr val="232D3C"/>
                </a:solidFill>
                <a:latin typeface="Calibri"/>
                <a:ea typeface="Calibri"/>
                <a:cs typeface="Calibri"/>
              </a:rPr>
              <a:t> P D J C</a:t>
            </a:r>
          </a:p>
          <a:p>
            <a:pPr algn="l">
              <a:spcAft>
                <a:spcPts val="400"/>
              </a:spcAft>
              <a:defRPr sz="1400" b="0" i="0">
                <a:solidFill>
                  <a:srgbClr val="232D3C"/>
                </a:solidFill>
                <a:latin typeface="Calibri"/>
                <a:ea typeface="Calibri"/>
                <a:cs typeface="Calibri"/>
              </a:defRPr>
            </a:pPr>
            <a:r>
              <a:rPr sz="1400" b="1" i="0" dirty="0">
                <a:solidFill>
                  <a:srgbClr val="2365B0"/>
                </a:solidFill>
                <a:latin typeface="Calibri"/>
                <a:ea typeface="Calibri"/>
                <a:cs typeface="Calibri"/>
              </a:rPr>
              <a:t>Student ID: </a:t>
            </a:r>
            <a:r>
              <a:rPr lang="en-US" sz="1400" b="1" i="0" dirty="0">
                <a:solidFill>
                  <a:srgbClr val="232D3C"/>
                </a:solidFill>
                <a:latin typeface="Calibri"/>
                <a:ea typeface="Calibri"/>
                <a:cs typeface="Calibri"/>
              </a:rPr>
              <a:t>IT22628718</a:t>
            </a:r>
            <a:endParaRPr sz="1400" b="1" i="0" dirty="0">
              <a:solidFill>
                <a:srgbClr val="232D3C"/>
              </a:solidFill>
              <a:latin typeface="Calibri"/>
              <a:ea typeface="Calibri"/>
              <a:cs typeface="Calibri"/>
            </a:endParaRPr>
          </a:p>
        </p:txBody>
      </p:sp>
      <p:pic>
        <p:nvPicPr>
          <p:cNvPr id="3" name="Picture 2">
            <a:extLst>
              <a:ext uri="{FF2B5EF4-FFF2-40B4-BE49-F238E27FC236}">
                <a16:creationId xmlns:a16="http://schemas.microsoft.com/office/drawing/2014/main" id="{DAFE7DDC-7860-A024-4560-CEA810826D58}"/>
              </a:ext>
            </a:extLst>
          </p:cNvPr>
          <p:cNvPicPr>
            <a:picLocks noChangeAspect="1"/>
          </p:cNvPicPr>
          <p:nvPr/>
        </p:nvPicPr>
        <p:blipFill>
          <a:blip r:embed="rId2"/>
          <a:srcRect b="13331"/>
          <a:stretch>
            <a:fillRect/>
          </a:stretch>
        </p:blipFill>
        <p:spPr>
          <a:xfrm>
            <a:off x="10062615" y="247795"/>
            <a:ext cx="1785255" cy="19909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E3D240-A350-8357-00A2-ABB10A797723}"/>
              </a:ext>
            </a:extLst>
          </p:cNvPr>
          <p:cNvPicPr>
            <a:picLocks noChangeAspect="1"/>
          </p:cNvPicPr>
          <p:nvPr/>
        </p:nvPicPr>
        <p:blipFill>
          <a:blip r:embed="rId2"/>
          <a:stretch>
            <a:fillRect/>
          </a:stretch>
        </p:blipFill>
        <p:spPr>
          <a:xfrm>
            <a:off x="108003" y="590525"/>
            <a:ext cx="11975994" cy="6736496"/>
          </a:xfrm>
          <a:prstGeom prst="rect">
            <a:avLst/>
          </a:prstGeom>
        </p:spPr>
      </p:pic>
      <p:sp>
        <p:nvSpPr>
          <p:cNvPr id="3" name="TextBox 2">
            <a:extLst>
              <a:ext uri="{FF2B5EF4-FFF2-40B4-BE49-F238E27FC236}">
                <a16:creationId xmlns:a16="http://schemas.microsoft.com/office/drawing/2014/main" id="{977369B7-6A34-4A38-8BB7-8C26247EB4A7}"/>
              </a:ext>
            </a:extLst>
          </p:cNvPr>
          <p:cNvSpPr txBox="1"/>
          <p:nvPr/>
        </p:nvSpPr>
        <p:spPr>
          <a:xfrm>
            <a:off x="469981" y="-9242"/>
            <a:ext cx="11091672" cy="685800"/>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sz="2600" b="1" i="0" dirty="0" err="1">
                <a:solidFill>
                  <a:srgbClr val="142A5B"/>
                </a:solidFill>
                <a:latin typeface="Calibri"/>
                <a:ea typeface="Calibri"/>
                <a:cs typeface="Calibri"/>
              </a:rPr>
              <a:t>StegoGuard</a:t>
            </a:r>
            <a:r>
              <a:rPr sz="2600" b="1" i="0" dirty="0">
                <a:solidFill>
                  <a:srgbClr val="142A5B"/>
                </a:solidFill>
                <a:latin typeface="Calibri"/>
                <a:ea typeface="Calibri"/>
                <a:cs typeface="Calibri"/>
              </a:rPr>
              <a:t>: Explainable AI-Based Steganographic Image Detection</a:t>
            </a:r>
          </a:p>
        </p:txBody>
      </p:sp>
    </p:spTree>
    <p:extLst>
      <p:ext uri="{BB962C8B-B14F-4D97-AF65-F5344CB8AC3E}">
        <p14:creationId xmlns:p14="http://schemas.microsoft.com/office/powerpoint/2010/main" val="184800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txBox="1"/>
          <p:nvPr/>
        </p:nvSpPr>
        <p:spPr>
          <a:xfrm>
            <a:off x="548640" y="384048"/>
            <a:ext cx="11091672" cy="685800"/>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sz="2600" b="1" i="0">
                <a:solidFill>
                  <a:srgbClr val="142A5B"/>
                </a:solidFill>
                <a:latin typeface="Calibri"/>
                <a:ea typeface="Calibri"/>
                <a:cs typeface="Calibri"/>
              </a:rPr>
              <a:t>Current limitations and next steps</a:t>
            </a:r>
          </a:p>
        </p:txBody>
      </p:sp>
      <p:sp>
        <p:nvSpPr>
          <p:cNvPr id="9" name="Rounded Rectangle 8"/>
          <p:cNvSpPr/>
          <p:nvPr/>
        </p:nvSpPr>
        <p:spPr>
          <a:xfrm>
            <a:off x="548640" y="1280160"/>
            <a:ext cx="5440680" cy="4937760"/>
          </a:xfrm>
          <a:prstGeom prst="roundRect">
            <a:avLst>
              <a:gd name="adj" fmla="val 6000"/>
            </a:avLst>
          </a:prstGeom>
          <a:solidFill>
            <a:srgbClr val="FDF1E7"/>
          </a:solidFill>
          <a:ln w="9525">
            <a:solidFill>
              <a:srgbClr val="F3D3B5"/>
            </a:solidFill>
          </a:ln>
          <a:effectLst>
            <a:outerShdw blurRad="101600" dist="25400" dir="5400000" algn="t" rotWithShape="0">
              <a:srgbClr val="142A5B">
                <a:alpha val="14000"/>
              </a:srgbClr>
            </a:outerShdw>
          </a:effectLst>
        </p:spPr>
        <p:txBody>
          <a:bodyPr rtlCol="0" anchor="ctr"/>
          <a:lstStyle/>
          <a:p>
            <a:pPr algn="ctr"/>
            <a:endParaRPr/>
          </a:p>
        </p:txBody>
      </p:sp>
      <p:sp>
        <p:nvSpPr>
          <p:cNvPr id="11" name="TextBox 10"/>
          <p:cNvSpPr txBox="1"/>
          <p:nvPr/>
        </p:nvSpPr>
        <p:spPr>
          <a:xfrm>
            <a:off x="868680" y="1554480"/>
            <a:ext cx="4846320" cy="365760"/>
          </a:xfrm>
          <a:prstGeom prst="rect">
            <a:avLst/>
          </a:prstGeom>
          <a:noFill/>
        </p:spPr>
        <p:txBody>
          <a:bodyPr wrap="square" lIns="0" tIns="0" rIns="0" bIns="0" anchor="t">
            <a:spAutoFit/>
          </a:bodyPr>
          <a:lstStyle/>
          <a:p>
            <a:pPr algn="l">
              <a:spcAft>
                <a:spcPts val="0"/>
              </a:spcAft>
              <a:defRPr sz="1800" b="1" i="0">
                <a:solidFill>
                  <a:srgbClr val="C25E12"/>
                </a:solidFill>
                <a:latin typeface="Calibri"/>
                <a:ea typeface="Calibri"/>
                <a:cs typeface="Calibri"/>
              </a:defRPr>
            </a:pPr>
            <a:r>
              <a:rPr sz="1800" b="1" i="0">
                <a:solidFill>
                  <a:srgbClr val="C25E12"/>
                </a:solidFill>
                <a:latin typeface="Calibri"/>
                <a:ea typeface="Calibri"/>
                <a:cs typeface="Calibri"/>
              </a:rPr>
              <a:t>LIMITATIONS</a:t>
            </a:r>
          </a:p>
        </p:txBody>
      </p:sp>
      <p:sp>
        <p:nvSpPr>
          <p:cNvPr id="12" name="TextBox 11"/>
          <p:cNvSpPr txBox="1"/>
          <p:nvPr/>
        </p:nvSpPr>
        <p:spPr>
          <a:xfrm>
            <a:off x="868680" y="2103120"/>
            <a:ext cx="4892040" cy="3931920"/>
          </a:xfrm>
          <a:prstGeom prst="rect">
            <a:avLst/>
          </a:prstGeom>
          <a:noFill/>
        </p:spPr>
        <p:txBody>
          <a:bodyPr wrap="square" lIns="0" tIns="0" rIns="0" bIns="0" anchor="t">
            <a:spAutoFit/>
          </a:bodyPr>
          <a:lstStyle/>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Detection performance depends on the quality and diversity of training and test data.</a:t>
            </a:r>
          </a:p>
          <a:p>
            <a:pPr algn="l">
              <a:lnSpc>
                <a:spcPct val="120000"/>
              </a:lnSpc>
              <a:spcAft>
                <a:spcPts val="1000"/>
              </a:spcAft>
              <a:defRPr sz="1500" b="0" i="0">
                <a:solidFill>
                  <a:srgbClr val="232D3C"/>
                </a:solidFill>
                <a:latin typeface="Calibri"/>
                <a:ea typeface="Calibri"/>
                <a:cs typeface="Calibri"/>
              </a:defRPr>
            </a:pPr>
            <a:endParaRPr sz="1500" b="0" i="0" dirty="0">
              <a:solidFill>
                <a:srgbClr val="232D3C"/>
              </a:solidFill>
              <a:latin typeface="Calibri"/>
              <a:ea typeface="Calibri"/>
              <a:cs typeface="Calibri"/>
            </a:endParaRPr>
          </a:p>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AI models may produce false positives or miss unfamiliar scam patterns.</a:t>
            </a:r>
          </a:p>
          <a:p>
            <a:pPr algn="l">
              <a:lnSpc>
                <a:spcPct val="120000"/>
              </a:lnSpc>
              <a:spcAft>
                <a:spcPts val="1000"/>
              </a:spcAft>
              <a:defRPr sz="1500" b="0" i="0">
                <a:solidFill>
                  <a:srgbClr val="232D3C"/>
                </a:solidFill>
                <a:latin typeface="Calibri"/>
                <a:ea typeface="Calibri"/>
                <a:cs typeface="Calibri"/>
              </a:defRPr>
            </a:pPr>
            <a:endParaRPr sz="1500" b="0" i="0" dirty="0">
              <a:solidFill>
                <a:srgbClr val="232D3C"/>
              </a:solidFill>
              <a:latin typeface="Calibri"/>
              <a:ea typeface="Calibri"/>
              <a:cs typeface="Calibri"/>
            </a:endParaRPr>
          </a:p>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Image analysis is limited to supported attachment formats and</a:t>
            </a:r>
            <a:r>
              <a:rPr lang="en-US" sz="1500" b="0" i="0" dirty="0">
                <a:solidFill>
                  <a:srgbClr val="232D3C"/>
                </a:solidFill>
                <a:latin typeface="Calibri"/>
                <a:ea typeface="Calibri"/>
                <a:cs typeface="Calibri"/>
              </a:rPr>
              <a:t> works only as a binary classification to detect Clean or </a:t>
            </a:r>
            <a:r>
              <a:rPr lang="en-US" sz="1500" b="0" i="0" dirty="0" err="1">
                <a:solidFill>
                  <a:srgbClr val="232D3C"/>
                </a:solidFill>
                <a:latin typeface="Calibri"/>
                <a:ea typeface="Calibri"/>
                <a:cs typeface="Calibri"/>
              </a:rPr>
              <a:t>Stego</a:t>
            </a:r>
            <a:r>
              <a:rPr lang="en-US" sz="1500" b="0" i="0" dirty="0">
                <a:solidFill>
                  <a:srgbClr val="232D3C"/>
                </a:solidFill>
                <a:latin typeface="Calibri"/>
                <a:ea typeface="Calibri"/>
                <a:cs typeface="Calibri"/>
              </a:rPr>
              <a:t> images</a:t>
            </a:r>
            <a:r>
              <a:rPr sz="1500" b="0" i="0" dirty="0">
                <a:solidFill>
                  <a:srgbClr val="232D3C"/>
                </a:solidFill>
                <a:latin typeface="Calibri"/>
                <a:ea typeface="Calibri"/>
                <a:cs typeface="Calibri"/>
              </a:rPr>
              <a:t>.</a:t>
            </a:r>
          </a:p>
          <a:p>
            <a:pPr algn="l">
              <a:lnSpc>
                <a:spcPct val="120000"/>
              </a:lnSpc>
              <a:spcAft>
                <a:spcPts val="1000"/>
              </a:spcAft>
              <a:defRPr sz="1500" b="0" i="0">
                <a:solidFill>
                  <a:srgbClr val="232D3C"/>
                </a:solidFill>
                <a:latin typeface="Calibri"/>
                <a:ea typeface="Calibri"/>
                <a:cs typeface="Calibri"/>
              </a:defRPr>
            </a:pPr>
            <a:endParaRPr sz="1500" b="0" i="0" dirty="0">
              <a:solidFill>
                <a:srgbClr val="232D3C"/>
              </a:solidFill>
              <a:latin typeface="Calibri"/>
              <a:ea typeface="Calibri"/>
              <a:cs typeface="Calibri"/>
            </a:endParaRPr>
          </a:p>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Compatibility, response time, and user experience require testing across broader real-world environments.</a:t>
            </a:r>
          </a:p>
        </p:txBody>
      </p:sp>
      <p:sp>
        <p:nvSpPr>
          <p:cNvPr id="13" name="Rounded Rectangle 12"/>
          <p:cNvSpPr/>
          <p:nvPr/>
        </p:nvSpPr>
        <p:spPr>
          <a:xfrm>
            <a:off x="6199632" y="1280160"/>
            <a:ext cx="5440680" cy="4937760"/>
          </a:xfrm>
          <a:prstGeom prst="roundRect">
            <a:avLst>
              <a:gd name="adj" fmla="val 6000"/>
            </a:avLst>
          </a:prstGeom>
          <a:solidFill>
            <a:srgbClr val="EAF5EE"/>
          </a:solidFill>
          <a:ln w="9525">
            <a:solidFill>
              <a:srgbClr val="C5E2CF"/>
            </a:solidFill>
          </a:ln>
          <a:effectLst>
            <a:outerShdw blurRad="101600" dist="25400" dir="5400000" algn="t" rotWithShape="0">
              <a:srgbClr val="142A5B">
                <a:alpha val="14000"/>
              </a:srgbClr>
            </a:outerShdw>
          </a:effectLst>
        </p:spPr>
        <p:txBody>
          <a:bodyPr rtlCol="0" anchor="ctr"/>
          <a:lstStyle/>
          <a:p>
            <a:pPr algn="ctr"/>
            <a:endParaRPr/>
          </a:p>
        </p:txBody>
      </p:sp>
      <p:sp>
        <p:nvSpPr>
          <p:cNvPr id="15" name="TextBox 14"/>
          <p:cNvSpPr txBox="1"/>
          <p:nvPr/>
        </p:nvSpPr>
        <p:spPr>
          <a:xfrm>
            <a:off x="6519672" y="1554480"/>
            <a:ext cx="4846320" cy="365760"/>
          </a:xfrm>
          <a:prstGeom prst="rect">
            <a:avLst/>
          </a:prstGeom>
          <a:noFill/>
        </p:spPr>
        <p:txBody>
          <a:bodyPr wrap="square" lIns="0" tIns="0" rIns="0" bIns="0" anchor="t">
            <a:spAutoFit/>
          </a:bodyPr>
          <a:lstStyle/>
          <a:p>
            <a:pPr algn="l">
              <a:spcAft>
                <a:spcPts val="0"/>
              </a:spcAft>
              <a:defRPr sz="1800" b="1" i="0">
                <a:solidFill>
                  <a:srgbClr val="328456"/>
                </a:solidFill>
                <a:latin typeface="Calibri"/>
                <a:ea typeface="Calibri"/>
                <a:cs typeface="Calibri"/>
              </a:defRPr>
            </a:pPr>
            <a:r>
              <a:rPr sz="1800" b="1" i="0">
                <a:solidFill>
                  <a:srgbClr val="328456"/>
                </a:solidFill>
                <a:latin typeface="Calibri"/>
                <a:ea typeface="Calibri"/>
                <a:cs typeface="Calibri"/>
              </a:rPr>
              <a:t>FUTURE WORK</a:t>
            </a:r>
          </a:p>
        </p:txBody>
      </p:sp>
      <p:sp>
        <p:nvSpPr>
          <p:cNvPr id="16" name="TextBox 15"/>
          <p:cNvSpPr txBox="1"/>
          <p:nvPr/>
        </p:nvSpPr>
        <p:spPr>
          <a:xfrm>
            <a:off x="6519672" y="2103120"/>
            <a:ext cx="4892040" cy="3931920"/>
          </a:xfrm>
          <a:prstGeom prst="rect">
            <a:avLst/>
          </a:prstGeom>
          <a:noFill/>
        </p:spPr>
        <p:txBody>
          <a:bodyPr wrap="square" lIns="0" tIns="0" rIns="0" bIns="0" anchor="t">
            <a:spAutoFit/>
          </a:bodyPr>
          <a:lstStyle/>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Expand datasets with more diverse, rece</a:t>
            </a:r>
            <a:r>
              <a:rPr lang="en-US" sz="1500" b="0" i="0" dirty="0">
                <a:solidFill>
                  <a:srgbClr val="232D3C"/>
                </a:solidFill>
                <a:latin typeface="Calibri"/>
                <a:ea typeface="Calibri"/>
                <a:cs typeface="Calibri"/>
              </a:rPr>
              <a:t>nt </a:t>
            </a:r>
            <a:r>
              <a:rPr sz="1500" b="0" i="0" dirty="0">
                <a:solidFill>
                  <a:srgbClr val="232D3C"/>
                </a:solidFill>
                <a:latin typeface="Calibri"/>
                <a:ea typeface="Calibri"/>
                <a:cs typeface="Calibri"/>
              </a:rPr>
              <a:t>scam emails and steganographic images.</a:t>
            </a:r>
          </a:p>
          <a:p>
            <a:pPr algn="l">
              <a:lnSpc>
                <a:spcPct val="120000"/>
              </a:lnSpc>
              <a:spcAft>
                <a:spcPts val="1000"/>
              </a:spcAft>
              <a:defRPr sz="1500" b="0" i="0">
                <a:solidFill>
                  <a:srgbClr val="232D3C"/>
                </a:solidFill>
                <a:latin typeface="Calibri"/>
                <a:ea typeface="Calibri"/>
                <a:cs typeface="Calibri"/>
              </a:defRPr>
            </a:pPr>
            <a:endParaRPr sz="1500" b="0" i="0" dirty="0">
              <a:solidFill>
                <a:srgbClr val="232D3C"/>
              </a:solidFill>
              <a:latin typeface="Calibri"/>
              <a:ea typeface="Calibri"/>
              <a:cs typeface="Calibri"/>
            </a:endParaRPr>
          </a:p>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Improve model robustness, threshold calibration, and evaluation against unseen examples.</a:t>
            </a:r>
          </a:p>
          <a:p>
            <a:pPr algn="l">
              <a:lnSpc>
                <a:spcPct val="120000"/>
              </a:lnSpc>
              <a:spcAft>
                <a:spcPts val="1000"/>
              </a:spcAft>
              <a:defRPr sz="1500" b="0" i="0">
                <a:solidFill>
                  <a:srgbClr val="232D3C"/>
                </a:solidFill>
                <a:latin typeface="Calibri"/>
                <a:ea typeface="Calibri"/>
                <a:cs typeface="Calibri"/>
              </a:defRPr>
            </a:pPr>
            <a:endParaRPr sz="1500" b="0" i="0" dirty="0">
              <a:solidFill>
                <a:srgbClr val="232D3C"/>
              </a:solidFill>
              <a:latin typeface="Calibri"/>
              <a:ea typeface="Calibri"/>
              <a:cs typeface="Calibri"/>
            </a:endParaRPr>
          </a:p>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Extend supported file formats and</a:t>
            </a:r>
            <a:r>
              <a:rPr lang="en-US" sz="1500" b="0" i="0" dirty="0">
                <a:solidFill>
                  <a:srgbClr val="232D3C"/>
                </a:solidFill>
                <a:latin typeface="Calibri"/>
                <a:ea typeface="Calibri"/>
                <a:cs typeface="Calibri"/>
              </a:rPr>
              <a:t> extend the model to identify hidden payloads.</a:t>
            </a:r>
            <a:endParaRPr sz="1500" b="0" i="0" dirty="0">
              <a:solidFill>
                <a:srgbClr val="232D3C"/>
              </a:solidFill>
              <a:latin typeface="Calibri"/>
              <a:ea typeface="Calibri"/>
              <a:cs typeface="Calibri"/>
            </a:endParaRPr>
          </a:p>
          <a:p>
            <a:pPr algn="l">
              <a:lnSpc>
                <a:spcPct val="120000"/>
              </a:lnSpc>
              <a:spcAft>
                <a:spcPts val="1000"/>
              </a:spcAft>
              <a:defRPr sz="1500" b="0" i="0">
                <a:solidFill>
                  <a:srgbClr val="232D3C"/>
                </a:solidFill>
                <a:latin typeface="Calibri"/>
                <a:ea typeface="Calibri"/>
                <a:cs typeface="Calibri"/>
              </a:defRPr>
            </a:pPr>
            <a:r>
              <a:rPr sz="1500" b="0" i="0" dirty="0">
                <a:solidFill>
                  <a:srgbClr val="232D3C"/>
                </a:solidFill>
                <a:latin typeface="Calibri"/>
                <a:ea typeface="Calibri"/>
                <a:cs typeface="Calibri"/>
              </a:rPr>
              <a:t>• Conduct larger user-acceptance studies to assess clarity, usability, and the usefulness of protective actions.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txBox="1"/>
          <p:nvPr/>
        </p:nvSpPr>
        <p:spPr>
          <a:xfrm>
            <a:off x="548640" y="384048"/>
            <a:ext cx="11091672" cy="685800"/>
          </a:xfrm>
          <a:prstGeom prst="rect">
            <a:avLst/>
          </a:prstGeom>
          <a:noFill/>
        </p:spPr>
        <p:txBody>
          <a:bodyPr wrap="square" lIns="0" tIns="0" rIns="0" bIns="0" anchor="b">
            <a:spAutoFit/>
          </a:bodyPr>
          <a:lstStyle/>
          <a:p>
            <a:pPr algn="l">
              <a:spcAft>
                <a:spcPts val="0"/>
              </a:spcAft>
              <a:defRPr sz="2600" b="1" i="0">
                <a:solidFill>
                  <a:srgbClr val="142A5B"/>
                </a:solidFill>
                <a:latin typeface="Calibri"/>
                <a:ea typeface="Calibri"/>
                <a:cs typeface="Calibri"/>
              </a:defRPr>
            </a:pPr>
            <a:r>
              <a:rPr sz="2600" b="1" i="0">
                <a:solidFill>
                  <a:srgbClr val="142A5B"/>
                </a:solidFill>
                <a:latin typeface="Calibri"/>
                <a:ea typeface="Calibri"/>
                <a:cs typeface="Calibri"/>
              </a:rPr>
              <a:t>Conclusion</a:t>
            </a:r>
          </a:p>
        </p:txBody>
      </p:sp>
      <p:sp>
        <p:nvSpPr>
          <p:cNvPr id="9" name="Rounded Rectangle 8"/>
          <p:cNvSpPr/>
          <p:nvPr/>
        </p:nvSpPr>
        <p:spPr>
          <a:xfrm>
            <a:off x="548640" y="1280160"/>
            <a:ext cx="11091672" cy="2468880"/>
          </a:xfrm>
          <a:prstGeom prst="roundRect">
            <a:avLst>
              <a:gd name="adj" fmla="val 6000"/>
            </a:avLst>
          </a:prstGeom>
          <a:solidFill>
            <a:srgbClr val="F5F7FA"/>
          </a:solidFill>
          <a:ln w="9525">
            <a:solidFill>
              <a:srgbClr val="D8E0EA"/>
            </a:solidFill>
          </a:ln>
          <a:effectLst>
            <a:outerShdw blurRad="101600" dist="25400" dir="5400000" algn="t" rotWithShape="0">
              <a:srgbClr val="142A5B">
                <a:alpha val="14000"/>
              </a:srgbClr>
            </a:outerShdw>
          </a:effectLst>
        </p:spPr>
        <p:txBody>
          <a:bodyPr rtlCol="0" anchor="ctr"/>
          <a:lstStyle/>
          <a:p>
            <a:pPr algn="ctr"/>
            <a:endParaRPr/>
          </a:p>
        </p:txBody>
      </p:sp>
      <p:sp>
        <p:nvSpPr>
          <p:cNvPr id="10" name="TextBox 9"/>
          <p:cNvSpPr txBox="1"/>
          <p:nvPr/>
        </p:nvSpPr>
        <p:spPr>
          <a:xfrm>
            <a:off x="868680" y="1554480"/>
            <a:ext cx="10451592" cy="2011680"/>
          </a:xfrm>
          <a:prstGeom prst="rect">
            <a:avLst/>
          </a:prstGeom>
          <a:noFill/>
        </p:spPr>
        <p:txBody>
          <a:bodyPr wrap="square" lIns="0" tIns="0" rIns="0" bIns="0" anchor="t">
            <a:spAutoFit/>
          </a:bodyPr>
          <a:lstStyle/>
          <a:p>
            <a:pPr algn="l">
              <a:lnSpc>
                <a:spcPct val="135000"/>
              </a:lnSpc>
              <a:spcAft>
                <a:spcPts val="0"/>
              </a:spcAft>
              <a:defRPr sz="1700" b="0" i="0">
                <a:solidFill>
                  <a:srgbClr val="232D3C"/>
                </a:solidFill>
                <a:latin typeface="Calibri"/>
                <a:ea typeface="Calibri"/>
                <a:cs typeface="Calibri"/>
              </a:defRPr>
            </a:pPr>
            <a:r>
              <a:rPr sz="1700" b="0" i="0">
                <a:solidFill>
                  <a:srgbClr val="232D3C"/>
                </a:solidFill>
                <a:latin typeface="Calibri"/>
                <a:ea typeface="Calibri"/>
                <a:cs typeface="Calibri"/>
              </a:rPr>
              <a:t>This research project brings together AI-driven scam detection, explainable image steganography detection, and human-centred defense and awareness in a single email-security workflow. By combining different sources of threat evidence with risk-based protective responses and clear explanations, the system aims to help users recognise suspicious emails, understand why they may be dangerous, and respond more safely. Further evaluation and broader testing are important next steps toward improving reliability and real-world readiness.</a:t>
            </a:r>
          </a:p>
        </p:txBody>
      </p:sp>
      <p:sp>
        <p:nvSpPr>
          <p:cNvPr id="11" name="Rounded Rectangle 10"/>
          <p:cNvSpPr/>
          <p:nvPr/>
        </p:nvSpPr>
        <p:spPr>
          <a:xfrm>
            <a:off x="548640" y="4069080"/>
            <a:ext cx="3538728" cy="2148840"/>
          </a:xfrm>
          <a:prstGeom prst="roundRect">
            <a:avLst>
              <a:gd name="adj" fmla="val 6000"/>
            </a:avLst>
          </a:prstGeom>
          <a:solidFill>
            <a:srgbClr val="EBF3FC"/>
          </a:solidFill>
          <a:ln w="9525">
            <a:noFill/>
          </a:ln>
          <a:effectLst>
            <a:outerShdw blurRad="101600" dist="25400" dir="5400000" algn="t" rotWithShape="0">
              <a:srgbClr val="142A5B">
                <a:alpha val="14000"/>
              </a:srgbClr>
            </a:outerShdw>
          </a:effectLst>
        </p:spPr>
        <p:txBody>
          <a:bodyPr rtlCol="0" anchor="ctr"/>
          <a:lstStyle/>
          <a:p>
            <a:pPr algn="ctr"/>
            <a:endParaRPr/>
          </a:p>
        </p:txBody>
      </p:sp>
      <p:sp>
        <p:nvSpPr>
          <p:cNvPr id="12" name="TextBox 11"/>
          <p:cNvSpPr txBox="1"/>
          <p:nvPr/>
        </p:nvSpPr>
        <p:spPr>
          <a:xfrm>
            <a:off x="822960" y="4343400"/>
            <a:ext cx="3017520" cy="365760"/>
          </a:xfrm>
          <a:prstGeom prst="rect">
            <a:avLst/>
          </a:prstGeom>
          <a:noFill/>
        </p:spPr>
        <p:txBody>
          <a:bodyPr wrap="square" lIns="0" tIns="0" rIns="0" bIns="0" anchor="t">
            <a:spAutoFit/>
          </a:bodyPr>
          <a:lstStyle/>
          <a:p>
            <a:pPr algn="l">
              <a:spcAft>
                <a:spcPts val="0"/>
              </a:spcAft>
              <a:defRPr sz="1600" b="1" i="0">
                <a:solidFill>
                  <a:srgbClr val="2365B0"/>
                </a:solidFill>
                <a:latin typeface="Calibri"/>
                <a:ea typeface="Calibri"/>
                <a:cs typeface="Calibri"/>
              </a:defRPr>
            </a:pPr>
            <a:r>
              <a:rPr sz="1600" b="1" i="0">
                <a:solidFill>
                  <a:srgbClr val="2365B0"/>
                </a:solidFill>
                <a:latin typeface="Calibri"/>
                <a:ea typeface="Calibri"/>
                <a:cs typeface="Calibri"/>
              </a:rPr>
              <a:t>DETECT</a:t>
            </a:r>
          </a:p>
        </p:txBody>
      </p:sp>
      <p:sp>
        <p:nvSpPr>
          <p:cNvPr id="13" name="TextBox 12"/>
          <p:cNvSpPr txBox="1"/>
          <p:nvPr/>
        </p:nvSpPr>
        <p:spPr>
          <a:xfrm>
            <a:off x="822960" y="4800600"/>
            <a:ext cx="3017520" cy="1188720"/>
          </a:xfrm>
          <a:prstGeom prst="rect">
            <a:avLst/>
          </a:prstGeom>
          <a:noFill/>
        </p:spPr>
        <p:txBody>
          <a:bodyPr wrap="square" lIns="0" tIns="0" rIns="0" bIns="0" anchor="t">
            <a:spAutoFit/>
          </a:bodyPr>
          <a:lstStyle/>
          <a:p>
            <a:pPr algn="l">
              <a:lnSpc>
                <a:spcPct val="120000"/>
              </a:lnSpc>
              <a:spcAft>
                <a:spcPts val="0"/>
              </a:spcAft>
              <a:defRPr sz="1400" b="0" i="0">
                <a:solidFill>
                  <a:srgbClr val="232D3C"/>
                </a:solidFill>
                <a:latin typeface="Calibri"/>
                <a:ea typeface="Calibri"/>
                <a:cs typeface="Calibri"/>
              </a:defRPr>
            </a:pPr>
            <a:r>
              <a:rPr sz="1400" b="0" i="0">
                <a:solidFill>
                  <a:srgbClr val="232D3C"/>
                </a:solidFill>
                <a:latin typeface="Calibri"/>
                <a:ea typeface="Calibri"/>
                <a:cs typeface="Calibri"/>
              </a:rPr>
              <a:t>Identify suspicious email and image signals</a:t>
            </a:r>
          </a:p>
        </p:txBody>
      </p:sp>
      <p:sp>
        <p:nvSpPr>
          <p:cNvPr id="14" name="Rounded Rectangle 13"/>
          <p:cNvSpPr/>
          <p:nvPr/>
        </p:nvSpPr>
        <p:spPr>
          <a:xfrm>
            <a:off x="4325112" y="4069080"/>
            <a:ext cx="3538728" cy="2148840"/>
          </a:xfrm>
          <a:prstGeom prst="roundRect">
            <a:avLst>
              <a:gd name="adj" fmla="val 6000"/>
            </a:avLst>
          </a:prstGeom>
          <a:solidFill>
            <a:srgbClr val="EAF5EE"/>
          </a:solidFill>
          <a:ln w="9525">
            <a:noFill/>
          </a:ln>
          <a:effectLst>
            <a:outerShdw blurRad="101600" dist="25400" dir="5400000" algn="t" rotWithShape="0">
              <a:srgbClr val="142A5B">
                <a:alpha val="14000"/>
              </a:srgbClr>
            </a:outerShdw>
          </a:effectLst>
        </p:spPr>
        <p:txBody>
          <a:bodyPr rtlCol="0" anchor="ctr"/>
          <a:lstStyle/>
          <a:p>
            <a:pPr algn="ctr"/>
            <a:endParaRPr/>
          </a:p>
        </p:txBody>
      </p:sp>
      <p:sp>
        <p:nvSpPr>
          <p:cNvPr id="15" name="TextBox 14"/>
          <p:cNvSpPr txBox="1"/>
          <p:nvPr/>
        </p:nvSpPr>
        <p:spPr>
          <a:xfrm>
            <a:off x="4599432" y="4343400"/>
            <a:ext cx="3017520" cy="365760"/>
          </a:xfrm>
          <a:prstGeom prst="rect">
            <a:avLst/>
          </a:prstGeom>
          <a:noFill/>
        </p:spPr>
        <p:txBody>
          <a:bodyPr wrap="square" lIns="0" tIns="0" rIns="0" bIns="0" anchor="t">
            <a:spAutoFit/>
          </a:bodyPr>
          <a:lstStyle/>
          <a:p>
            <a:pPr algn="l">
              <a:spcAft>
                <a:spcPts val="0"/>
              </a:spcAft>
              <a:defRPr sz="1600" b="1" i="0">
                <a:solidFill>
                  <a:srgbClr val="328456"/>
                </a:solidFill>
                <a:latin typeface="Calibri"/>
                <a:ea typeface="Calibri"/>
                <a:cs typeface="Calibri"/>
              </a:defRPr>
            </a:pPr>
            <a:r>
              <a:rPr sz="1600" b="1" i="0">
                <a:solidFill>
                  <a:srgbClr val="328456"/>
                </a:solidFill>
                <a:latin typeface="Calibri"/>
                <a:ea typeface="Calibri"/>
                <a:cs typeface="Calibri"/>
              </a:rPr>
              <a:t>EXPLAIN</a:t>
            </a:r>
          </a:p>
        </p:txBody>
      </p:sp>
      <p:sp>
        <p:nvSpPr>
          <p:cNvPr id="16" name="TextBox 15"/>
          <p:cNvSpPr txBox="1"/>
          <p:nvPr/>
        </p:nvSpPr>
        <p:spPr>
          <a:xfrm>
            <a:off x="4599432" y="4800600"/>
            <a:ext cx="3017520" cy="1188720"/>
          </a:xfrm>
          <a:prstGeom prst="rect">
            <a:avLst/>
          </a:prstGeom>
          <a:noFill/>
        </p:spPr>
        <p:txBody>
          <a:bodyPr wrap="square" lIns="0" tIns="0" rIns="0" bIns="0" anchor="t">
            <a:spAutoFit/>
          </a:bodyPr>
          <a:lstStyle/>
          <a:p>
            <a:pPr algn="l">
              <a:lnSpc>
                <a:spcPct val="120000"/>
              </a:lnSpc>
              <a:spcAft>
                <a:spcPts val="0"/>
              </a:spcAft>
              <a:defRPr sz="1400" b="0" i="0">
                <a:solidFill>
                  <a:srgbClr val="232D3C"/>
                </a:solidFill>
                <a:latin typeface="Calibri"/>
                <a:ea typeface="Calibri"/>
                <a:cs typeface="Calibri"/>
              </a:defRPr>
            </a:pPr>
            <a:r>
              <a:rPr sz="1400" b="0" i="0">
                <a:solidFill>
                  <a:srgbClr val="232D3C"/>
                </a:solidFill>
                <a:latin typeface="Calibri"/>
                <a:ea typeface="Calibri"/>
                <a:cs typeface="Calibri"/>
              </a:rPr>
              <a:t>Show evidence behind the findings</a:t>
            </a:r>
          </a:p>
        </p:txBody>
      </p:sp>
      <p:sp>
        <p:nvSpPr>
          <p:cNvPr id="17" name="Rounded Rectangle 16"/>
          <p:cNvSpPr/>
          <p:nvPr/>
        </p:nvSpPr>
        <p:spPr>
          <a:xfrm>
            <a:off x="8101584" y="4069080"/>
            <a:ext cx="3538728" cy="2148840"/>
          </a:xfrm>
          <a:prstGeom prst="roundRect">
            <a:avLst>
              <a:gd name="adj" fmla="val 6000"/>
            </a:avLst>
          </a:prstGeom>
          <a:solidFill>
            <a:srgbClr val="FDF1E7"/>
          </a:solidFill>
          <a:ln w="9525">
            <a:noFill/>
          </a:ln>
          <a:effectLst>
            <a:outerShdw blurRad="101600" dist="25400" dir="5400000" algn="t" rotWithShape="0">
              <a:srgbClr val="142A5B">
                <a:alpha val="14000"/>
              </a:srgbClr>
            </a:outerShdw>
          </a:effectLst>
        </p:spPr>
        <p:txBody>
          <a:bodyPr rtlCol="0" anchor="ctr"/>
          <a:lstStyle/>
          <a:p>
            <a:pPr algn="ctr"/>
            <a:endParaRPr/>
          </a:p>
        </p:txBody>
      </p:sp>
      <p:sp>
        <p:nvSpPr>
          <p:cNvPr id="18" name="TextBox 17"/>
          <p:cNvSpPr txBox="1"/>
          <p:nvPr/>
        </p:nvSpPr>
        <p:spPr>
          <a:xfrm>
            <a:off x="8375904" y="4343400"/>
            <a:ext cx="3017520" cy="365760"/>
          </a:xfrm>
          <a:prstGeom prst="rect">
            <a:avLst/>
          </a:prstGeom>
          <a:noFill/>
        </p:spPr>
        <p:txBody>
          <a:bodyPr wrap="square" lIns="0" tIns="0" rIns="0" bIns="0" anchor="t">
            <a:spAutoFit/>
          </a:bodyPr>
          <a:lstStyle/>
          <a:p>
            <a:pPr algn="l">
              <a:spcAft>
                <a:spcPts val="0"/>
              </a:spcAft>
              <a:defRPr sz="1600" b="1" i="0">
                <a:solidFill>
                  <a:srgbClr val="C25E12"/>
                </a:solidFill>
                <a:latin typeface="Calibri"/>
                <a:ea typeface="Calibri"/>
                <a:cs typeface="Calibri"/>
              </a:defRPr>
            </a:pPr>
            <a:r>
              <a:rPr sz="1600" b="1" i="0">
                <a:solidFill>
                  <a:srgbClr val="C25E12"/>
                </a:solidFill>
                <a:latin typeface="Calibri"/>
                <a:ea typeface="Calibri"/>
                <a:cs typeface="Calibri"/>
              </a:rPr>
              <a:t>DEFEND</a:t>
            </a:r>
          </a:p>
        </p:txBody>
      </p:sp>
      <p:sp>
        <p:nvSpPr>
          <p:cNvPr id="19" name="TextBox 18"/>
          <p:cNvSpPr txBox="1"/>
          <p:nvPr/>
        </p:nvSpPr>
        <p:spPr>
          <a:xfrm>
            <a:off x="8375904" y="4800600"/>
            <a:ext cx="3017520" cy="1188720"/>
          </a:xfrm>
          <a:prstGeom prst="rect">
            <a:avLst/>
          </a:prstGeom>
          <a:noFill/>
        </p:spPr>
        <p:txBody>
          <a:bodyPr wrap="square" lIns="0" tIns="0" rIns="0" bIns="0" anchor="t">
            <a:spAutoFit/>
          </a:bodyPr>
          <a:lstStyle/>
          <a:p>
            <a:pPr algn="l">
              <a:lnSpc>
                <a:spcPct val="120000"/>
              </a:lnSpc>
              <a:spcAft>
                <a:spcPts val="0"/>
              </a:spcAft>
              <a:defRPr sz="1400" b="0" i="0">
                <a:solidFill>
                  <a:srgbClr val="232D3C"/>
                </a:solidFill>
                <a:latin typeface="Calibri"/>
                <a:ea typeface="Calibri"/>
                <a:cs typeface="Calibri"/>
              </a:defRPr>
            </a:pPr>
            <a:r>
              <a:rPr sz="1400" b="0" i="0">
                <a:solidFill>
                  <a:srgbClr val="232D3C"/>
                </a:solidFill>
                <a:latin typeface="Calibri"/>
                <a:ea typeface="Calibri"/>
                <a:cs typeface="Calibri"/>
              </a:rPr>
              <a:t>Support safer user decisions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7B460AC9-9D3D-894F-CD48-EDB19375A66B}"/>
              </a:ext>
            </a:extLst>
          </p:cNvPr>
          <p:cNvSpPr/>
          <p:nvPr/>
        </p:nvSpPr>
        <p:spPr>
          <a:xfrm>
            <a:off x="5689795" y="1739267"/>
            <a:ext cx="1195047" cy="1253302"/>
          </a:xfrm>
          <a:prstGeom prst="ellipse">
            <a:avLst/>
          </a:prstGeom>
          <a:solidFill>
            <a:srgbClr val="1B2A4A"/>
          </a:solidFill>
          <a:ln/>
        </p:spPr>
        <p:txBody>
          <a:bodyPr/>
          <a:lstStyle/>
          <a:p>
            <a:endParaRPr lang="en-US" sz="1440"/>
          </a:p>
        </p:txBody>
      </p:sp>
      <p:pic>
        <p:nvPicPr>
          <p:cNvPr id="5" name="Image 0" descr="icons/play_circle_FFFFFF.png">
            <a:extLst>
              <a:ext uri="{FF2B5EF4-FFF2-40B4-BE49-F238E27FC236}">
                <a16:creationId xmlns:a16="http://schemas.microsoft.com/office/drawing/2014/main" id="{EDAA50C9-4302-B24C-2A8E-9CEA19F42FDD}"/>
              </a:ext>
            </a:extLst>
          </p:cNvPr>
          <p:cNvPicPr>
            <a:picLocks noChangeAspect="1"/>
          </p:cNvPicPr>
          <p:nvPr/>
        </p:nvPicPr>
        <p:blipFill>
          <a:blip r:embed="rId2"/>
          <a:stretch>
            <a:fillRect/>
          </a:stretch>
        </p:blipFill>
        <p:spPr>
          <a:xfrm>
            <a:off x="5817223" y="1901396"/>
            <a:ext cx="940193" cy="929045"/>
          </a:xfrm>
          <a:prstGeom prst="rect">
            <a:avLst/>
          </a:prstGeom>
        </p:spPr>
      </p:pic>
      <p:sp>
        <p:nvSpPr>
          <p:cNvPr id="7" name="Text 1">
            <a:extLst>
              <a:ext uri="{FF2B5EF4-FFF2-40B4-BE49-F238E27FC236}">
                <a16:creationId xmlns:a16="http://schemas.microsoft.com/office/drawing/2014/main" id="{7638C472-0340-183A-8EAD-867A0BF9DD50}"/>
              </a:ext>
            </a:extLst>
          </p:cNvPr>
          <p:cNvSpPr/>
          <p:nvPr/>
        </p:nvSpPr>
        <p:spPr>
          <a:xfrm>
            <a:off x="2261737" y="3581523"/>
            <a:ext cx="8290316" cy="512064"/>
          </a:xfrm>
          <a:prstGeom prst="rect">
            <a:avLst/>
          </a:prstGeom>
          <a:noFill/>
          <a:ln/>
        </p:spPr>
        <p:txBody>
          <a:bodyPr wrap="square" lIns="0" tIns="0" rIns="0" bIns="0" rtlCol="0" anchor="ctr"/>
          <a:lstStyle/>
          <a:p>
            <a:pPr algn="ctr"/>
            <a:r>
              <a:rPr lang="en-US" sz="3200" b="1" dirty="0">
                <a:solidFill>
                  <a:srgbClr val="1B2A4A"/>
                </a:solidFill>
                <a:effectLst>
                  <a:outerShdw blurRad="38100" dist="38100" dir="2700000" algn="tl">
                    <a:srgbClr val="000000">
                      <a:alpha val="43137"/>
                    </a:srgbClr>
                  </a:outerShdw>
                </a:effectLst>
                <a:latin typeface="Cambria" pitchFamily="34" charset="0"/>
                <a:ea typeface="Cambria" pitchFamily="34" charset="-122"/>
                <a:cs typeface="Cambria" pitchFamily="34" charset="-120"/>
              </a:rPr>
              <a:t>Live System Demonstration</a:t>
            </a:r>
            <a:endParaRPr lang="en-US" sz="3200" dirty="0">
              <a:effectLst>
                <a:outerShdw blurRad="38100" dist="38100" dir="2700000" algn="tl">
                  <a:srgbClr val="000000">
                    <a:alpha val="43137"/>
                  </a:srgbClr>
                </a:outerShdw>
              </a:effectLst>
            </a:endParaRPr>
          </a:p>
        </p:txBody>
      </p:sp>
      <p:sp>
        <p:nvSpPr>
          <p:cNvPr id="9" name="Text 2">
            <a:extLst>
              <a:ext uri="{FF2B5EF4-FFF2-40B4-BE49-F238E27FC236}">
                <a16:creationId xmlns:a16="http://schemas.microsoft.com/office/drawing/2014/main" id="{D7187C25-1135-9A5B-3334-30D2C476AD6A}"/>
              </a:ext>
            </a:extLst>
          </p:cNvPr>
          <p:cNvSpPr/>
          <p:nvPr/>
        </p:nvSpPr>
        <p:spPr>
          <a:xfrm>
            <a:off x="2764888" y="4633083"/>
            <a:ext cx="7558796" cy="365760"/>
          </a:xfrm>
          <a:prstGeom prst="rect">
            <a:avLst/>
          </a:prstGeom>
          <a:noFill/>
          <a:ln/>
        </p:spPr>
        <p:txBody>
          <a:bodyPr wrap="square" lIns="0" tIns="0" rIns="0" bIns="0" rtlCol="0" anchor="ctr"/>
          <a:lstStyle/>
          <a:p>
            <a:pPr algn="ctr"/>
            <a:r>
              <a:rPr lang="en-US" sz="1600" b="1" i="1" dirty="0">
                <a:solidFill>
                  <a:srgbClr val="5A6472"/>
                </a:solidFill>
                <a:latin typeface="Cambria" panose="02040503050406030204" pitchFamily="18" charset="0"/>
                <a:ea typeface="Cambria" panose="02040503050406030204" pitchFamily="18" charset="0"/>
                <a:cs typeface="Calibri" pitchFamily="34" charset="-120"/>
              </a:rPr>
              <a:t>We now invite the panel to view a live demonstration of the system in action.</a:t>
            </a:r>
            <a:endParaRPr lang="en-US" sz="1600" b="1" dirty="0">
              <a:latin typeface="Cambria" panose="02040503050406030204" pitchFamily="18" charset="0"/>
              <a:ea typeface="Cambria" panose="02040503050406030204" pitchFamily="18" charset="0"/>
            </a:endParaRPr>
          </a:p>
        </p:txBody>
      </p:sp>
      <p:sp>
        <p:nvSpPr>
          <p:cNvPr id="17" name="Shape 7">
            <a:extLst>
              <a:ext uri="{FF2B5EF4-FFF2-40B4-BE49-F238E27FC236}">
                <a16:creationId xmlns:a16="http://schemas.microsoft.com/office/drawing/2014/main" id="{518F6C4A-2DED-7D0A-5794-FE63C723EBBA}"/>
              </a:ext>
            </a:extLst>
          </p:cNvPr>
          <p:cNvSpPr/>
          <p:nvPr/>
        </p:nvSpPr>
        <p:spPr>
          <a:xfrm>
            <a:off x="5498036" y="4299834"/>
            <a:ext cx="1755648" cy="0"/>
          </a:xfrm>
          <a:prstGeom prst="line">
            <a:avLst/>
          </a:prstGeom>
          <a:noFill/>
          <a:ln w="12700">
            <a:solidFill>
              <a:srgbClr val="D8DEE8"/>
            </a:solidFill>
            <a:prstDash val="solid"/>
          </a:ln>
        </p:spPr>
        <p:txBody>
          <a:bodyPr/>
          <a:lstStyle/>
          <a:p>
            <a:endParaRPr lang="en-US" sz="1440"/>
          </a:p>
        </p:txBody>
      </p:sp>
    </p:spTree>
    <p:extLst>
      <p:ext uri="{BB962C8B-B14F-4D97-AF65-F5344CB8AC3E}">
        <p14:creationId xmlns:p14="http://schemas.microsoft.com/office/powerpoint/2010/main" val="841285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784</Words>
  <Application>Microsoft Office PowerPoint</Application>
  <PresentationFormat>Widescreen</PresentationFormat>
  <Paragraphs>79</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Research Presentation — Revised</dc:title>
  <dc:subject>Research problem and solution, three components, limitations, future work, conclusion</dc:subject>
  <dc:creator>Research Project Group</dc:creator>
  <cp:keywords/>
  <dc:description>generated using python-pptx</dc:description>
  <cp:lastModifiedBy>PRIYADEWA P D J C it22628718</cp:lastModifiedBy>
  <cp:revision>38</cp:revision>
  <dcterms:created xsi:type="dcterms:W3CDTF">2013-01-27T09:14:16Z</dcterms:created>
  <dcterms:modified xsi:type="dcterms:W3CDTF">2026-10-20T04:30:33Z</dcterms:modified>
  <cp:category/>
</cp:coreProperties>
</file>