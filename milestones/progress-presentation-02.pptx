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71" r:id="rId5"/>
    <p:sldId id="272" r:id="rId6"/>
    <p:sldId id="274" r:id="rId7"/>
    <p:sldId id="256" r:id="rId8"/>
    <p:sldId id="257" r:id="rId9"/>
    <p:sldId id="258" r:id="rId10"/>
    <p:sldId id="259" r:id="rId11"/>
    <p:sldId id="298" r:id="rId12"/>
    <p:sldId id="289" r:id="rId13"/>
    <p:sldId id="296" r:id="rId14"/>
    <p:sldId id="297" r:id="rId15"/>
    <p:sldId id="293" r:id="rId16"/>
    <p:sldId id="290" r:id="rId17"/>
    <p:sldId id="291" r:id="rId18"/>
    <p:sldId id="292" r:id="rId19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4" autoAdjust="0"/>
    <p:restoredTop sz="94660"/>
  </p:normalViewPr>
  <p:slideViewPr>
    <p:cSldViewPr snapToGrid="0">
      <p:cViewPr varScale="1">
        <p:scale>
          <a:sx n="63" d="100"/>
          <a:sy n="63" d="100"/>
        </p:scale>
        <p:origin x="12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(rule-based)</c:v>
                </c:pt>
              </c:strCache>
            </c:strRef>
          </c:tx>
          <c:spPr>
            <a:solidFill>
              <a:srgbClr val="C9D2E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2024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 1</c:v>
                </c:pt>
                <c:pt idx="1">
                  <c:v>Comp 2</c:v>
                </c:pt>
                <c:pt idx="2">
                  <c:v>Comp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0.71</c:v>
                </c:pt>
                <c:pt idx="2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35-4CD7-A17C-5DBB174BED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(trained ML/DL)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2024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 1</c:v>
                </c:pt>
                <c:pt idx="1">
                  <c:v>Comp 2</c:v>
                </c:pt>
                <c:pt idx="2">
                  <c:v>Comp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0.95</c:v>
                </c:pt>
                <c:pt idx="1">
                  <c:v>0.87</c:v>
                </c:pt>
                <c:pt idx="2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35-4CD7-A17C-5DBB174BED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02A4F3-13C8-5DA7-84B7-4EC9EEE752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A29CA-5060-C0BC-413C-396A448B04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E6081-0B4B-4169-BD3B-C22D3DCB5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A8618-6E6A-4366-36AB-405CEC355F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Progress Presentation 2 | RP - CS - 011 | </a:t>
            </a:r>
            <a:r>
              <a:rPr lang="en-US" dirty="0" err="1"/>
              <a:t>Specialzing</a:t>
            </a:r>
            <a:r>
              <a:rPr lang="en-US" dirty="0"/>
              <a:t> In Cyber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71BE5-E840-B1DC-ABB3-2A4D7A8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D59F6-0FE1-4B27-B429-EB432929B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5596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Progress Presentation 2 | RP - CS - 011 | Specialzing In Cyber Security</a:t>
            </a:r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48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1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2BC16-EFA8-AF20-BF81-B46BF13B0520}"/>
              </a:ext>
            </a:extLst>
          </p:cNvPr>
          <p:cNvSpPr txBox="1"/>
          <p:nvPr/>
        </p:nvSpPr>
        <p:spPr>
          <a:xfrm>
            <a:off x="628650" y="979026"/>
            <a:ext cx="13982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Detect, Defense and Awareness System for AI-Driven Scams</a:t>
            </a:r>
            <a:endParaRPr lang="en-US" sz="3600" dirty="0"/>
          </a:p>
          <a:p>
            <a:pPr algn="ctr"/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4D6E4-6E43-F4EA-F81C-212AA0F31852}"/>
              </a:ext>
            </a:extLst>
          </p:cNvPr>
          <p:cNvSpPr txBox="1"/>
          <p:nvPr/>
        </p:nvSpPr>
        <p:spPr>
          <a:xfrm>
            <a:off x="3802290" y="2498078"/>
            <a:ext cx="8460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kern="0" spc="100" dirty="0">
                <a:solidFill>
                  <a:srgbClr val="5A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PROGRESS PRESENTATION 2  —  RESEARCH PROJECT (IT4010)  •  2026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5CB03-82D9-3663-BA47-0442A341DB2B}"/>
              </a:ext>
            </a:extLst>
          </p:cNvPr>
          <p:cNvSpPr txBox="1"/>
          <p:nvPr/>
        </p:nvSpPr>
        <p:spPr>
          <a:xfrm>
            <a:off x="4604559" y="3144409"/>
            <a:ext cx="6291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2E509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Specializing in Cyber Security   |   SLIIT — Faculty of Computing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A0F31DA-19B1-B5C2-7CD2-12C48D183A1B}"/>
              </a:ext>
            </a:extLst>
          </p:cNvPr>
          <p:cNvSpPr/>
          <p:nvPr/>
        </p:nvSpPr>
        <p:spPr>
          <a:xfrm>
            <a:off x="2072794" y="3917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B2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Group ID: </a:t>
            </a:r>
            <a:r>
              <a:rPr lang="en-US" sz="14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RP-CS-011      </a:t>
            </a:r>
            <a:r>
              <a:rPr lang="en-US" sz="1400" b="1" dirty="0">
                <a:solidFill>
                  <a:srgbClr val="1B2A4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Supervisor: </a:t>
            </a:r>
            <a:r>
              <a:rPr lang="en-US" sz="14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Mr. Dinith Primal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F1CC516B-ADA5-C202-3CF7-D5E96889F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03672"/>
              </p:ext>
            </p:extLst>
          </p:nvPr>
        </p:nvGraphicFramePr>
        <p:xfrm>
          <a:off x="2504792" y="4715779"/>
          <a:ext cx="10230417" cy="2304580"/>
        </p:xfrm>
        <a:graphic>
          <a:graphicData uri="http://schemas.openxmlformats.org/drawingml/2006/table">
            <a:tbl>
              <a:tblPr/>
              <a:tblGrid>
                <a:gridCol w="216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6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1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IT Number</a:t>
                      </a:r>
                      <a:endParaRPr lang="en-US" sz="145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US" sz="145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Co-Topic</a:t>
                      </a:r>
                      <a:endParaRPr lang="en-US" sz="145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1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IT22277268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20242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Aberathna</a:t>
                      </a:r>
                      <a:r>
                        <a:rPr lang="en-US" sz="1400" b="1" dirty="0">
                          <a:solidFill>
                            <a:srgbClr val="20242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 H M </a:t>
                      </a:r>
                      <a:r>
                        <a:rPr lang="en-US" sz="1400" b="1" dirty="0" err="1">
                          <a:solidFill>
                            <a:srgbClr val="20242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</a:t>
                      </a:r>
                      <a:r>
                        <a:rPr lang="en-US" sz="1400" b="1" dirty="0">
                          <a:solidFill>
                            <a:srgbClr val="20242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 K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Lightweight </a:t>
                      </a:r>
                      <a:r>
                        <a:rPr lang="en-AU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Defense</a:t>
                      </a:r>
                      <a:r>
                        <a:rPr lang="en-AU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Model  for AI-Driven Scams</a:t>
                      </a:r>
                      <a:endParaRPr lang="en-US" sz="1400" b="1" dirty="0"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1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IT22299048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Vidara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 V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 Centered Defense &amp; Detect System For AI – Driven Scams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1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IT22628718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Priyadewa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 D J 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Explainable AI – Based Steganographic Image Detection in Email Attachments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0">
            <a:extLst>
              <a:ext uri="{FF2B5EF4-FFF2-40B4-BE49-F238E27FC236}">
                <a16:creationId xmlns:a16="http://schemas.microsoft.com/office/drawing/2014/main" id="{0893DB65-A581-1DC1-2F2B-0ED32C551C5B}"/>
              </a:ext>
            </a:extLst>
          </p:cNvPr>
          <p:cNvSpPr/>
          <p:nvPr/>
        </p:nvSpPr>
        <p:spPr>
          <a:xfrm>
            <a:off x="0" y="-1"/>
            <a:ext cx="15240000" cy="332695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0B2E83-135E-4FBF-FCA4-7BBBEAB1A497}"/>
              </a:ext>
            </a:extLst>
          </p:cNvPr>
          <p:cNvSpPr>
            <a:spLocks noGrp="1"/>
          </p:cNvSpPr>
          <p:nvPr/>
        </p:nvSpPr>
        <p:spPr>
          <a:xfrm>
            <a:off x="1000125" y="2304495"/>
            <a:ext cx="13239750" cy="9525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78666B-4A53-8A14-7398-6B1CCFE5E849}"/>
              </a:ext>
            </a:extLst>
          </p:cNvPr>
          <p:cNvSpPr txBox="1"/>
          <p:nvPr/>
        </p:nvSpPr>
        <p:spPr>
          <a:xfrm>
            <a:off x="3726090" y="7479174"/>
            <a:ext cx="8303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Detection Pipeline ·  Defense &amp; Awareness ·  Steganographic Image Detection </a:t>
            </a:r>
          </a:p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234172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F8B9E3-F5B3-2C62-D833-55D18D1DF445}"/>
              </a:ext>
            </a:extLst>
          </p:cNvPr>
          <p:cNvSpPr txBox="1"/>
          <p:nvPr/>
        </p:nvSpPr>
        <p:spPr>
          <a:xfrm>
            <a:off x="723900" y="456397"/>
            <a:ext cx="1310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Progress Presentation 1’s — Comments &amp; How We Addressed Them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37E4809D-176A-722F-EB60-B4F12FF73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22389"/>
              </p:ext>
            </p:extLst>
          </p:nvPr>
        </p:nvGraphicFramePr>
        <p:xfrm>
          <a:off x="887731" y="1693651"/>
          <a:ext cx="13418819" cy="5846674"/>
        </p:xfrm>
        <a:graphic>
          <a:graphicData uri="http://schemas.openxmlformats.org/drawingml/2006/table">
            <a:tbl>
              <a:tblPr/>
              <a:tblGrid>
                <a:gridCol w="172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8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ID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Panel Comments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We Addressed It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IT22277268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System is still not integrated.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System Integrated.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Input has to be copied and pasted.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Thunderbird Web Extension automatically captures displayed email content and sends it to the backend without manual input.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 score calculation is not presented clearly.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Displays the final 0–100 risk score and Low/Medium/High label with a breakdown of pre-filter flags,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ScamClassifier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confidence, and AI-generation likelihood.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IT22299048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 proof of existing system not using phycological factors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 removed the unsupported claim that existing systems do not use psychological factors. Instead, Component 2 explicitly integrates psychological scam triggers such as urgency, authority, fear, reward, scarcity, and financial pressure.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IT22628718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component change was not     approved.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Discussed the component change with my supervisor and formally emailed the CDAP team and panel members requesting approval for the change.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 upload/location in Google </a:t>
                      </a:r>
                      <a:r>
                        <a:rPr lang="en-US" sz="1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Colab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was unclear.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Moved training from Google </a:t>
                      </a:r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Colab</a:t>
                      </a: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local PC with RTX 5060 GPU and organized the dataset inside the project folder.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Demo was hard-coded and not based on real data.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Developed a fully functional Flask dashboard using real Thunderbird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.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eml</a:t>
                      </a: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files, real image attachments, AI predictions, and Grad-CAM heatmaps.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66625E0-F39C-070E-90EE-106EC17CF09A}"/>
              </a:ext>
            </a:extLst>
          </p:cNvPr>
          <p:cNvSpPr>
            <a:spLocks noGrp="1"/>
          </p:cNvSpPr>
          <p:nvPr/>
        </p:nvSpPr>
        <p:spPr>
          <a:xfrm>
            <a:off x="857250" y="1161495"/>
            <a:ext cx="13239750" cy="9525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258052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7C54E-8EFD-8C99-B13F-C5D39A8B83A0}"/>
              </a:ext>
            </a:extLst>
          </p:cNvPr>
          <p:cNvSpPr txBox="1"/>
          <p:nvPr/>
        </p:nvSpPr>
        <p:spPr>
          <a:xfrm>
            <a:off x="787400" y="1470094"/>
            <a:ext cx="13665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WELCOME TO</a:t>
            </a:r>
          </a:p>
          <a:p>
            <a:pPr algn="ctr"/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 Lightweight Detect, Defense &amp; Awareness System for AI-Driven Scams</a:t>
            </a:r>
          </a:p>
          <a:p>
            <a:pPr algn="ctr"/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269434-1D52-9FBE-3637-C4C6465C4A31}"/>
              </a:ext>
            </a:extLst>
          </p:cNvPr>
          <p:cNvSpPr/>
          <p:nvPr/>
        </p:nvSpPr>
        <p:spPr>
          <a:xfrm>
            <a:off x="6614160" y="5257798"/>
            <a:ext cx="201168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34142-8A1C-80D5-B8E9-F22CE5E07721}"/>
              </a:ext>
            </a:extLst>
          </p:cNvPr>
          <p:cNvSpPr>
            <a:spLocks noGrp="1"/>
          </p:cNvSpPr>
          <p:nvPr/>
        </p:nvSpPr>
        <p:spPr>
          <a:xfrm>
            <a:off x="990600" y="952500"/>
            <a:ext cx="13239750" cy="9525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93098-4418-FD32-614A-F7523706C147}"/>
              </a:ext>
            </a:extLst>
          </p:cNvPr>
          <p:cNvSpPr txBox="1"/>
          <p:nvPr/>
        </p:nvSpPr>
        <p:spPr>
          <a:xfrm>
            <a:off x="1384805" y="6190749"/>
            <a:ext cx="13220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privacy-preserving Thunderbird add-on for AI-authorship-aware scam detection, adaptive defense, and steganographic image analysis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4066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1" y="400050"/>
            <a:ext cx="139823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28651" y="1051560"/>
            <a:ext cx="1398231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Detect, Defense and Awareness System for AI-Driven Scams</a:t>
            </a:r>
            <a:endParaRPr lang="en-US" sz="1625" dirty="0"/>
          </a:p>
        </p:txBody>
      </p:sp>
      <p:sp>
        <p:nvSpPr>
          <p:cNvPr id="4" name="Shape 2"/>
          <p:cNvSpPr/>
          <p:nvPr/>
        </p:nvSpPr>
        <p:spPr>
          <a:xfrm>
            <a:off x="628650" y="1714500"/>
            <a:ext cx="6343650" cy="6057900"/>
          </a:xfrm>
          <a:prstGeom prst="roundRect">
            <a:avLst>
              <a:gd name="adj" fmla="val 1509"/>
            </a:avLst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5" name="Shape 3"/>
          <p:cNvSpPr/>
          <p:nvPr/>
        </p:nvSpPr>
        <p:spPr>
          <a:xfrm>
            <a:off x="1028700" y="2114550"/>
            <a:ext cx="708660" cy="7086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6" name="Image 0" descr="icons/alert_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40" y="2199590"/>
            <a:ext cx="538581" cy="5385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3100" y="2171700"/>
            <a:ext cx="474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75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2375" dirty="0"/>
          </a:p>
        </p:txBody>
      </p:sp>
      <p:sp>
        <p:nvSpPr>
          <p:cNvPr id="8" name="Text 5"/>
          <p:cNvSpPr/>
          <p:nvPr/>
        </p:nvSpPr>
        <p:spPr>
          <a:xfrm>
            <a:off x="1028700" y="2971800"/>
            <a:ext cx="5543550" cy="445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  <a:spcAft>
                <a:spcPts val="1250"/>
              </a:spcAft>
            </a:pPr>
            <a:r>
              <a:rPr lang="en-US" sz="1688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scam emails are fluent enough to evade filters built for human-authored scam patterns, opening a widening detection gap. </a:t>
            </a:r>
            <a:endParaRPr lang="en-US" sz="1688" dirty="0"/>
          </a:p>
          <a:p>
            <a:pPr>
              <a:lnSpc>
                <a:spcPct val="118000"/>
              </a:lnSpc>
              <a:spcAft>
                <a:spcPts val="1250"/>
              </a:spcAft>
            </a:pPr>
            <a:r>
              <a:rPr lang="en-US" sz="1688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Individuals, SMEs without security teams, and non-technical or vulnerable users carry the risk directly. </a:t>
            </a:r>
            <a:endParaRPr lang="en-US" sz="1688" dirty="0"/>
          </a:p>
          <a:p>
            <a:pPr>
              <a:lnSpc>
                <a:spcPct val="118000"/>
              </a:lnSpc>
            </a:pPr>
            <a:r>
              <a:rPr lang="en-US" sz="1688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alone gives no lasting protection — users stay just as vulnerable to the next, differently worded attack.</a:t>
            </a:r>
            <a:endParaRPr lang="en-US" sz="1688" dirty="0"/>
          </a:p>
        </p:txBody>
      </p:sp>
      <p:sp>
        <p:nvSpPr>
          <p:cNvPr id="9" name="Shape 6"/>
          <p:cNvSpPr/>
          <p:nvPr/>
        </p:nvSpPr>
        <p:spPr>
          <a:xfrm>
            <a:off x="7258050" y="1714500"/>
            <a:ext cx="7372350" cy="6057900"/>
          </a:xfrm>
          <a:prstGeom prst="roundRect">
            <a:avLst>
              <a:gd name="adj" fmla="val 1509"/>
            </a:avLst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10" name="Shape 7"/>
          <p:cNvSpPr/>
          <p:nvPr/>
        </p:nvSpPr>
        <p:spPr>
          <a:xfrm>
            <a:off x="7658100" y="2114550"/>
            <a:ext cx="708660" cy="708660"/>
          </a:xfrm>
          <a:prstGeom prst="ellipse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11" name="Image 1" descr="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140" y="2199590"/>
            <a:ext cx="538581" cy="5385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72500" y="2171700"/>
            <a:ext cx="5772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7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→ Objectives</a:t>
            </a:r>
            <a:endParaRPr lang="en-US" sz="2375" dirty="0"/>
          </a:p>
        </p:txBody>
      </p:sp>
      <p:sp>
        <p:nvSpPr>
          <p:cNvPr id="13" name="Shape 9"/>
          <p:cNvSpPr/>
          <p:nvPr/>
        </p:nvSpPr>
        <p:spPr>
          <a:xfrm>
            <a:off x="7658100" y="2994660"/>
            <a:ext cx="6572250" cy="9829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 sz="2250"/>
          </a:p>
        </p:txBody>
      </p:sp>
      <p:sp>
        <p:nvSpPr>
          <p:cNvPr id="14" name="Text 10"/>
          <p:cNvSpPr/>
          <p:nvPr/>
        </p:nvSpPr>
        <p:spPr>
          <a:xfrm>
            <a:off x="7886700" y="3063240"/>
            <a:ext cx="611505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413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AI-authorship signal</a:t>
            </a:r>
            <a:endParaRPr lang="en-US" sz="1413" dirty="0"/>
          </a:p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likely LLM-generated scams, not just scam vs. legitimate</a:t>
            </a:r>
            <a:endParaRPr lang="en-US" sz="1413" dirty="0"/>
          </a:p>
        </p:txBody>
      </p:sp>
      <p:sp>
        <p:nvSpPr>
          <p:cNvPr id="15" name="Shape 11"/>
          <p:cNvSpPr/>
          <p:nvPr/>
        </p:nvSpPr>
        <p:spPr>
          <a:xfrm>
            <a:off x="7658100" y="4137660"/>
            <a:ext cx="6572250" cy="9829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 sz="2250"/>
          </a:p>
        </p:txBody>
      </p:sp>
      <p:sp>
        <p:nvSpPr>
          <p:cNvPr id="16" name="Text 12"/>
          <p:cNvSpPr/>
          <p:nvPr/>
        </p:nvSpPr>
        <p:spPr>
          <a:xfrm>
            <a:off x="7886700" y="4206240"/>
            <a:ext cx="611505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413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without lasting education</a:t>
            </a:r>
            <a:endParaRPr lang="en-US" sz="1413" dirty="0"/>
          </a:p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action with a technique-specific, plain-language explanation</a:t>
            </a:r>
            <a:endParaRPr lang="en-US" sz="1413" dirty="0"/>
          </a:p>
        </p:txBody>
      </p:sp>
      <p:sp>
        <p:nvSpPr>
          <p:cNvPr id="17" name="Shape 13"/>
          <p:cNvSpPr/>
          <p:nvPr/>
        </p:nvSpPr>
        <p:spPr>
          <a:xfrm>
            <a:off x="7658100" y="5280660"/>
            <a:ext cx="6572250" cy="9829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 sz="2250"/>
          </a:p>
        </p:txBody>
      </p:sp>
      <p:sp>
        <p:nvSpPr>
          <p:cNvPr id="18" name="Text 14"/>
          <p:cNvSpPr/>
          <p:nvPr/>
        </p:nvSpPr>
        <p:spPr>
          <a:xfrm>
            <a:off x="7886700" y="5349240"/>
            <a:ext cx="611505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413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image channel</a:t>
            </a:r>
            <a:endParaRPr lang="en-US" sz="1413" dirty="0"/>
          </a:p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explain hidden data in scam-attached images</a:t>
            </a:r>
            <a:endParaRPr lang="en-US" sz="1413" dirty="0"/>
          </a:p>
        </p:txBody>
      </p:sp>
      <p:sp>
        <p:nvSpPr>
          <p:cNvPr id="19" name="Shape 15"/>
          <p:cNvSpPr/>
          <p:nvPr/>
        </p:nvSpPr>
        <p:spPr>
          <a:xfrm>
            <a:off x="7658100" y="6423660"/>
            <a:ext cx="6572250" cy="9829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 sz="2250"/>
          </a:p>
        </p:txBody>
      </p:sp>
      <p:sp>
        <p:nvSpPr>
          <p:cNvPr id="20" name="Text 16"/>
          <p:cNvSpPr/>
          <p:nvPr/>
        </p:nvSpPr>
        <p:spPr>
          <a:xfrm>
            <a:off x="7886700" y="6492240"/>
            <a:ext cx="611505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413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cost of cloud tools</a:t>
            </a:r>
            <a:endParaRPr lang="en-US" sz="1413" dirty="0"/>
          </a:p>
          <a:p>
            <a:pPr>
              <a:lnSpc>
                <a:spcPct val="105000"/>
              </a:lnSpc>
            </a:pPr>
            <a:r>
              <a:rPr lang="en-US" sz="1413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stage fully local — no email content ever leaves the machine</a:t>
            </a:r>
            <a:endParaRPr lang="en-US" sz="1413" dirty="0"/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05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1" y="400050"/>
            <a:ext cx="139823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Methodology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28651" y="1051560"/>
            <a:ext cx="1398231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process, three cooperating components, one shared contract — nothing leaves the machine</a:t>
            </a:r>
            <a:endParaRPr lang="en-US" sz="1625" dirty="0"/>
          </a:p>
        </p:txBody>
      </p:sp>
      <p:sp>
        <p:nvSpPr>
          <p:cNvPr id="4" name="Text 2"/>
          <p:cNvSpPr/>
          <p:nvPr/>
        </p:nvSpPr>
        <p:spPr>
          <a:xfrm>
            <a:off x="628651" y="1623060"/>
            <a:ext cx="139823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Python backend hosts all three components as importable modules behind one orchestrator; every email flows through the same five-stage pipeline and the same JSON contract, which is what keeps each component replaceable without the others knowing its internals.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8650" y="2514600"/>
            <a:ext cx="4514850" cy="43205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9050">
            <a:solidFill>
              <a:srgbClr val="1F7A6C"/>
            </a:solidFill>
            <a:prstDash val="solid"/>
          </a:ln>
          <a:effectLst>
            <a:outerShdw blurRad="76200" dist="25400" dir="54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628650" y="2514600"/>
            <a:ext cx="4514850" cy="971550"/>
          </a:xfrm>
          <a:prstGeom prst="roundRect">
            <a:avLst>
              <a:gd name="adj" fmla="val 9412"/>
            </a:avLst>
          </a:prstGeom>
          <a:solidFill>
            <a:srgbClr val="DCF2EE"/>
          </a:solidFill>
          <a:ln/>
        </p:spPr>
        <p:txBody>
          <a:bodyPr/>
          <a:lstStyle/>
          <a:p>
            <a:endParaRPr lang="en-US" sz="2250"/>
          </a:p>
        </p:txBody>
      </p:sp>
      <p:sp>
        <p:nvSpPr>
          <p:cNvPr id="7" name="Shape 5"/>
          <p:cNvSpPr/>
          <p:nvPr/>
        </p:nvSpPr>
        <p:spPr>
          <a:xfrm>
            <a:off x="948690" y="2697480"/>
            <a:ext cx="594360" cy="594360"/>
          </a:xfrm>
          <a:prstGeom prst="ellipse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8" name="Image 0" descr="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14" y="2768804"/>
            <a:ext cx="451714" cy="4517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4500" y="2628900"/>
            <a:ext cx="32575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813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813" dirty="0"/>
          </a:p>
        </p:txBody>
      </p:sp>
      <p:sp>
        <p:nvSpPr>
          <p:cNvPr id="10" name="Text 7"/>
          <p:cNvSpPr/>
          <p:nvPr/>
        </p:nvSpPr>
        <p:spPr>
          <a:xfrm>
            <a:off x="1714500" y="2994660"/>
            <a:ext cx="32575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1375" dirty="0"/>
          </a:p>
        </p:txBody>
      </p:sp>
      <p:sp>
        <p:nvSpPr>
          <p:cNvPr id="11" name="Text 8"/>
          <p:cNvSpPr/>
          <p:nvPr/>
        </p:nvSpPr>
        <p:spPr>
          <a:xfrm>
            <a:off x="948690" y="3657600"/>
            <a:ext cx="387477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lang="en-US" sz="1313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
</a:t>
            </a:r>
            <a:endParaRPr lang="en-US" sz="1313" dirty="0"/>
          </a:p>
          <a:p>
            <a:pPr>
              <a:lnSpc>
                <a:spcPct val="112000"/>
              </a:lnSpc>
              <a:spcAft>
                <a:spcPts val="750"/>
              </a:spcAft>
            </a:pP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prefilter + fine-tuned DistilBERT scam classifier + stylometric AI-authorship detector + risk scorer.
</a:t>
            </a:r>
            <a:endParaRPr lang="en-US" sz="1313" dirty="0"/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lang="en-US" sz="1313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
</a:t>
            </a:r>
            <a:endParaRPr lang="en-US" sz="1313" dirty="0"/>
          </a:p>
          <a:p>
            <a:pPr>
              <a:lnSpc>
                <a:spcPct val="112000"/>
              </a:lnSpc>
            </a:pPr>
            <a:r>
              <a:rPr lang="en-US" sz="1413" i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AI-authorship as a first-class signal, not just scam vs. legitimate.</a:t>
            </a:r>
            <a:endParaRPr lang="en-US" sz="1313" dirty="0"/>
          </a:p>
        </p:txBody>
      </p:sp>
      <p:sp>
        <p:nvSpPr>
          <p:cNvPr id="12" name="Shape 9"/>
          <p:cNvSpPr/>
          <p:nvPr/>
        </p:nvSpPr>
        <p:spPr>
          <a:xfrm>
            <a:off x="5417820" y="2514600"/>
            <a:ext cx="4514850" cy="43205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9050">
            <a:solidFill>
              <a:srgbClr val="C77D18"/>
            </a:solidFill>
            <a:prstDash val="solid"/>
          </a:ln>
          <a:effectLst>
            <a:outerShdw blurRad="76200" dist="25400" dir="54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13" name="Shape 10"/>
          <p:cNvSpPr/>
          <p:nvPr/>
        </p:nvSpPr>
        <p:spPr>
          <a:xfrm>
            <a:off x="5417820" y="2514600"/>
            <a:ext cx="4514850" cy="971550"/>
          </a:xfrm>
          <a:prstGeom prst="roundRect">
            <a:avLst>
              <a:gd name="adj" fmla="val 9412"/>
            </a:avLst>
          </a:prstGeom>
          <a:solidFill>
            <a:srgbClr val="FBEBD4"/>
          </a:solidFill>
          <a:ln/>
        </p:spPr>
        <p:txBody>
          <a:bodyPr/>
          <a:lstStyle/>
          <a:p>
            <a:endParaRPr lang="en-US" sz="2250"/>
          </a:p>
        </p:txBody>
      </p:sp>
      <p:sp>
        <p:nvSpPr>
          <p:cNvPr id="14" name="Shape 11"/>
          <p:cNvSpPr/>
          <p:nvPr/>
        </p:nvSpPr>
        <p:spPr>
          <a:xfrm>
            <a:off x="5737860" y="2697480"/>
            <a:ext cx="594360" cy="594360"/>
          </a:xfrm>
          <a:prstGeom prst="ellipse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15" name="Image 1" descr="icons/im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184" y="2768804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03670" y="2628900"/>
            <a:ext cx="32575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813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813" dirty="0"/>
          </a:p>
        </p:txBody>
      </p:sp>
      <p:sp>
        <p:nvSpPr>
          <p:cNvPr id="17" name="Text 13"/>
          <p:cNvSpPr/>
          <p:nvPr/>
        </p:nvSpPr>
        <p:spPr>
          <a:xfrm>
            <a:off x="6503670" y="2994660"/>
            <a:ext cx="32575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Steganographic Image Detection</a:t>
            </a:r>
            <a:endParaRPr lang="en-US" sz="1375" dirty="0"/>
          </a:p>
        </p:txBody>
      </p:sp>
      <p:sp>
        <p:nvSpPr>
          <p:cNvPr id="18" name="Text 14"/>
          <p:cNvSpPr/>
          <p:nvPr/>
        </p:nvSpPr>
        <p:spPr>
          <a:xfrm>
            <a:off x="5737860" y="3657600"/>
            <a:ext cx="387477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lang="en-US" sz="1313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
</a:t>
            </a:r>
            <a:endParaRPr lang="en-US" sz="1313" dirty="0"/>
          </a:p>
          <a:p>
            <a:pPr>
              <a:lnSpc>
                <a:spcPct val="112000"/>
              </a:lnSpc>
              <a:spcAft>
                <a:spcPts val="750"/>
              </a:spcAft>
            </a:pP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EfficientNet-B2 CNN flags hidden data in scam-attached images; Grad-CAM explains the verdict visually.
</a:t>
            </a:r>
            <a:endParaRPr lang="en-US" sz="1313" dirty="0"/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lang="en-US" sz="1313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
</a:t>
            </a:r>
            <a:endParaRPr lang="en-US" sz="1313" dirty="0"/>
          </a:p>
          <a:p>
            <a:pPr>
              <a:lnSpc>
                <a:spcPct val="112000"/>
              </a:lnSpc>
            </a:pPr>
            <a:r>
              <a:rPr lang="en-US" sz="1413" i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visual-forensics layer inside a consumer email client — rare even in commercial tools.</a:t>
            </a:r>
            <a:endParaRPr lang="en-US" sz="1313" dirty="0"/>
          </a:p>
        </p:txBody>
      </p:sp>
      <p:sp>
        <p:nvSpPr>
          <p:cNvPr id="19" name="Shape 15"/>
          <p:cNvSpPr/>
          <p:nvPr/>
        </p:nvSpPr>
        <p:spPr>
          <a:xfrm>
            <a:off x="10206990" y="2514600"/>
            <a:ext cx="4514850" cy="43205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  <a:effectLst>
            <a:outerShdw blurRad="76200" dist="25400" dir="5400000" algn="bl" rotWithShape="0">
              <a:srgbClr val="9AA5B5">
                <a:alpha val="22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20" name="Shape 16"/>
          <p:cNvSpPr/>
          <p:nvPr/>
        </p:nvSpPr>
        <p:spPr>
          <a:xfrm>
            <a:off x="10206990" y="2514600"/>
            <a:ext cx="4514850" cy="971550"/>
          </a:xfrm>
          <a:prstGeom prst="roundRect">
            <a:avLst>
              <a:gd name="adj" fmla="val 9412"/>
            </a:avLst>
          </a:prstGeom>
          <a:solidFill>
            <a:srgbClr val="EDE6F5"/>
          </a:solidFill>
          <a:ln/>
        </p:spPr>
        <p:txBody>
          <a:bodyPr/>
          <a:lstStyle/>
          <a:p>
            <a:endParaRPr lang="en-US" sz="2250"/>
          </a:p>
        </p:txBody>
      </p:sp>
      <p:sp>
        <p:nvSpPr>
          <p:cNvPr id="21" name="Shape 17"/>
          <p:cNvSpPr/>
          <p:nvPr/>
        </p:nvSpPr>
        <p:spPr>
          <a:xfrm>
            <a:off x="10527030" y="2697480"/>
            <a:ext cx="594360" cy="594360"/>
          </a:xfrm>
          <a:prstGeom prst="ellipse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22" name="Image 2" descr="icons/book_ope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8354" y="2768804"/>
            <a:ext cx="451714" cy="45171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292840" y="2628900"/>
            <a:ext cx="32575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813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813" dirty="0"/>
          </a:p>
        </p:txBody>
      </p:sp>
      <p:sp>
        <p:nvSpPr>
          <p:cNvPr id="24" name="Text 19"/>
          <p:cNvSpPr/>
          <p:nvPr/>
        </p:nvSpPr>
        <p:spPr>
          <a:xfrm>
            <a:off x="11292840" y="2994660"/>
            <a:ext cx="32575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Awareness</a:t>
            </a:r>
            <a:endParaRPr lang="en-US" sz="1375" dirty="0"/>
          </a:p>
        </p:txBody>
      </p:sp>
      <p:sp>
        <p:nvSpPr>
          <p:cNvPr id="25" name="Text 20"/>
          <p:cNvSpPr/>
          <p:nvPr/>
        </p:nvSpPr>
        <p:spPr>
          <a:xfrm>
            <a:off x="10527030" y="3657600"/>
            <a:ext cx="387477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lang="en-US" sz="1313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
</a:t>
            </a:r>
            <a:endParaRPr lang="en-US" sz="1313" dirty="0"/>
          </a:p>
          <a:p>
            <a:pPr>
              <a:lnSpc>
                <a:spcPct val="112000"/>
              </a:lnSpc>
              <a:spcAft>
                <a:spcPts val="750"/>
              </a:spcAft>
            </a:pPr>
            <a:r>
              <a:rPr lang="en-US" sz="141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ResponseController maps risk to action; AwarenessEngine classifies scam-type and trigger, in parallel.
</a:t>
            </a:r>
            <a:endParaRPr lang="en-US" sz="1313" dirty="0"/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lang="en-US" sz="1313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
</a:t>
            </a:r>
            <a:endParaRPr lang="en-US" sz="1313" dirty="0"/>
          </a:p>
          <a:p>
            <a:pPr>
              <a:lnSpc>
                <a:spcPct val="112000"/>
              </a:lnSpc>
            </a:pPr>
            <a:r>
              <a:rPr lang="en-US" sz="1413" i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education and defense as co-equal outputs — reduces vulnerability to the next attack, not just this one.</a:t>
            </a:r>
            <a:endParaRPr lang="en-US" sz="1313" dirty="0"/>
          </a:p>
        </p:txBody>
      </p:sp>
      <p:sp>
        <p:nvSpPr>
          <p:cNvPr id="26" name="Shape 21"/>
          <p:cNvSpPr/>
          <p:nvPr/>
        </p:nvSpPr>
        <p:spPr>
          <a:xfrm>
            <a:off x="628651" y="7040880"/>
            <a:ext cx="13982319" cy="891540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 sz="2250"/>
          </a:p>
        </p:txBody>
      </p:sp>
      <p:sp>
        <p:nvSpPr>
          <p:cNvPr id="27" name="Text 22"/>
          <p:cNvSpPr/>
          <p:nvPr/>
        </p:nvSpPr>
        <p:spPr>
          <a:xfrm>
            <a:off x="971551" y="7040880"/>
            <a:ext cx="13296519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1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novelty:  </a:t>
            </a:r>
            <a:r>
              <a:rPr lang="en-US" sz="1563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— local AI-authorship-aware detection, explainable steganalysis, and personalised education, all fully on-device — is what no single component delivers alone.</a:t>
            </a:r>
            <a:endParaRPr lang="en-US" sz="1563" dirty="0"/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06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1" y="400050"/>
            <a:ext cx="139823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28651" y="1051560"/>
            <a:ext cx="1398231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mapped to the three components and their evidence points</a:t>
            </a:r>
            <a:endParaRPr lang="en-US" sz="1625" dirty="0"/>
          </a:p>
        </p:txBody>
      </p:sp>
      <p:pic>
        <p:nvPicPr>
          <p:cNvPr id="4" name="Image 0" descr="diagrams_slides/pipelin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1" y="1543051"/>
            <a:ext cx="14439519" cy="60503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1" y="7486650"/>
            <a:ext cx="139823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75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375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— 0.998 ROC-AUC on validation.  </a:t>
            </a:r>
            <a:r>
              <a:rPr lang="en-US" sz="1375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— heatmap validity pending task-specific testing.  </a:t>
            </a:r>
            <a:r>
              <a:rPr lang="en-US" sz="1375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— macro-F1 vs. rule-based baseline.</a:t>
            </a:r>
            <a:endParaRPr lang="en-US" sz="1375" dirty="0"/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07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1" y="342900"/>
            <a:ext cx="139823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Issues &amp; Commercialization</a:t>
            </a:r>
            <a:endParaRPr lang="en-US" sz="3375" dirty="0"/>
          </a:p>
        </p:txBody>
      </p:sp>
      <p:sp>
        <p:nvSpPr>
          <p:cNvPr id="3" name="Text 1"/>
          <p:cNvSpPr/>
          <p:nvPr/>
        </p:nvSpPr>
        <p:spPr>
          <a:xfrm>
            <a:off x="628651" y="937260"/>
            <a:ext cx="139823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3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was tested, what it delivers, where it's bounded, and how it reaches real users</a:t>
            </a:r>
            <a:endParaRPr lang="en-US" sz="1563" dirty="0"/>
          </a:p>
        </p:txBody>
      </p:sp>
      <p:sp>
        <p:nvSpPr>
          <p:cNvPr id="4" name="Shape 2"/>
          <p:cNvSpPr/>
          <p:nvPr/>
        </p:nvSpPr>
        <p:spPr>
          <a:xfrm>
            <a:off x="628650" y="1463040"/>
            <a:ext cx="4508373" cy="24917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5875">
            <a:solidFill>
              <a:srgbClr val="1F7A6C"/>
            </a:solidFill>
            <a:prstDash val="solid"/>
          </a:ln>
          <a:effectLst>
            <a:outerShdw blurRad="63500" dist="19050" dir="5400000" algn="bl" rotWithShape="0">
              <a:srgbClr val="9AA5B5">
                <a:alpha val="20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5" name="Shape 3"/>
          <p:cNvSpPr/>
          <p:nvPr/>
        </p:nvSpPr>
        <p:spPr>
          <a:xfrm>
            <a:off x="811530" y="162306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6" name="Image 0" descr="icons/bar_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" y="1677924"/>
            <a:ext cx="347473" cy="3474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0170" y="16230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Comparison</a:t>
            </a:r>
            <a:endParaRPr lang="en-US" sz="1625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42950" y="2103120"/>
          <a:ext cx="4279773" cy="131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34390" y="3497580"/>
            <a:ext cx="40968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038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ML/DL approach beats rule-based / statistical baselines on all three components (illustrative target bands).</a:t>
            </a:r>
            <a:endParaRPr lang="en-US" sz="1038" dirty="0"/>
          </a:p>
        </p:txBody>
      </p:sp>
      <p:sp>
        <p:nvSpPr>
          <p:cNvPr id="10" name="Shape 6"/>
          <p:cNvSpPr/>
          <p:nvPr/>
        </p:nvSpPr>
        <p:spPr>
          <a:xfrm>
            <a:off x="5365622" y="1463040"/>
            <a:ext cx="4508373" cy="24917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5875">
            <a:solidFill>
              <a:srgbClr val="2E5090"/>
            </a:solidFill>
            <a:prstDash val="solid"/>
          </a:ln>
          <a:effectLst>
            <a:outerShdw blurRad="63500" dist="19050" dir="5400000" algn="bl" rotWithShape="0">
              <a:srgbClr val="9AA5B5">
                <a:alpha val="20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11" name="Shape 7"/>
          <p:cNvSpPr/>
          <p:nvPr/>
        </p:nvSpPr>
        <p:spPr>
          <a:xfrm>
            <a:off x="5548503" y="1623060"/>
            <a:ext cx="457200" cy="457200"/>
          </a:xfrm>
          <a:prstGeom prst="ellipse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12" name="Image 1" descr="icons/check_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367" y="1677924"/>
            <a:ext cx="347473" cy="3474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7143" y="16230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25" dirty="0"/>
          </a:p>
        </p:txBody>
      </p:sp>
      <p:sp>
        <p:nvSpPr>
          <p:cNvPr id="14" name="Text 9"/>
          <p:cNvSpPr/>
          <p:nvPr/>
        </p:nvSpPr>
        <p:spPr>
          <a:xfrm>
            <a:off x="5594222" y="2171700"/>
            <a:ext cx="4051173" cy="163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system objectives confirmed via schema &amp; output evidence, on both success and fallback paths</a:t>
            </a:r>
            <a:endParaRPr lang="en-US" sz="1163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outbound traffic carrying email content — verified directly by network-capture testing</a:t>
            </a:r>
            <a:endParaRPr lang="en-US" sz="1163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scam-classified email with an image produces a verdict plus a visual heatmap explanation</a:t>
            </a:r>
            <a:endParaRPr lang="en-US" sz="1163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action and awareness explanation generated in parallel for every scam event</a:t>
            </a:r>
            <a:endParaRPr lang="en-US" sz="1163" dirty="0"/>
          </a:p>
        </p:txBody>
      </p:sp>
      <p:sp>
        <p:nvSpPr>
          <p:cNvPr id="15" name="Shape 10"/>
          <p:cNvSpPr/>
          <p:nvPr/>
        </p:nvSpPr>
        <p:spPr>
          <a:xfrm>
            <a:off x="10102596" y="1463040"/>
            <a:ext cx="4508373" cy="24917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5875">
            <a:solidFill>
              <a:srgbClr val="C77D18"/>
            </a:solidFill>
            <a:prstDash val="solid"/>
          </a:ln>
          <a:effectLst>
            <a:outerShdw blurRad="63500" dist="19050" dir="5400000" algn="bl" rotWithShape="0">
              <a:srgbClr val="9AA5B5">
                <a:alpha val="20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16" name="Shape 11"/>
          <p:cNvSpPr/>
          <p:nvPr/>
        </p:nvSpPr>
        <p:spPr>
          <a:xfrm>
            <a:off x="10285476" y="1623060"/>
            <a:ext cx="457200" cy="457200"/>
          </a:xfrm>
          <a:prstGeom prst="ellipse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17" name="Image 2" descr="icons/alert_octag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340" y="1677924"/>
            <a:ext cx="347473" cy="3474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34116" y="16230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25" dirty="0"/>
          </a:p>
        </p:txBody>
      </p:sp>
      <p:sp>
        <p:nvSpPr>
          <p:cNvPr id="19" name="Text 13"/>
          <p:cNvSpPr/>
          <p:nvPr/>
        </p:nvSpPr>
        <p:spPr>
          <a:xfrm>
            <a:off x="10354437" y="2265939"/>
            <a:ext cx="4051173" cy="163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Single-user, single-machine, CPU-only deployment — no multi-tenant or server mode</a:t>
            </a:r>
            <a:endParaRPr lang="en-US" sz="1163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email only; other languages unvalidated</a:t>
            </a:r>
            <a:endParaRPr lang="en-US" sz="1163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preprocessing-fidelity &amp; Grad-CAM task-fit still open validation items</a:t>
            </a:r>
            <a:endParaRPr lang="en-US" sz="1163" dirty="0"/>
          </a:p>
        </p:txBody>
      </p:sp>
      <p:sp>
        <p:nvSpPr>
          <p:cNvPr id="20" name="Shape 14"/>
          <p:cNvSpPr/>
          <p:nvPr/>
        </p:nvSpPr>
        <p:spPr>
          <a:xfrm>
            <a:off x="628650" y="4137660"/>
            <a:ext cx="6876860" cy="2194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63500" dist="19050" dir="5400000" algn="bl" rotWithShape="0">
              <a:srgbClr val="9AA5B5">
                <a:alpha val="20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21" name="Shape 15"/>
          <p:cNvSpPr/>
          <p:nvPr/>
        </p:nvSpPr>
        <p:spPr>
          <a:xfrm>
            <a:off x="811530" y="4297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22" name="Image 3" descr="icons/activit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94" y="4352544"/>
            <a:ext cx="347473" cy="3474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6017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Non-Functional Requirements</a:t>
            </a:r>
            <a:endParaRPr lang="en-US" sz="1625" dirty="0"/>
          </a:p>
        </p:txBody>
      </p:sp>
      <p:sp>
        <p:nvSpPr>
          <p:cNvPr id="24" name="Text 17"/>
          <p:cNvSpPr/>
          <p:nvPr/>
        </p:nvSpPr>
        <p:spPr>
          <a:xfrm>
            <a:off x="857250" y="4823460"/>
            <a:ext cx="6419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Macro-F1, ROC-AUC, confusion-matrix analysis and false-negative rate tracked per classifier, not blended into one accuracy figure</a:t>
            </a:r>
            <a:endParaRPr lang="en-US" sz="1175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budgets enforced per module: &lt;50ms prefilter, &lt;200ms scam classifier, ~100ms awareness content — all CPU-only</a:t>
            </a:r>
            <a:endParaRPr lang="en-US" sz="1175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NFR tied to a named evidence mechanism: network capture for privacy, fault injection for reliability, schema audit for data minimisation</a:t>
            </a:r>
            <a:endParaRPr lang="en-US" sz="1175" dirty="0"/>
          </a:p>
        </p:txBody>
      </p:sp>
      <p:sp>
        <p:nvSpPr>
          <p:cNvPr id="25" name="Shape 18"/>
          <p:cNvSpPr/>
          <p:nvPr/>
        </p:nvSpPr>
        <p:spPr>
          <a:xfrm>
            <a:off x="7734110" y="4137660"/>
            <a:ext cx="6876860" cy="2194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6A4C93"/>
            </a:solidFill>
            <a:prstDash val="solid"/>
          </a:ln>
          <a:effectLst>
            <a:outerShdw blurRad="63500" dist="19050" dir="5400000" algn="bl" rotWithShape="0">
              <a:srgbClr val="9AA5B5">
                <a:alpha val="20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26" name="Shape 19"/>
          <p:cNvSpPr/>
          <p:nvPr/>
        </p:nvSpPr>
        <p:spPr>
          <a:xfrm>
            <a:off x="7916990" y="4297680"/>
            <a:ext cx="457200" cy="457200"/>
          </a:xfrm>
          <a:prstGeom prst="ellipse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27" name="Image 4" descr="icons/balanc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1854" y="4352544"/>
            <a:ext cx="347473" cy="34747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6563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Legal, Social, Security &amp; Ethical</a:t>
            </a:r>
            <a:endParaRPr lang="en-US" sz="1625" dirty="0"/>
          </a:p>
        </p:txBody>
      </p:sp>
      <p:sp>
        <p:nvSpPr>
          <p:cNvPr id="29" name="Text 21"/>
          <p:cNvSpPr/>
          <p:nvPr/>
        </p:nvSpPr>
        <p:spPr>
          <a:xfrm>
            <a:off x="7962710" y="4823460"/>
            <a:ext cx="6419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risk: stylometric AI-authorship signal may over-flag non-native English writing — scoped for fairness testing</a:t>
            </a:r>
            <a:endParaRPr lang="en-US" sz="1175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Cybercrime Centre dataset gated by NDA — constrains reproducibility and public redistribution</a:t>
            </a:r>
            <a:endParaRPr lang="en-US" sz="1175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75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profiles pseudonymised (keyed hash) and encrypted at rest (SQLCipher AES-256); untrusted attachments size-limited before decoding</a:t>
            </a:r>
            <a:endParaRPr lang="en-US" sz="1175" dirty="0"/>
          </a:p>
        </p:txBody>
      </p:sp>
      <p:sp>
        <p:nvSpPr>
          <p:cNvPr id="30" name="Shape 22"/>
          <p:cNvSpPr/>
          <p:nvPr/>
        </p:nvSpPr>
        <p:spPr>
          <a:xfrm>
            <a:off x="628651" y="6515100"/>
            <a:ext cx="13982319" cy="15316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875">
            <a:solidFill>
              <a:srgbClr val="1F7A6C"/>
            </a:solidFill>
            <a:prstDash val="solid"/>
          </a:ln>
          <a:effectLst>
            <a:outerShdw blurRad="63500" dist="19050" dir="5400000" algn="bl" rotWithShape="0">
              <a:srgbClr val="9AA5B5">
                <a:alpha val="20000"/>
              </a:srgbClr>
            </a:outerShdw>
          </a:effectLst>
        </p:spPr>
        <p:txBody>
          <a:bodyPr/>
          <a:lstStyle/>
          <a:p>
            <a:endParaRPr lang="en-US" sz="2250"/>
          </a:p>
        </p:txBody>
      </p:sp>
      <p:sp>
        <p:nvSpPr>
          <p:cNvPr id="31" name="Shape 23"/>
          <p:cNvSpPr/>
          <p:nvPr/>
        </p:nvSpPr>
        <p:spPr>
          <a:xfrm>
            <a:off x="811530" y="66751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US" sz="2250"/>
          </a:p>
        </p:txBody>
      </p:sp>
      <p:pic>
        <p:nvPicPr>
          <p:cNvPr id="32" name="Image 5" descr="icons/trending_up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394" y="6729984"/>
            <a:ext cx="347473" cy="34747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60170" y="6675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&amp; Demonstration</a:t>
            </a:r>
            <a:endParaRPr lang="en-US" sz="1625" dirty="0"/>
          </a:p>
        </p:txBody>
      </p:sp>
      <p:sp>
        <p:nvSpPr>
          <p:cNvPr id="34" name="Text 25"/>
          <p:cNvSpPr/>
          <p:nvPr/>
        </p:nvSpPr>
        <p:spPr>
          <a:xfrm>
            <a:off x="857250" y="7132320"/>
            <a:ext cx="31241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50"/>
              </a:spcAft>
            </a:pPr>
            <a:r>
              <a:rPr lang="en-US" sz="117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
</a:t>
            </a:r>
            <a:endParaRPr lang="en-US" sz="1175" dirty="0"/>
          </a:p>
          <a:p>
            <a:r>
              <a:rPr lang="en-US" sz="10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Individuals, privacy-conscious SMEs, and MSPs bundling it into managed email support</a:t>
            </a:r>
            <a:endParaRPr lang="en-US" sz="1175" dirty="0"/>
          </a:p>
        </p:txBody>
      </p:sp>
      <p:sp>
        <p:nvSpPr>
          <p:cNvPr id="35" name="Text 26"/>
          <p:cNvSpPr/>
          <p:nvPr/>
        </p:nvSpPr>
        <p:spPr>
          <a:xfrm>
            <a:off x="4324255" y="7132320"/>
            <a:ext cx="31241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50"/>
              </a:spcAft>
            </a:pPr>
            <a:r>
              <a:rPr lang="en-US" sz="117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adopt
</a:t>
            </a:r>
            <a:endParaRPr lang="en-US" sz="1175" dirty="0"/>
          </a:p>
          <a:p>
            <a:r>
              <a:rPr lang="en-US" sz="10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privacy, no recurring cloud fee, AI-authorship-aware accuracy, lasting user education</a:t>
            </a:r>
            <a:endParaRPr lang="en-US" sz="1175" dirty="0"/>
          </a:p>
        </p:txBody>
      </p:sp>
      <p:sp>
        <p:nvSpPr>
          <p:cNvPr id="36" name="Text 27"/>
          <p:cNvSpPr/>
          <p:nvPr/>
        </p:nvSpPr>
        <p:spPr>
          <a:xfrm>
            <a:off x="7791260" y="7132320"/>
            <a:ext cx="31241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50"/>
              </a:spcAft>
            </a:pPr>
            <a:r>
              <a:rPr lang="en-US" sz="117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by
</a:t>
            </a:r>
            <a:endParaRPr lang="en-US" sz="1175" dirty="0"/>
          </a:p>
          <a:p>
            <a:r>
              <a:rPr lang="en-US" sz="10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infra cost (local compute only), staged pilot rollout, community + paid SME support tier</a:t>
            </a:r>
            <a:endParaRPr lang="en-US" sz="1175" dirty="0"/>
          </a:p>
        </p:txBody>
      </p:sp>
      <p:sp>
        <p:nvSpPr>
          <p:cNvPr id="37" name="Text 28"/>
          <p:cNvSpPr/>
          <p:nvPr/>
        </p:nvSpPr>
        <p:spPr>
          <a:xfrm>
            <a:off x="11258264" y="7132320"/>
            <a:ext cx="31241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50"/>
              </a:spcAft>
            </a:pPr>
            <a:r>
              <a:rPr lang="en-US" sz="1175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
</a:t>
            </a:r>
            <a:endParaRPr lang="en-US" sz="1175" dirty="0"/>
          </a:p>
          <a:p>
            <a:r>
              <a:rPr lang="en-US" sz="1063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feedback on explanation clarity, market comparison vs. cloud tools, informal stakeholder validation</a:t>
            </a:r>
            <a:endParaRPr lang="en-US" sz="1175" dirty="0"/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08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1D06C1-6874-66F7-85BC-1D081348B811}"/>
              </a:ext>
            </a:extLst>
          </p:cNvPr>
          <p:cNvSpPr txBox="1"/>
          <p:nvPr/>
        </p:nvSpPr>
        <p:spPr>
          <a:xfrm>
            <a:off x="628650" y="1412254"/>
            <a:ext cx="1413586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remaining work will focus on </a:t>
            </a:r>
            <a:r>
              <a:rPr lang="en-US" sz="3200" b="1" dirty="0"/>
              <a:t>integrating all three research components into a single unified system</a:t>
            </a:r>
            <a:r>
              <a:rPr lang="en-US" sz="3200" dirty="0"/>
              <a:t> and deploying the completed solution as a </a:t>
            </a:r>
            <a:r>
              <a:rPr lang="en-US" sz="3200" b="1" dirty="0"/>
              <a:t>web extension</a:t>
            </a:r>
            <a:r>
              <a:rPr lang="en-US" sz="3200" dirty="0"/>
              <a:t>. Currently, the components are developed and tested locally, so the next stage will involve connecting their outputs through a common workflow, developing the web extension interface, integrating the trained AI models, and conducting end-to-end testing to ensure the system works efficiently and accurately in a real-world email environment.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F8EAE00-9DCB-DC9E-34F4-7C9E7609F07E}"/>
              </a:ext>
            </a:extLst>
          </p:cNvPr>
          <p:cNvSpPr/>
          <p:nvPr/>
        </p:nvSpPr>
        <p:spPr>
          <a:xfrm>
            <a:off x="628651" y="342900"/>
            <a:ext cx="139823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3600" b="1" dirty="0"/>
              <a:t>Future Work</a:t>
            </a:r>
          </a:p>
        </p:txBody>
      </p:sp>
      <p:sp>
        <p:nvSpPr>
          <p:cNvPr id="7" name="Footer Divider">
            <a:extLst>
              <a:ext uri="{FF2B5EF4-FFF2-40B4-BE49-F238E27FC236}">
                <a16:creationId xmlns:a16="http://schemas.microsoft.com/office/drawing/2014/main" id="{CE35214E-2F1C-6D7E-7960-4834E5C4972F}"/>
              </a:ext>
            </a:extLst>
          </p:cNvPr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 Text">
            <a:extLst>
              <a:ext uri="{FF2B5EF4-FFF2-40B4-BE49-F238E27FC236}">
                <a16:creationId xmlns:a16="http://schemas.microsoft.com/office/drawing/2014/main" id="{98812AB8-2515-4C41-6410-77626381B59D}"/>
              </a:ext>
            </a:extLst>
          </p:cNvPr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F8B95C2B-2CF3-04CA-9408-06C8FA259646}"/>
              </a:ext>
            </a:extLst>
          </p:cNvPr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09/ 16</a:t>
            </a:r>
          </a:p>
        </p:txBody>
      </p:sp>
    </p:spTree>
    <p:extLst>
      <p:ext uri="{BB962C8B-B14F-4D97-AF65-F5344CB8AC3E}">
        <p14:creationId xmlns:p14="http://schemas.microsoft.com/office/powerpoint/2010/main" val="109809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B460AC9-9D3D-894F-CD48-EDB19375A66B}"/>
              </a:ext>
            </a:extLst>
          </p:cNvPr>
          <p:cNvSpPr/>
          <p:nvPr/>
        </p:nvSpPr>
        <p:spPr>
          <a:xfrm>
            <a:off x="7112243" y="2174084"/>
            <a:ext cx="1493809" cy="1566627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play_circle_FFFFFF.png">
            <a:extLst>
              <a:ext uri="{FF2B5EF4-FFF2-40B4-BE49-F238E27FC236}">
                <a16:creationId xmlns:a16="http://schemas.microsoft.com/office/drawing/2014/main" id="{EDAA50C9-4302-B24C-2A8E-9CEA19F42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28" y="2376745"/>
            <a:ext cx="1175241" cy="1161306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638C472-0340-183A-8EAD-867A0BF9DD50}"/>
              </a:ext>
            </a:extLst>
          </p:cNvPr>
          <p:cNvSpPr/>
          <p:nvPr/>
        </p:nvSpPr>
        <p:spPr>
          <a:xfrm>
            <a:off x="2827171" y="4476904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Live System Demonstration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7187C25-1135-9A5B-3334-30D2C476AD6A}"/>
              </a:ext>
            </a:extLst>
          </p:cNvPr>
          <p:cNvSpPr/>
          <p:nvPr/>
        </p:nvSpPr>
        <p:spPr>
          <a:xfrm>
            <a:off x="3456110" y="5791354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5A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 now invite the panel to view a live demonstration of the system in action.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63C69-2D87-16D2-5AE3-3A8E5D000B20}"/>
              </a:ext>
            </a:extLst>
          </p:cNvPr>
          <p:cNvSpPr>
            <a:spLocks noGrp="1"/>
          </p:cNvSpPr>
          <p:nvPr/>
        </p:nvSpPr>
        <p:spPr>
          <a:xfrm>
            <a:off x="857250" y="818595"/>
            <a:ext cx="13239750" cy="9525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518F6C4A-2DED-7D0A-5794-FE63C723EBBA}"/>
              </a:ext>
            </a:extLst>
          </p:cNvPr>
          <p:cNvSpPr/>
          <p:nvPr/>
        </p:nvSpPr>
        <p:spPr>
          <a:xfrm>
            <a:off x="6872545" y="5374793"/>
            <a:ext cx="21945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84128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D5CF-3A0F-C23C-4EA7-5EA9433C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B3A7D8-6232-94D6-96CE-A8F11995D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536" y="640080"/>
            <a:ext cx="10730927" cy="97840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1557F92-3206-F4E4-C051-E68EFC2EA48E}"/>
              </a:ext>
            </a:extLst>
          </p:cNvPr>
          <p:cNvSpPr/>
          <p:nvPr/>
        </p:nvSpPr>
        <p:spPr>
          <a:xfrm>
            <a:off x="-1462889" y="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Component 1 Architecture 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361205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BA0A-6996-6ACB-E020-98D2F4225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E225E-2382-EC76-F943-D79921440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639" y="379583"/>
            <a:ext cx="9594721" cy="784509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1951231-ADEC-21DE-2D49-027AE2B491E5}"/>
              </a:ext>
            </a:extLst>
          </p:cNvPr>
          <p:cNvSpPr/>
          <p:nvPr/>
        </p:nvSpPr>
        <p:spPr>
          <a:xfrm>
            <a:off x="-1462889" y="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Component 2 Architecture 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58593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CBCB-0855-2379-5224-85C101503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0F4A4-F95B-93E2-F082-80CD9598E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509" y="441000"/>
            <a:ext cx="9060981" cy="7861734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CB527E34-1FD8-6E22-3A4B-55E0A658C5D3}"/>
              </a:ext>
            </a:extLst>
          </p:cNvPr>
          <p:cNvSpPr/>
          <p:nvPr/>
        </p:nvSpPr>
        <p:spPr>
          <a:xfrm>
            <a:off x="-1462889" y="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Component 3 Architecture 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415771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BD455-5CCC-6DE6-E4C6-B935668B803E}"/>
              </a:ext>
            </a:extLst>
          </p:cNvPr>
          <p:cNvSpPr txBox="1"/>
          <p:nvPr/>
        </p:nvSpPr>
        <p:spPr>
          <a:xfrm>
            <a:off x="2206171" y="3933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1C303-8293-09C0-64BE-3F31C6362A70}"/>
              </a:ext>
            </a:extLst>
          </p:cNvPr>
          <p:cNvSpPr txBox="1"/>
          <p:nvPr/>
        </p:nvSpPr>
        <p:spPr>
          <a:xfrm>
            <a:off x="723900" y="456397"/>
            <a:ext cx="1310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BA3AD-44FE-1E24-8871-B22A48FF466F}"/>
              </a:ext>
            </a:extLst>
          </p:cNvPr>
          <p:cNvSpPr>
            <a:spLocks noGrp="1"/>
          </p:cNvSpPr>
          <p:nvPr/>
        </p:nvSpPr>
        <p:spPr>
          <a:xfrm>
            <a:off x="857250" y="1161495"/>
            <a:ext cx="13239750" cy="9525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F344C-F89C-6747-B15B-764D376CB77E}"/>
              </a:ext>
            </a:extLst>
          </p:cNvPr>
          <p:cNvSpPr txBox="1"/>
          <p:nvPr/>
        </p:nvSpPr>
        <p:spPr>
          <a:xfrm>
            <a:off x="857250" y="1665893"/>
            <a:ext cx="13239750" cy="5252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LLM-assisted scams outpace legacy filters and leave users no better equipped for the next attack — this system responds with detection, defensive action, and education combined in one local tool.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Novelty 1: </a:t>
            </a: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 AI-authorship signal is treated as a first-class detection output, not just scam vs. legitimate.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Novelty 2: </a:t>
            </a: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 explainable visual-forensics layer brings steganographic image analysis into a consumer email client for the first time.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Novelty 3: </a:t>
            </a: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defense and education are generated as co-equal, parallel outputs — reducing vulnerability to the next, differently worded attack</a:t>
            </a: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benefit: </a:t>
            </a: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every stage runs on one local machine — no email content ever leaves the user's device.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benefit: </a:t>
            </a: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every automated verdict is paired with a plain-language explanation, not delivered as an opaque label.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Industry relevance: a zero-cloud-dependency model fits SMEs and privacy- or compliance-sensitive organizations that cloud-based tools cannot serve.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42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Business relevance: low infrastructure cost and a staged pilot-to-adoption path make the system realistically deployable, not just a research prototype.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  <a:spcAft>
                <a:spcPts val="1600"/>
              </a:spcAft>
              <a:buSzPct val="100000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51446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8C3215-65AD-9371-B31A-5DC80200DB95}"/>
              </a:ext>
            </a:extLst>
          </p:cNvPr>
          <p:cNvSpPr txBox="1"/>
          <p:nvPr/>
        </p:nvSpPr>
        <p:spPr>
          <a:xfrm>
            <a:off x="3947886" y="3222171"/>
            <a:ext cx="87098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Thank you …!!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E004D6-F493-9AE7-866A-2CDE0DCE5054}"/>
              </a:ext>
            </a:extLst>
          </p:cNvPr>
          <p:cNvSpPr>
            <a:spLocks noGrp="1"/>
          </p:cNvSpPr>
          <p:nvPr/>
        </p:nvSpPr>
        <p:spPr>
          <a:xfrm>
            <a:off x="962025" y="7605838"/>
            <a:ext cx="13239750" cy="45719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0A35B7-2104-4EEF-0EA4-355B040E4080}"/>
              </a:ext>
            </a:extLst>
          </p:cNvPr>
          <p:cNvSpPr>
            <a:spLocks noGrp="1"/>
          </p:cNvSpPr>
          <p:nvPr/>
        </p:nvSpPr>
        <p:spPr>
          <a:xfrm rot="16200000" flipV="1">
            <a:off x="-2519595" y="4101647"/>
            <a:ext cx="7010955" cy="55883"/>
          </a:xfrm>
          <a:prstGeom prst="rect">
            <a:avLst/>
          </a:prstGeom>
          <a:solidFill>
            <a:srgbClr val="D8E2EC"/>
          </a:solidFill>
          <a:ln w="317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B136CEF-CE01-783B-5B4E-61EB08C31409}"/>
              </a:ext>
            </a:extLst>
          </p:cNvPr>
          <p:cNvSpPr/>
          <p:nvPr/>
        </p:nvSpPr>
        <p:spPr>
          <a:xfrm>
            <a:off x="7141029" y="5261610"/>
            <a:ext cx="219456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17692-98CF-7CB9-F399-A419EA42EFB8}"/>
              </a:ext>
            </a:extLst>
          </p:cNvPr>
          <p:cNvSpPr txBox="1"/>
          <p:nvPr/>
        </p:nvSpPr>
        <p:spPr>
          <a:xfrm>
            <a:off x="9385300" y="4954577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48EAF-087B-C82F-B2E7-238886CB49AB}"/>
              </a:ext>
            </a:extLst>
          </p:cNvPr>
          <p:cNvSpPr txBox="1"/>
          <p:nvPr/>
        </p:nvSpPr>
        <p:spPr>
          <a:xfrm>
            <a:off x="6649450" y="4967277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.</a:t>
            </a: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233303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69283-23CD-2250-EE16-47C272350CAC}"/>
              </a:ext>
            </a:extLst>
          </p:cNvPr>
          <p:cNvSpPr txBox="1"/>
          <p:nvPr/>
        </p:nvSpPr>
        <p:spPr>
          <a:xfrm>
            <a:off x="5054600" y="2654300"/>
            <a:ext cx="582242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Q / A ? </a:t>
            </a: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4756489C-6F09-A7F3-3101-0DF44ABADE9A}"/>
              </a:ext>
            </a:extLst>
          </p:cNvPr>
          <p:cNvSpPr/>
          <p:nvPr/>
        </p:nvSpPr>
        <p:spPr>
          <a:xfrm>
            <a:off x="6594929" y="5502910"/>
            <a:ext cx="219456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7CDF6-52C6-A76B-71E1-358FEB499D44}"/>
              </a:ext>
            </a:extLst>
          </p:cNvPr>
          <p:cNvSpPr>
            <a:spLocks noGrp="1"/>
          </p:cNvSpPr>
          <p:nvPr/>
        </p:nvSpPr>
        <p:spPr>
          <a:xfrm rot="16200000" flipV="1">
            <a:off x="10665976" y="4293710"/>
            <a:ext cx="7010955" cy="47310"/>
          </a:xfrm>
          <a:prstGeom prst="rect">
            <a:avLst/>
          </a:prstGeom>
          <a:solidFill>
            <a:srgbClr val="D8E2EC"/>
          </a:solidFill>
          <a:ln w="317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811C0F-D140-2CCB-9C17-9A7BB414C763}"/>
              </a:ext>
            </a:extLst>
          </p:cNvPr>
          <p:cNvSpPr>
            <a:spLocks noGrp="1"/>
          </p:cNvSpPr>
          <p:nvPr/>
        </p:nvSpPr>
        <p:spPr>
          <a:xfrm>
            <a:off x="908050" y="818595"/>
            <a:ext cx="13239750" cy="45719"/>
          </a:xfrm>
          <a:prstGeom prst="rect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AA137F-3977-6999-4ABC-FD541F85B655}"/>
              </a:ext>
            </a:extLst>
          </p:cNvPr>
          <p:cNvSpPr txBox="1"/>
          <p:nvPr/>
        </p:nvSpPr>
        <p:spPr>
          <a:xfrm>
            <a:off x="8839200" y="5195877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E2362F-2519-BCBD-0D64-7BE5E21A511D}"/>
              </a:ext>
            </a:extLst>
          </p:cNvPr>
          <p:cNvSpPr txBox="1"/>
          <p:nvPr/>
        </p:nvSpPr>
        <p:spPr>
          <a:xfrm>
            <a:off x="6103350" y="5208577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.</a:t>
            </a:r>
          </a:p>
        </p:txBody>
      </p:sp>
      <p:sp>
        <p:nvSpPr>
          <p:cNvPr id="9000" name="Footer Divider"/>
          <p:cNvSpPr/>
          <p:nvPr/>
        </p:nvSpPr>
        <p:spPr>
          <a:xfrm>
            <a:off x="857250" y="8090000"/>
            <a:ext cx="13525500" cy="635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ooter Text"/>
          <p:cNvSpPr txBox="1"/>
          <p:nvPr/>
        </p:nvSpPr>
        <p:spPr>
          <a:xfrm>
            <a:off x="857250" y="8145000"/>
            <a:ext cx="9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RP-CS-011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Progress Presentation 2</a:t>
            </a:r>
            <a:r>
              <a:rPr lang="en-US" sz="900" dirty="0">
                <a:solidFill>
                  <a:srgbClr val="B7BFC9"/>
                </a:solidFill>
                <a:latin typeface="Calibri" pitchFamily="34" charset="0"/>
              </a:rPr>
              <a:t>  ·  </a:t>
            </a:r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Specializing in Cyber Security</a:t>
            </a:r>
          </a:p>
        </p:txBody>
      </p:sp>
      <p:sp>
        <p:nvSpPr>
          <p:cNvPr id="9002" name="Page Number"/>
          <p:cNvSpPr txBox="1"/>
          <p:nvPr/>
        </p:nvSpPr>
        <p:spPr>
          <a:xfrm>
            <a:off x="13182750" y="8145000"/>
            <a:ext cx="1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dirty="0">
                <a:solidFill>
                  <a:srgbClr val="6B7686"/>
                </a:solidFill>
                <a:latin typeface="Calibri" pitchFamily="34" charset="0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35004778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3" ma:contentTypeDescription="Create a new document." ma:contentTypeScope="" ma:versionID="ed8957265f396ef1a05f01d558c99f69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1597c9238c56ccca7c2d5e0a413be07c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D5FEBD-F150-479D-AC93-417F33903D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d1aa7-8ede-435c-b3a7-ac11bacaeb50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60B0E4-8468-42F7-8BB7-77783F363879}">
  <ds:schemaRefs>
    <ds:schemaRef ds:uri="http://schemas.microsoft.com/office/2006/metadata/properties"/>
    <ds:schemaRef ds:uri="http://schemas.microsoft.com/office/infopath/2007/PartnerControls"/>
    <ds:schemaRef ds:uri="db72c12f-87a4-44ab-bbc5-4cc8306b158a"/>
    <ds:schemaRef ds:uri="5aad1aa7-8ede-435c-b3a7-ac11bacaeb50"/>
  </ds:schemaRefs>
</ds:datastoreItem>
</file>

<file path=customXml/itemProps3.xml><?xml version="1.0" encoding="utf-8"?>
<ds:datastoreItem xmlns:ds="http://schemas.openxmlformats.org/officeDocument/2006/customXml" ds:itemID="{614EE4A5-BE31-47DB-A066-880AD8F974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1615</Words>
  <Application>Microsoft Office PowerPoint</Application>
  <DocSecurity>0</DocSecurity>
  <PresentationFormat>Custom</PresentationFormat>
  <Paragraphs>172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PRIYADEWA P D J C it22628718</cp:lastModifiedBy>
  <cp:revision>38</cp:revision>
  <dcterms:created xsi:type="dcterms:W3CDTF">2026-08-29T08:08:44Z</dcterms:created>
  <dcterms:modified xsi:type="dcterms:W3CDTF">2026-10-20T06:41:29Z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