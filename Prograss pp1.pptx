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5" r:id="rId10"/>
    <p:sldId id="261" r:id="rId11"/>
    <p:sldId id="262" r:id="rId12"/>
    <p:sldId id="263" r:id="rId13"/>
    <p:sldId id="264" r:id="rId14"/>
    <p:sldId id="270" r:id="rId15"/>
    <p:sldId id="272" r:id="rId16"/>
    <p:sldId id="273" r:id="rId17"/>
    <p:sldId id="274" r:id="rId18"/>
    <p:sldId id="275" r:id="rId19"/>
    <p:sldId id="276" r:id="rId20"/>
    <p:sldId id="277" r:id="rId21"/>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0B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2D1FFF-9E42-7462-752D-A64FDF123E70}" v="1" dt="2026-05-15T16:18:16.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25" d="100"/>
          <a:sy n="125" d="100"/>
        </p:scale>
        <p:origin x="1194"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DARA S V it22299048" userId="S::it22299048@my.sliit.lk::6783e83f-e22b-4ae2-b7d9-f434d92ef37c" providerId="AD" clId="Web-{7C2D1FFF-9E42-7462-752D-A64FDF123E70}"/>
    <pc:docChg chg="modSld">
      <pc:chgData name="VIDARA S V it22299048" userId="S::it22299048@my.sliit.lk::6783e83f-e22b-4ae2-b7d9-f434d92ef37c" providerId="AD" clId="Web-{7C2D1FFF-9E42-7462-752D-A64FDF123E70}" dt="2026-05-15T16:18:16.726" v="0" actId="14100"/>
      <pc:docMkLst>
        <pc:docMk/>
      </pc:docMkLst>
      <pc:sldChg chg="modSp">
        <pc:chgData name="VIDARA S V it22299048" userId="S::it22299048@my.sliit.lk::6783e83f-e22b-4ae2-b7d9-f434d92ef37c" providerId="AD" clId="Web-{7C2D1FFF-9E42-7462-752D-A64FDF123E70}" dt="2026-05-15T16:18:16.726" v="0" actId="14100"/>
        <pc:sldMkLst>
          <pc:docMk/>
          <pc:sldMk cId="0" sldId="259"/>
        </pc:sldMkLst>
        <pc:spChg chg="mod">
          <ac:chgData name="VIDARA S V it22299048" userId="S::it22299048@my.sliit.lk::6783e83f-e22b-4ae2-b7d9-f434d92ef37c" providerId="AD" clId="Web-{7C2D1FFF-9E42-7462-752D-A64FDF123E70}" dt="2026-05-15T16:18:16.726" v="0" actId="14100"/>
          <ac:spMkLst>
            <pc:docMk/>
            <pc:sldMk cId="0" sldId="259"/>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1997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F0DF5-4000-91F9-52E2-6CF17DF15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AA6D3-57C9-230E-7335-0652DA375E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9A86653-0D2A-6C8B-A502-421F68B2B1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E2B4A0-B618-04EB-5B4F-518FA5DDE2BE}"/>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1832355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extLst>
      <p:ext uri="{BB962C8B-B14F-4D97-AF65-F5344CB8AC3E}">
        <p14:creationId xmlns:p14="http://schemas.microsoft.com/office/powerpoint/2010/main" val="1340359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0C23">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extLst>
      <p:ext uri="{BB962C8B-B14F-4D97-AF65-F5344CB8AC3E}">
        <p14:creationId xmlns:p14="http://schemas.microsoft.com/office/powerpoint/2010/main" val="2746371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50664" y="612204"/>
            <a:ext cx="8042672" cy="874068"/>
          </a:xfrm>
          <a:prstGeom prst="rect">
            <a:avLst/>
          </a:prstGeom>
          <a:noFill/>
          <a:ln/>
        </p:spPr>
        <p:txBody>
          <a:bodyPr wrap="square" lIns="0" tIns="0" rIns="0" bIns="0" rtlCol="0" anchor="t"/>
          <a:lstStyle/>
          <a:p>
            <a:pPr marL="0" indent="0" algn="ctr">
              <a:lnSpc>
                <a:spcPts val="3400"/>
              </a:lnSpc>
              <a:buNone/>
            </a:pPr>
            <a:r>
              <a:rPr lang="en-US" sz="280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A Lightweight Detection and Defense with Awareness System for AI-Driven Scams</a:t>
            </a:r>
            <a:endPar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1"/>
          <p:cNvSpPr/>
          <p:nvPr/>
        </p:nvSpPr>
        <p:spPr>
          <a:xfrm>
            <a:off x="560189" y="1621594"/>
            <a:ext cx="8042672" cy="251817"/>
          </a:xfrm>
          <a:prstGeom prst="rect">
            <a:avLst/>
          </a:prstGeom>
          <a:noFill/>
          <a:ln/>
        </p:spPr>
        <p:txBody>
          <a:bodyPr wrap="none" lIns="0" tIns="0" rIns="0" bIns="0" rtlCol="0" anchor="t"/>
          <a:lstStyle/>
          <a:p>
            <a:pPr marL="0" indent="0" algn="l">
              <a:lnSpc>
                <a:spcPts val="1950"/>
              </a:lnSpc>
              <a:buNone/>
            </a:pP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Progress Presentation 1 · Research Project (IT4010) 2026</a:t>
            </a:r>
            <a:endParaRPr lang="en-US" sz="1200" dirty="0">
              <a:latin typeface="Times New Roman" panose="02020603050405020304" pitchFamily="18" charset="0"/>
              <a:cs typeface="Times New Roman" panose="02020603050405020304" pitchFamily="18" charset="0"/>
            </a:endParaRPr>
          </a:p>
        </p:txBody>
      </p:sp>
      <p:sp>
        <p:nvSpPr>
          <p:cNvPr id="5" name="Text 3"/>
          <p:cNvSpPr/>
          <p:nvPr/>
        </p:nvSpPr>
        <p:spPr>
          <a:xfrm>
            <a:off x="747415" y="2192945"/>
            <a:ext cx="1691357" cy="201439"/>
          </a:xfrm>
          <a:prstGeom prst="rect">
            <a:avLst/>
          </a:prstGeom>
          <a:noFill/>
          <a:ln/>
        </p:spPr>
        <p:txBody>
          <a:bodyPr wrap="none" lIns="0" tIns="0" rIns="0" bIns="0" rtlCol="0" anchor="t"/>
          <a:lstStyle/>
          <a:p>
            <a:pPr marL="0" indent="0" algn="l">
              <a:lnSpc>
                <a:spcPts val="1550"/>
              </a:lnSpc>
              <a:buNone/>
            </a:pPr>
            <a:r>
              <a:rPr lang="en-US" sz="950" dirty="0">
                <a:solidFill>
                  <a:srgbClr val="A95B95"/>
                </a:solidFill>
                <a:latin typeface="Times New Roman" panose="02020603050405020304" pitchFamily="18" charset="0"/>
                <a:cs typeface="Times New Roman" panose="02020603050405020304" pitchFamily="18" charset="0"/>
              </a:rPr>
              <a:t>SLIIT</a:t>
            </a:r>
            <a:r>
              <a:rPr lang="en-US" sz="950" dirty="0">
                <a:solidFill>
                  <a:srgbClr val="DAD8E9"/>
                </a:solidFill>
                <a:latin typeface="Times New Roman" panose="02020603050405020304" pitchFamily="18" charset="0"/>
                <a:ea typeface="Mukta Light" pitchFamily="34" charset="-122"/>
                <a:cs typeface="Times New Roman" panose="02020603050405020304" pitchFamily="18" charset="0"/>
              </a:rPr>
              <a:t> </a:t>
            </a:r>
            <a:r>
              <a:rPr lang="en-US" sz="950" dirty="0">
                <a:solidFill>
                  <a:srgbClr val="A95B95"/>
                </a:solidFill>
                <a:latin typeface="Times New Roman" panose="02020603050405020304" pitchFamily="18" charset="0"/>
                <a:cs typeface="Times New Roman" panose="02020603050405020304" pitchFamily="18" charset="0"/>
              </a:rPr>
              <a:t>— FACULTY OF COMPUTING</a:t>
            </a:r>
          </a:p>
        </p:txBody>
      </p:sp>
      <p:sp>
        <p:nvSpPr>
          <p:cNvPr id="6" name="Shape 4"/>
          <p:cNvSpPr/>
          <p:nvPr/>
        </p:nvSpPr>
        <p:spPr>
          <a:xfrm>
            <a:off x="2997185" y="2151050"/>
            <a:ext cx="2163900" cy="305321"/>
          </a:xfrm>
          <a:prstGeom prst="roundRect">
            <a:avLst>
              <a:gd name="adj" fmla="val 17316"/>
            </a:avLst>
          </a:prstGeom>
          <a:noFill/>
          <a:ln w="4763">
            <a:solidFill>
              <a:srgbClr val="A95B95"/>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3047321" y="2197559"/>
            <a:ext cx="1709217" cy="201439"/>
          </a:xfrm>
          <a:prstGeom prst="rect">
            <a:avLst/>
          </a:prstGeom>
          <a:noFill/>
          <a:ln/>
        </p:spPr>
        <p:txBody>
          <a:bodyPr wrap="none" lIns="0" tIns="0" rIns="0" bIns="0" rtlCol="0" anchor="t"/>
          <a:lstStyle/>
          <a:p>
            <a:pPr marL="0" indent="0" algn="l">
              <a:lnSpc>
                <a:spcPts val="1550"/>
              </a:lnSpc>
              <a:buNone/>
            </a:pPr>
            <a:r>
              <a:rPr lang="en-US" sz="950" dirty="0">
                <a:solidFill>
                  <a:srgbClr val="A95B95"/>
                </a:solidFill>
                <a:latin typeface="Times New Roman" panose="02020603050405020304" pitchFamily="18" charset="0"/>
                <a:ea typeface="Mukta Light" pitchFamily="34" charset="-122"/>
                <a:cs typeface="Times New Roman" panose="02020603050405020304" pitchFamily="18" charset="0"/>
              </a:rPr>
              <a:t>SPECIALIZING IN CYBER SECURITY</a:t>
            </a:r>
            <a:endParaRPr lang="en-US" sz="950" dirty="0">
              <a:latin typeface="Times New Roman" panose="02020603050405020304" pitchFamily="18" charset="0"/>
              <a:cs typeface="Times New Roman" panose="02020603050405020304" pitchFamily="18" charset="0"/>
            </a:endParaRPr>
          </a:p>
        </p:txBody>
      </p:sp>
      <p:sp>
        <p:nvSpPr>
          <p:cNvPr id="8" name="Shape 6"/>
          <p:cNvSpPr/>
          <p:nvPr/>
        </p:nvSpPr>
        <p:spPr>
          <a:xfrm>
            <a:off x="5359324" y="2151905"/>
            <a:ext cx="1775758" cy="305321"/>
          </a:xfrm>
          <a:prstGeom prst="roundRect">
            <a:avLst>
              <a:gd name="adj" fmla="val 17316"/>
            </a:avLst>
          </a:prstGeom>
          <a:noFill/>
          <a:ln w="4763">
            <a:solidFill>
              <a:srgbClr val="A95B95"/>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Text 7"/>
          <p:cNvSpPr/>
          <p:nvPr/>
        </p:nvSpPr>
        <p:spPr>
          <a:xfrm>
            <a:off x="5421084" y="2203683"/>
            <a:ext cx="1434926" cy="201439"/>
          </a:xfrm>
          <a:prstGeom prst="rect">
            <a:avLst/>
          </a:prstGeom>
          <a:noFill/>
          <a:ln/>
        </p:spPr>
        <p:txBody>
          <a:bodyPr wrap="none" lIns="0" tIns="0" rIns="0" bIns="0" rtlCol="0" anchor="t"/>
          <a:lstStyle/>
          <a:p>
            <a:pPr marL="0" indent="0" algn="l">
              <a:lnSpc>
                <a:spcPts val="1550"/>
              </a:lnSpc>
              <a:buNone/>
            </a:pPr>
            <a:r>
              <a:rPr lang="en-US" sz="950" dirty="0">
                <a:solidFill>
                  <a:srgbClr val="A95B95"/>
                </a:solidFill>
                <a:latin typeface="Times New Roman" panose="02020603050405020304" pitchFamily="18" charset="0"/>
                <a:ea typeface="Mukta Light" pitchFamily="34" charset="-122"/>
                <a:cs typeface="Times New Roman" panose="02020603050405020304" pitchFamily="18" charset="0"/>
              </a:rPr>
              <a:t>GROUP PROJECT: R26-CS-011</a:t>
            </a:r>
            <a:endParaRPr lang="en-US" sz="950" dirty="0">
              <a:latin typeface="Times New Roman" panose="02020603050405020304" pitchFamily="18" charset="0"/>
              <a:cs typeface="Times New Roman" panose="02020603050405020304" pitchFamily="18" charset="0"/>
            </a:endParaRPr>
          </a:p>
        </p:txBody>
      </p:sp>
      <p:sp>
        <p:nvSpPr>
          <p:cNvPr id="10" name="Shape 8"/>
          <p:cNvSpPr/>
          <p:nvPr/>
        </p:nvSpPr>
        <p:spPr>
          <a:xfrm>
            <a:off x="550664" y="2712021"/>
            <a:ext cx="8042672" cy="1819275"/>
          </a:xfrm>
          <a:prstGeom prst="roundRect">
            <a:avLst>
              <a:gd name="adj" fmla="val 3633"/>
            </a:avLst>
          </a:prstGeom>
          <a:noFill/>
          <a:ln w="9525">
            <a:solidFill>
              <a:srgbClr val="FFFFFF">
                <a:alpha val="24000"/>
              </a:srgbClr>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1" name="Shape 9"/>
          <p:cNvSpPr/>
          <p:nvPr/>
        </p:nvSpPr>
        <p:spPr>
          <a:xfrm>
            <a:off x="560189" y="2721546"/>
            <a:ext cx="8023622" cy="450056"/>
          </a:xfrm>
          <a:prstGeom prst="rect">
            <a:avLst/>
          </a:prstGeom>
          <a:solidFill>
            <a:srgbClr val="FFFFFF">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2" name="Text 10"/>
          <p:cNvSpPr/>
          <p:nvPr/>
        </p:nvSpPr>
        <p:spPr>
          <a:xfrm>
            <a:off x="717649" y="2820665"/>
            <a:ext cx="2358033" cy="251817"/>
          </a:xfrm>
          <a:prstGeom prst="rect">
            <a:avLst/>
          </a:prstGeom>
          <a:noFill/>
          <a:ln/>
        </p:spPr>
        <p:txBody>
          <a:bodyPr wrap="none" lIns="0" tIns="0" rIns="0" bIns="0" rtlCol="0" anchor="t"/>
          <a:lstStyle/>
          <a:p>
            <a:pPr marL="0" indent="0" algn="l">
              <a:lnSpc>
                <a:spcPts val="1950"/>
              </a:lnSpc>
              <a:buNone/>
            </a:pP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Student IT Number</a:t>
            </a:r>
            <a:endParaRPr lang="en-US" sz="1200" dirty="0">
              <a:latin typeface="Times New Roman" panose="02020603050405020304" pitchFamily="18" charset="0"/>
              <a:cs typeface="Times New Roman" panose="02020603050405020304" pitchFamily="18" charset="0"/>
            </a:endParaRPr>
          </a:p>
        </p:txBody>
      </p:sp>
      <p:sp>
        <p:nvSpPr>
          <p:cNvPr id="13" name="Text 11"/>
          <p:cNvSpPr/>
          <p:nvPr/>
        </p:nvSpPr>
        <p:spPr>
          <a:xfrm>
            <a:off x="2905209" y="2827346"/>
            <a:ext cx="2354833" cy="251817"/>
          </a:xfrm>
          <a:prstGeom prst="rect">
            <a:avLst/>
          </a:prstGeom>
          <a:noFill/>
          <a:ln/>
        </p:spPr>
        <p:txBody>
          <a:bodyPr wrap="none" lIns="0" tIns="0" rIns="0" bIns="0" rtlCol="0" anchor="t"/>
          <a:lstStyle/>
          <a:p>
            <a:pPr marL="0" indent="0" algn="l">
              <a:lnSpc>
                <a:spcPts val="1950"/>
              </a:lnSpc>
              <a:buNone/>
            </a:pP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Name</a:t>
            </a:r>
            <a:endParaRPr lang="en-US" sz="1200" dirty="0">
              <a:latin typeface="Times New Roman" panose="02020603050405020304" pitchFamily="18" charset="0"/>
              <a:cs typeface="Times New Roman" panose="02020603050405020304" pitchFamily="18" charset="0"/>
            </a:endParaRPr>
          </a:p>
        </p:txBody>
      </p:sp>
      <p:sp>
        <p:nvSpPr>
          <p:cNvPr id="14" name="Text 12"/>
          <p:cNvSpPr/>
          <p:nvPr/>
        </p:nvSpPr>
        <p:spPr>
          <a:xfrm>
            <a:off x="5079502" y="2839048"/>
            <a:ext cx="2357214" cy="251817"/>
          </a:xfrm>
          <a:prstGeom prst="rect">
            <a:avLst/>
          </a:prstGeom>
          <a:noFill/>
          <a:ln/>
        </p:spPr>
        <p:txBody>
          <a:bodyPr wrap="none" lIns="0" tIns="0" rIns="0" bIns="0" rtlCol="0" anchor="t"/>
          <a:lstStyle/>
          <a:p>
            <a:pPr marL="0" indent="0" algn="l">
              <a:lnSpc>
                <a:spcPts val="1950"/>
              </a:lnSpc>
              <a:buNone/>
            </a:pP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Role</a:t>
            </a:r>
            <a:endParaRPr lang="en-US" sz="1200" dirty="0">
              <a:latin typeface="Times New Roman" panose="02020603050405020304" pitchFamily="18" charset="0"/>
              <a:cs typeface="Times New Roman" panose="02020603050405020304" pitchFamily="18" charset="0"/>
            </a:endParaRPr>
          </a:p>
        </p:txBody>
      </p:sp>
      <p:sp>
        <p:nvSpPr>
          <p:cNvPr id="15" name="Shape 13"/>
          <p:cNvSpPr/>
          <p:nvPr/>
        </p:nvSpPr>
        <p:spPr>
          <a:xfrm>
            <a:off x="560189" y="3171602"/>
            <a:ext cx="8023622" cy="450056"/>
          </a:xfrm>
          <a:prstGeom prst="rect">
            <a:avLst/>
          </a:prstGeom>
          <a:solidFill>
            <a:srgbClr val="000000">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6" name="Text 14"/>
          <p:cNvSpPr/>
          <p:nvPr/>
        </p:nvSpPr>
        <p:spPr>
          <a:xfrm>
            <a:off x="717649" y="3270721"/>
            <a:ext cx="2358033" cy="251817"/>
          </a:xfrm>
          <a:prstGeom prst="rect">
            <a:avLst/>
          </a:prstGeom>
          <a:noFill/>
          <a:ln/>
        </p:spPr>
        <p:txBody>
          <a:bodyPr wrap="none" lIns="0" tIns="0" rIns="0" bIns="0" rtlCol="0" anchor="t"/>
          <a:lstStyle/>
          <a:p>
            <a:pPr marL="0" indent="0" algn="l">
              <a:lnSpc>
                <a:spcPts val="1950"/>
              </a:lnSpc>
              <a:buNone/>
            </a:pP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IT22277268</a:t>
            </a:r>
            <a:endParaRPr lang="en-US" sz="1200" dirty="0">
              <a:latin typeface="Times New Roman" panose="02020603050405020304" pitchFamily="18" charset="0"/>
              <a:cs typeface="Times New Roman" panose="02020603050405020304" pitchFamily="18" charset="0"/>
            </a:endParaRPr>
          </a:p>
        </p:txBody>
      </p:sp>
      <p:sp>
        <p:nvSpPr>
          <p:cNvPr id="17" name="Text 15"/>
          <p:cNvSpPr/>
          <p:nvPr/>
        </p:nvSpPr>
        <p:spPr>
          <a:xfrm>
            <a:off x="2905208" y="3286570"/>
            <a:ext cx="2354833" cy="251817"/>
          </a:xfrm>
          <a:prstGeom prst="rect">
            <a:avLst/>
          </a:prstGeom>
          <a:noFill/>
          <a:ln/>
        </p:spPr>
        <p:txBody>
          <a:bodyPr wrap="none" lIns="0" tIns="0" rIns="0" bIns="0" rtlCol="0" anchor="t"/>
          <a:lstStyle/>
          <a:p>
            <a:pPr marL="0" indent="0" algn="l">
              <a:lnSpc>
                <a:spcPts val="1950"/>
              </a:lnSpc>
              <a:buNone/>
            </a:pP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Aberathna H.M.M.K</a:t>
            </a:r>
            <a:endParaRPr lang="en-US" sz="1200" dirty="0">
              <a:latin typeface="Times New Roman" panose="02020603050405020304" pitchFamily="18" charset="0"/>
              <a:cs typeface="Times New Roman" panose="02020603050405020304" pitchFamily="18" charset="0"/>
            </a:endParaRPr>
          </a:p>
        </p:txBody>
      </p:sp>
      <p:sp>
        <p:nvSpPr>
          <p:cNvPr id="18" name="Text 16"/>
          <p:cNvSpPr/>
          <p:nvPr/>
        </p:nvSpPr>
        <p:spPr>
          <a:xfrm>
            <a:off x="5079502" y="3268833"/>
            <a:ext cx="2965177" cy="251817"/>
          </a:xfrm>
          <a:prstGeom prst="rect">
            <a:avLst/>
          </a:prstGeom>
          <a:noFill/>
          <a:ln/>
        </p:spPr>
        <p:txBody>
          <a:bodyPr wrap="none" lIns="0" tIns="0" rIns="0" bIns="0" rtlCol="0" anchor="t"/>
          <a:lstStyle/>
          <a:p>
            <a:pPr>
              <a:lnSpc>
                <a:spcPts val="1950"/>
              </a:lnSpc>
            </a:pPr>
            <a:r>
              <a:rPr lang="en-AU" sz="1200" dirty="0">
                <a:solidFill>
                  <a:schemeClr val="bg1"/>
                </a:solidFill>
                <a:latin typeface="Times New Roman" panose="02020603050405020304" pitchFamily="18" charset="0"/>
                <a:cs typeface="Times New Roman" panose="02020603050405020304" pitchFamily="18" charset="0"/>
              </a:rPr>
              <a:t>A Lightweight Defence Model for AI-Driven Scams</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19" name="Shape 17"/>
          <p:cNvSpPr/>
          <p:nvPr/>
        </p:nvSpPr>
        <p:spPr>
          <a:xfrm>
            <a:off x="560189" y="3621657"/>
            <a:ext cx="8023622" cy="479823"/>
          </a:xfrm>
          <a:prstGeom prst="rect">
            <a:avLst/>
          </a:prstGeom>
          <a:solidFill>
            <a:srgbClr val="FFFFFF">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8"/>
          <p:cNvSpPr/>
          <p:nvPr/>
        </p:nvSpPr>
        <p:spPr>
          <a:xfrm>
            <a:off x="717649" y="3720778"/>
            <a:ext cx="2358033" cy="251817"/>
          </a:xfrm>
          <a:prstGeom prst="rect">
            <a:avLst/>
          </a:prstGeom>
          <a:noFill/>
          <a:ln/>
        </p:spPr>
        <p:txBody>
          <a:bodyPr wrap="none" lIns="0" tIns="0" rIns="0" bIns="0" rtlCol="0" anchor="t"/>
          <a:lstStyle/>
          <a:p>
            <a:pPr marL="0" indent="0" algn="l">
              <a:lnSpc>
                <a:spcPts val="1950"/>
              </a:lnSpc>
              <a:buNone/>
            </a:pP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IT22299048</a:t>
            </a:r>
            <a:endParaRPr lang="en-US" sz="1200" dirty="0">
              <a:latin typeface="Times New Roman" panose="02020603050405020304" pitchFamily="18" charset="0"/>
              <a:cs typeface="Times New Roman" panose="02020603050405020304" pitchFamily="18" charset="0"/>
            </a:endParaRPr>
          </a:p>
        </p:txBody>
      </p:sp>
      <p:sp>
        <p:nvSpPr>
          <p:cNvPr id="21" name="Text 19"/>
          <p:cNvSpPr/>
          <p:nvPr/>
        </p:nvSpPr>
        <p:spPr>
          <a:xfrm>
            <a:off x="2905209" y="3699373"/>
            <a:ext cx="2354833" cy="251817"/>
          </a:xfrm>
          <a:prstGeom prst="rect">
            <a:avLst/>
          </a:prstGeom>
          <a:noFill/>
          <a:ln/>
        </p:spPr>
        <p:txBody>
          <a:bodyPr wrap="none" lIns="0" tIns="0" rIns="0" bIns="0" rtlCol="0" anchor="t"/>
          <a:lstStyle/>
          <a:p>
            <a:pPr marL="0" indent="0" algn="l">
              <a:lnSpc>
                <a:spcPts val="1950"/>
              </a:lnSpc>
              <a:buNone/>
            </a:pP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Vidara S V</a:t>
            </a:r>
            <a:endParaRPr lang="en-US" sz="1200" dirty="0">
              <a:latin typeface="Times New Roman" panose="02020603050405020304" pitchFamily="18" charset="0"/>
              <a:cs typeface="Times New Roman" panose="02020603050405020304" pitchFamily="18" charset="0"/>
            </a:endParaRPr>
          </a:p>
        </p:txBody>
      </p:sp>
      <p:sp>
        <p:nvSpPr>
          <p:cNvPr id="22" name="Text 20"/>
          <p:cNvSpPr/>
          <p:nvPr/>
        </p:nvSpPr>
        <p:spPr>
          <a:xfrm>
            <a:off x="5079502" y="3594869"/>
            <a:ext cx="3464423" cy="251817"/>
          </a:xfrm>
          <a:prstGeom prst="rect">
            <a:avLst/>
          </a:prstGeom>
          <a:noFill/>
          <a:ln/>
        </p:spPr>
        <p:txBody>
          <a:bodyPr wrap="none" lIns="0" tIns="0" rIns="0" bIns="0" rtlCol="0" anchor="t"/>
          <a:lstStyle/>
          <a:p>
            <a:pPr marL="0" indent="0" algn="l">
              <a:lnSpc>
                <a:spcPts val="1950"/>
              </a:lnSpc>
              <a:buNone/>
            </a:pP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Human-Centered Awareness and Defense System for </a:t>
            </a:r>
          </a:p>
          <a:p>
            <a:pPr marL="0" indent="0" algn="l">
              <a:lnSpc>
                <a:spcPts val="1950"/>
              </a:lnSpc>
              <a:buNone/>
            </a:pP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AI –Driven Scams</a:t>
            </a:r>
          </a:p>
          <a:p>
            <a:pPr marL="0" indent="0" algn="l">
              <a:lnSpc>
                <a:spcPts val="1950"/>
              </a:lnSpc>
              <a:buNone/>
            </a:pPr>
            <a:endParaRPr lang="en-US" sz="1200" dirty="0">
              <a:latin typeface="Times New Roman" panose="02020603050405020304" pitchFamily="18" charset="0"/>
              <a:cs typeface="Times New Roman" panose="02020603050405020304" pitchFamily="18" charset="0"/>
            </a:endParaRPr>
          </a:p>
        </p:txBody>
      </p:sp>
      <p:sp>
        <p:nvSpPr>
          <p:cNvPr id="23" name="Shape 21"/>
          <p:cNvSpPr/>
          <p:nvPr/>
        </p:nvSpPr>
        <p:spPr>
          <a:xfrm>
            <a:off x="560189" y="4071713"/>
            <a:ext cx="8023622" cy="540319"/>
          </a:xfrm>
          <a:prstGeom prst="rect">
            <a:avLst/>
          </a:prstGeom>
          <a:solidFill>
            <a:srgbClr val="000000">
              <a:alpha val="4000"/>
            </a:srgbClr>
          </a:solidFill>
          <a:ln/>
        </p:spPr>
        <p:txBody>
          <a:bodyPr/>
          <a:lstStyle/>
          <a:p>
            <a:endParaRPr lang="en-US" dirty="0">
              <a:solidFill>
                <a:schemeClr val="bg1"/>
              </a:solidFill>
              <a:latin typeface="Times New Roman" panose="02020603050405020304" pitchFamily="18" charset="0"/>
              <a:cs typeface="Times New Roman" panose="02020603050405020304" pitchFamily="18" charset="0"/>
            </a:endParaRPr>
          </a:p>
        </p:txBody>
      </p:sp>
      <p:sp>
        <p:nvSpPr>
          <p:cNvPr id="24" name="Text 22"/>
          <p:cNvSpPr/>
          <p:nvPr/>
        </p:nvSpPr>
        <p:spPr>
          <a:xfrm>
            <a:off x="717649" y="4170834"/>
            <a:ext cx="2358033" cy="251817"/>
          </a:xfrm>
          <a:prstGeom prst="rect">
            <a:avLst/>
          </a:prstGeom>
          <a:noFill/>
          <a:ln/>
        </p:spPr>
        <p:txBody>
          <a:bodyPr wrap="none" lIns="0" tIns="0" rIns="0" bIns="0" rtlCol="0" anchor="t"/>
          <a:lstStyle/>
          <a:p>
            <a:pPr marL="0" indent="0" algn="l">
              <a:lnSpc>
                <a:spcPts val="1950"/>
              </a:lnSpc>
              <a:buNone/>
            </a:pPr>
            <a:endParaRPr lang="en-US" sz="1200" dirty="0">
              <a:latin typeface="Times New Roman" panose="02020603050405020304" pitchFamily="18" charset="0"/>
              <a:cs typeface="Times New Roman" panose="02020603050405020304" pitchFamily="18" charset="0"/>
            </a:endParaRPr>
          </a:p>
        </p:txBody>
      </p:sp>
      <p:sp>
        <p:nvSpPr>
          <p:cNvPr id="25" name="Text 23"/>
          <p:cNvSpPr/>
          <p:nvPr/>
        </p:nvSpPr>
        <p:spPr>
          <a:xfrm>
            <a:off x="3395067" y="4170834"/>
            <a:ext cx="2354833" cy="251817"/>
          </a:xfrm>
          <a:prstGeom prst="rect">
            <a:avLst/>
          </a:prstGeom>
          <a:noFill/>
          <a:ln/>
        </p:spPr>
        <p:txBody>
          <a:bodyPr wrap="none" lIns="0" tIns="0" rIns="0" bIns="0" rtlCol="0" anchor="t"/>
          <a:lstStyle/>
          <a:p>
            <a:pPr marL="0" indent="0" algn="l">
              <a:lnSpc>
                <a:spcPts val="1950"/>
              </a:lnSpc>
              <a:buNone/>
            </a:pPr>
            <a:endParaRPr lang="en-US" sz="1200" dirty="0">
              <a:latin typeface="Times New Roman" panose="02020603050405020304" pitchFamily="18" charset="0"/>
              <a:cs typeface="Times New Roman" panose="02020603050405020304" pitchFamily="18" charset="0"/>
            </a:endParaRPr>
          </a:p>
        </p:txBody>
      </p:sp>
      <p:sp>
        <p:nvSpPr>
          <p:cNvPr id="26" name="Text 24"/>
          <p:cNvSpPr/>
          <p:nvPr/>
        </p:nvSpPr>
        <p:spPr>
          <a:xfrm>
            <a:off x="6069285" y="4170834"/>
            <a:ext cx="2357214" cy="251817"/>
          </a:xfrm>
          <a:prstGeom prst="rect">
            <a:avLst/>
          </a:prstGeom>
          <a:noFill/>
          <a:ln/>
        </p:spPr>
        <p:txBody>
          <a:bodyPr wrap="none" lIns="0" tIns="0" rIns="0" bIns="0" rtlCol="0" anchor="t"/>
          <a:lstStyle/>
          <a:p>
            <a:pPr marL="0" indent="0" algn="l">
              <a:lnSpc>
                <a:spcPts val="1950"/>
              </a:lnSpc>
              <a:buNone/>
            </a:pPr>
            <a:endParaRPr lang="en-US" sz="1200" dirty="0">
              <a:latin typeface="Times New Roman" panose="02020603050405020304" pitchFamily="18" charset="0"/>
              <a:cs typeface="Times New Roman" panose="02020603050405020304" pitchFamily="18" charset="0"/>
            </a:endParaRPr>
          </a:p>
        </p:txBody>
      </p:sp>
      <p:sp>
        <p:nvSpPr>
          <p:cNvPr id="27" name="Shape 4">
            <a:extLst>
              <a:ext uri="{FF2B5EF4-FFF2-40B4-BE49-F238E27FC236}">
                <a16:creationId xmlns:a16="http://schemas.microsoft.com/office/drawing/2014/main" id="{EEB5FE9E-EC78-E343-9242-1F6B2852B825}"/>
              </a:ext>
            </a:extLst>
          </p:cNvPr>
          <p:cNvSpPr/>
          <p:nvPr/>
        </p:nvSpPr>
        <p:spPr>
          <a:xfrm>
            <a:off x="683419" y="2151050"/>
            <a:ext cx="2082317" cy="305321"/>
          </a:xfrm>
          <a:prstGeom prst="roundRect">
            <a:avLst>
              <a:gd name="adj" fmla="val 17316"/>
            </a:avLst>
          </a:prstGeom>
          <a:noFill/>
          <a:ln w="4763">
            <a:solidFill>
              <a:srgbClr val="A95B95"/>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9" name="Text 18">
            <a:extLst>
              <a:ext uri="{FF2B5EF4-FFF2-40B4-BE49-F238E27FC236}">
                <a16:creationId xmlns:a16="http://schemas.microsoft.com/office/drawing/2014/main" id="{875FCAA7-2882-81E3-1B5B-A0740C914A35}"/>
              </a:ext>
            </a:extLst>
          </p:cNvPr>
          <p:cNvSpPr/>
          <p:nvPr/>
        </p:nvSpPr>
        <p:spPr>
          <a:xfrm>
            <a:off x="717649" y="4154984"/>
            <a:ext cx="2358033" cy="251817"/>
          </a:xfrm>
          <a:prstGeom prst="rect">
            <a:avLst/>
          </a:prstGeom>
          <a:noFill/>
          <a:ln/>
        </p:spPr>
        <p:txBody>
          <a:bodyPr wrap="none" lIns="0" tIns="0" rIns="0" bIns="0" rtlCol="0" anchor="t"/>
          <a:lstStyle/>
          <a:p>
            <a:pPr marL="0" indent="0" algn="l">
              <a:lnSpc>
                <a:spcPts val="1950"/>
              </a:lnSpc>
              <a:buNone/>
            </a:pP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IT22628718</a:t>
            </a:r>
            <a:endParaRPr lang="en-US" sz="1200" dirty="0">
              <a:latin typeface="Times New Roman" panose="02020603050405020304" pitchFamily="18" charset="0"/>
              <a:cs typeface="Times New Roman" panose="02020603050405020304" pitchFamily="18" charset="0"/>
            </a:endParaRPr>
          </a:p>
        </p:txBody>
      </p:sp>
      <p:sp>
        <p:nvSpPr>
          <p:cNvPr id="30" name="Text 19">
            <a:extLst>
              <a:ext uri="{FF2B5EF4-FFF2-40B4-BE49-F238E27FC236}">
                <a16:creationId xmlns:a16="http://schemas.microsoft.com/office/drawing/2014/main" id="{3D01C686-6B28-7CD6-B7FA-FA66EF9E0ABB}"/>
              </a:ext>
            </a:extLst>
          </p:cNvPr>
          <p:cNvSpPr/>
          <p:nvPr/>
        </p:nvSpPr>
        <p:spPr>
          <a:xfrm>
            <a:off x="2905207" y="4162909"/>
            <a:ext cx="2354833" cy="251817"/>
          </a:xfrm>
          <a:prstGeom prst="rect">
            <a:avLst/>
          </a:prstGeom>
          <a:noFill/>
          <a:ln/>
        </p:spPr>
        <p:txBody>
          <a:bodyPr wrap="none" lIns="0" tIns="0" rIns="0" bIns="0" rtlCol="0" anchor="t"/>
          <a:lstStyle/>
          <a:p>
            <a:pPr marL="0" indent="0" algn="l">
              <a:lnSpc>
                <a:spcPts val="1950"/>
              </a:lnSpc>
              <a:buNone/>
            </a:pPr>
            <a:r>
              <a:rPr lang="en-US" sz="1200" dirty="0">
                <a:solidFill>
                  <a:srgbClr val="DAD8E9"/>
                </a:solidFill>
                <a:latin typeface="Times New Roman" panose="02020603050405020304" pitchFamily="18" charset="0"/>
                <a:cs typeface="Times New Roman" panose="02020603050405020304" pitchFamily="18" charset="0"/>
              </a:rPr>
              <a:t>Priyadewa P D J C</a:t>
            </a:r>
            <a:endParaRPr lang="en-US" sz="1200" dirty="0">
              <a:latin typeface="Times New Roman" panose="02020603050405020304" pitchFamily="18" charset="0"/>
              <a:cs typeface="Times New Roman" panose="02020603050405020304" pitchFamily="18" charset="0"/>
            </a:endParaRPr>
          </a:p>
        </p:txBody>
      </p:sp>
      <p:sp>
        <p:nvSpPr>
          <p:cNvPr id="31" name="Text 20">
            <a:extLst>
              <a:ext uri="{FF2B5EF4-FFF2-40B4-BE49-F238E27FC236}">
                <a16:creationId xmlns:a16="http://schemas.microsoft.com/office/drawing/2014/main" id="{E5761B88-42F4-9025-89A9-D23ECED0BE22}"/>
              </a:ext>
            </a:extLst>
          </p:cNvPr>
          <p:cNvSpPr/>
          <p:nvPr/>
        </p:nvSpPr>
        <p:spPr>
          <a:xfrm>
            <a:off x="5079502" y="4149179"/>
            <a:ext cx="3429497" cy="251817"/>
          </a:xfrm>
          <a:prstGeom prst="rect">
            <a:avLst/>
          </a:prstGeom>
          <a:noFill/>
          <a:ln/>
        </p:spPr>
        <p:txBody>
          <a:bodyPr wrap="none" lIns="0" tIns="0" rIns="0" bIns="0" rtlCol="0" anchor="t"/>
          <a:lstStyle/>
          <a:p>
            <a:r>
              <a:rPr lang="en-US" sz="1200" dirty="0">
                <a:solidFill>
                  <a:schemeClr val="bg1"/>
                </a:solidFill>
                <a:latin typeface="Times New Roman" panose="02020603050405020304" pitchFamily="18" charset="0"/>
                <a:cs typeface="Times New Roman" panose="02020603050405020304" pitchFamily="18" charset="0"/>
              </a:rPr>
              <a:t>Explainable AI-Based Steganographic Image Detection</a:t>
            </a:r>
          </a:p>
          <a:p>
            <a:r>
              <a:rPr lang="en-US" sz="1200" dirty="0">
                <a:solidFill>
                  <a:schemeClr val="bg1"/>
                </a:solidFill>
                <a:latin typeface="Times New Roman" panose="02020603050405020304" pitchFamily="18" charset="0"/>
                <a:cs typeface="Times New Roman" panose="02020603050405020304" pitchFamily="18" charset="0"/>
              </a:rPr>
              <a:t>In Email Attachments</a:t>
            </a:r>
            <a:endParaRPr lang="en-US" sz="1200" dirty="0">
              <a:solidFill>
                <a:schemeClr val="bg1"/>
              </a:solidFill>
              <a:effectLst/>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D260B1C7-017A-CC49-FC2D-F3D321B88322}"/>
              </a:ext>
            </a:extLst>
          </p:cNvPr>
          <p:cNvSpPr txBox="1"/>
          <p:nvPr/>
        </p:nvSpPr>
        <p:spPr>
          <a:xfrm>
            <a:off x="7899399" y="4769897"/>
            <a:ext cx="1219200" cy="369332"/>
          </a:xfrm>
          <a:prstGeom prst="rect">
            <a:avLst/>
          </a:prstGeom>
          <a:solidFill>
            <a:srgbClr val="0A0B21"/>
          </a:solidFill>
        </p:spPr>
        <p:txBody>
          <a:bodyPr wrap="squar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4917" y="440382"/>
            <a:ext cx="7780883" cy="374898"/>
          </a:xfrm>
          <a:prstGeom prst="rect">
            <a:avLst/>
          </a:prstGeom>
          <a:noFill/>
          <a:ln/>
        </p:spPr>
        <p:txBody>
          <a:bodyPr wrap="none" lIns="0" tIns="0" rIns="0" bIns="0" rtlCol="0" anchor="t"/>
          <a:lstStyle/>
          <a:p>
            <a:pPr marL="0" indent="0" algn="l">
              <a:lnSpc>
                <a:spcPts val="295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Proposal Comments &amp; How We Addressed Them</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hape 1"/>
          <p:cNvSpPr/>
          <p:nvPr/>
        </p:nvSpPr>
        <p:spPr>
          <a:xfrm>
            <a:off x="524917" y="1046783"/>
            <a:ext cx="8094166" cy="3656261"/>
          </a:xfrm>
          <a:prstGeom prst="roundRect">
            <a:avLst>
              <a:gd name="adj" fmla="val 1551"/>
            </a:avLst>
          </a:prstGeom>
          <a:noFill/>
          <a:ln w="4763">
            <a:solidFill>
              <a:srgbClr val="FFFFFF">
                <a:alpha val="24000"/>
              </a:srgbClr>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4" name="Shape 2"/>
          <p:cNvSpPr/>
          <p:nvPr/>
        </p:nvSpPr>
        <p:spPr>
          <a:xfrm>
            <a:off x="529679" y="1051545"/>
            <a:ext cx="8084641" cy="349002"/>
          </a:xfrm>
          <a:prstGeom prst="rect">
            <a:avLst/>
          </a:prstGeom>
          <a:solidFill>
            <a:srgbClr val="FFFFFF">
              <a:alpha val="4000"/>
            </a:srgbClr>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664741" y="1125736"/>
            <a:ext cx="1182960" cy="200620"/>
          </a:xfrm>
          <a:prstGeom prst="rect">
            <a:avLst/>
          </a:prstGeom>
          <a:noFill/>
          <a:ln/>
        </p:spPr>
        <p:txBody>
          <a:bodyPr wrap="none" lIns="0" tIns="0" rIns="0" bIns="0" rtlCol="0" anchor="t"/>
          <a:lstStyle/>
          <a:p>
            <a:pPr marL="0" indent="0" algn="l">
              <a:lnSpc>
                <a:spcPts val="1550"/>
              </a:lnSpc>
              <a:buNone/>
            </a:pPr>
            <a:r>
              <a:rPr lang="en-US" sz="1050" b="1" dirty="0">
                <a:solidFill>
                  <a:srgbClr val="DAD8E9"/>
                </a:solidFill>
                <a:latin typeface="Times New Roman" panose="02020603050405020304" pitchFamily="18" charset="0"/>
                <a:ea typeface="Mukta Light" pitchFamily="34" charset="-122"/>
                <a:cs typeface="Times New Roman" panose="02020603050405020304" pitchFamily="18" charset="0"/>
              </a:rPr>
              <a:t>Student ID</a:t>
            </a:r>
            <a:endParaRPr lang="en-US" sz="1050" dirty="0">
              <a:latin typeface="Times New Roman" panose="02020603050405020304" pitchFamily="18" charset="0"/>
              <a:cs typeface="Times New Roman" panose="02020603050405020304" pitchFamily="18" charset="0"/>
            </a:endParaRPr>
          </a:p>
        </p:txBody>
      </p:sp>
      <p:sp>
        <p:nvSpPr>
          <p:cNvPr id="6" name="Text 4"/>
          <p:cNvSpPr/>
          <p:nvPr/>
        </p:nvSpPr>
        <p:spPr>
          <a:xfrm>
            <a:off x="1818996" y="1132204"/>
            <a:ext cx="2797522" cy="200620"/>
          </a:xfrm>
          <a:prstGeom prst="rect">
            <a:avLst/>
          </a:prstGeom>
          <a:noFill/>
          <a:ln/>
        </p:spPr>
        <p:txBody>
          <a:bodyPr wrap="none" lIns="0" tIns="0" rIns="0" bIns="0" rtlCol="0" anchor="t"/>
          <a:lstStyle/>
          <a:p>
            <a:pPr marL="0" indent="0" algn="l">
              <a:lnSpc>
                <a:spcPts val="1550"/>
              </a:lnSpc>
              <a:buNone/>
            </a:pPr>
            <a:r>
              <a:rPr lang="en-US" sz="1050" b="1" dirty="0">
                <a:solidFill>
                  <a:srgbClr val="DAD8E9"/>
                </a:solidFill>
                <a:latin typeface="Times New Roman" panose="02020603050405020304" pitchFamily="18" charset="0"/>
                <a:ea typeface="Mukta Light" pitchFamily="34" charset="-122"/>
                <a:cs typeface="Times New Roman" panose="02020603050405020304" pitchFamily="18" charset="0"/>
              </a:rPr>
              <a:t>Panel Comments</a:t>
            </a:r>
            <a:endParaRPr lang="en-US" sz="1050" dirty="0">
              <a:latin typeface="Times New Roman" panose="02020603050405020304" pitchFamily="18" charset="0"/>
              <a:cs typeface="Times New Roman" panose="02020603050405020304" pitchFamily="18" charset="0"/>
            </a:endParaRPr>
          </a:p>
        </p:txBody>
      </p:sp>
      <p:sp>
        <p:nvSpPr>
          <p:cNvPr id="7" name="Text 5"/>
          <p:cNvSpPr/>
          <p:nvPr/>
        </p:nvSpPr>
        <p:spPr>
          <a:xfrm>
            <a:off x="5194399" y="1125736"/>
            <a:ext cx="3285009" cy="200620"/>
          </a:xfrm>
          <a:prstGeom prst="rect">
            <a:avLst/>
          </a:prstGeom>
          <a:noFill/>
          <a:ln/>
        </p:spPr>
        <p:txBody>
          <a:bodyPr wrap="none" lIns="0" tIns="0" rIns="0" bIns="0" rtlCol="0" anchor="t"/>
          <a:lstStyle/>
          <a:p>
            <a:pPr marL="0" indent="0" algn="l">
              <a:lnSpc>
                <a:spcPts val="1550"/>
              </a:lnSpc>
              <a:buNone/>
            </a:pPr>
            <a:r>
              <a:rPr lang="en-US" sz="1050" b="1" dirty="0">
                <a:solidFill>
                  <a:srgbClr val="DAD8E9"/>
                </a:solidFill>
                <a:latin typeface="Times New Roman" panose="02020603050405020304" pitchFamily="18" charset="0"/>
                <a:ea typeface="Mukta Light" pitchFamily="34" charset="-122"/>
                <a:cs typeface="Times New Roman" panose="02020603050405020304" pitchFamily="18" charset="0"/>
              </a:rPr>
              <a:t>How We Address It</a:t>
            </a:r>
            <a:endParaRPr lang="en-US" sz="1050" dirty="0">
              <a:latin typeface="Times New Roman" panose="02020603050405020304" pitchFamily="18" charset="0"/>
              <a:cs typeface="Times New Roman" panose="02020603050405020304" pitchFamily="18" charset="0"/>
            </a:endParaRPr>
          </a:p>
        </p:txBody>
      </p:sp>
      <p:sp>
        <p:nvSpPr>
          <p:cNvPr id="9" name="Text 7"/>
          <p:cNvSpPr/>
          <p:nvPr/>
        </p:nvSpPr>
        <p:spPr>
          <a:xfrm>
            <a:off x="664592" y="1966018"/>
            <a:ext cx="1182960" cy="200620"/>
          </a:xfrm>
          <a:prstGeom prst="rect">
            <a:avLst/>
          </a:prstGeom>
          <a:noFill/>
          <a:ln/>
        </p:spPr>
        <p:txBody>
          <a:bodyPr wrap="none" lIns="0" tIns="0" rIns="0" bIns="0" rtlCol="0" anchor="t"/>
          <a:lstStyle/>
          <a:p>
            <a:r>
              <a:rPr lang="en-US" sz="1050" dirty="0">
                <a:solidFill>
                  <a:schemeClr val="bg1"/>
                </a:solidFill>
                <a:latin typeface="Times New Roman" panose="02020603050405020304" pitchFamily="18" charset="0"/>
                <a:cs typeface="Times New Roman" panose="02020603050405020304" pitchFamily="18" charset="0"/>
              </a:rPr>
              <a:t>IT22277268</a:t>
            </a:r>
          </a:p>
        </p:txBody>
      </p:sp>
      <p:sp>
        <p:nvSpPr>
          <p:cNvPr id="10" name="Text 8"/>
          <p:cNvSpPr/>
          <p:nvPr/>
        </p:nvSpPr>
        <p:spPr>
          <a:xfrm>
            <a:off x="1774477" y="1444110"/>
            <a:ext cx="2797522" cy="401241"/>
          </a:xfrm>
          <a:prstGeom prst="rect">
            <a:avLst/>
          </a:prstGeom>
          <a:noFill/>
          <a:ln/>
        </p:spPr>
        <p:txBody>
          <a:bodyPr wrap="none" lIns="0" tIns="0" rIns="0" bIns="0" rtlCol="0" anchor="t"/>
          <a:lstStyle/>
          <a:p>
            <a:pPr>
              <a:lnSpc>
                <a:spcPts val="1550"/>
              </a:lnSpc>
            </a:pP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11" name="Text 9"/>
          <p:cNvSpPr/>
          <p:nvPr/>
        </p:nvSpPr>
        <p:spPr>
          <a:xfrm>
            <a:off x="5194399" y="1793261"/>
            <a:ext cx="3335647" cy="401241"/>
          </a:xfrm>
          <a:prstGeom prst="rect">
            <a:avLst/>
          </a:prstGeom>
          <a:noFill/>
          <a:ln/>
        </p:spPr>
        <p:txBody>
          <a:bodyPr wrap="square" lIns="0" tIns="0" rIns="0" bIns="0" rtlCol="0" anchor="t"/>
          <a:lstStyle/>
          <a:p>
            <a:pPr marL="0" indent="0" algn="l">
              <a:lnSpc>
                <a:spcPts val="1550"/>
              </a:lnSpc>
              <a:buNone/>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Using simplified models suitable for lightweight environment and completed literature survey. Following ML course</a:t>
            </a:r>
            <a:endParaRPr lang="en-US" sz="1050" dirty="0">
              <a:latin typeface="Times New Roman" panose="02020603050405020304" pitchFamily="18" charset="0"/>
              <a:cs typeface="Times New Roman" panose="02020603050405020304" pitchFamily="18" charset="0"/>
            </a:endParaRPr>
          </a:p>
        </p:txBody>
      </p:sp>
      <p:sp>
        <p:nvSpPr>
          <p:cNvPr id="12" name="Shape 10"/>
          <p:cNvSpPr/>
          <p:nvPr/>
        </p:nvSpPr>
        <p:spPr>
          <a:xfrm>
            <a:off x="540018" y="1765397"/>
            <a:ext cx="8084641" cy="549622"/>
          </a:xfrm>
          <a:prstGeom prst="rect">
            <a:avLst/>
          </a:prstGeom>
          <a:solidFill>
            <a:srgbClr val="FFFFFF">
              <a:alpha val="4000"/>
            </a:srgbClr>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13" name="Text 11"/>
          <p:cNvSpPr/>
          <p:nvPr/>
        </p:nvSpPr>
        <p:spPr>
          <a:xfrm>
            <a:off x="664741" y="2938831"/>
            <a:ext cx="1182960" cy="200620"/>
          </a:xfrm>
          <a:prstGeom prst="rect">
            <a:avLst/>
          </a:prstGeom>
          <a:noFill/>
          <a:ln/>
        </p:spPr>
        <p:txBody>
          <a:bodyPr wrap="none" lIns="0" tIns="0" rIns="0" bIns="0" rtlCol="0" anchor="t"/>
          <a:lstStyle/>
          <a:p>
            <a:pPr>
              <a:lnSpc>
                <a:spcPts val="1550"/>
              </a:lnSpc>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IT22299048</a:t>
            </a:r>
            <a:endParaRPr lang="en-US" sz="1050" dirty="0">
              <a:latin typeface="Times New Roman" panose="02020603050405020304" pitchFamily="18" charset="0"/>
              <a:cs typeface="Times New Roman" panose="02020603050405020304" pitchFamily="18" charset="0"/>
            </a:endParaRPr>
          </a:p>
        </p:txBody>
      </p:sp>
      <p:sp>
        <p:nvSpPr>
          <p:cNvPr id="14" name="Text 12"/>
          <p:cNvSpPr/>
          <p:nvPr/>
        </p:nvSpPr>
        <p:spPr>
          <a:xfrm>
            <a:off x="1818996" y="1714768"/>
            <a:ext cx="2797522" cy="200620"/>
          </a:xfrm>
          <a:prstGeom prst="rect">
            <a:avLst/>
          </a:prstGeom>
          <a:noFill/>
          <a:ln/>
        </p:spPr>
        <p:txBody>
          <a:bodyPr wrap="none" lIns="0" tIns="0" rIns="0" bIns="0" rtlCol="0" anchor="t"/>
          <a:lstStyle/>
          <a:p>
            <a:pPr algn="just">
              <a:lnSpc>
                <a:spcPts val="1550"/>
              </a:lnSpc>
            </a:pPr>
            <a:r>
              <a:rPr lang="en-AU" sz="1050" dirty="0">
                <a:solidFill>
                  <a:schemeClr val="bg1"/>
                </a:solidFill>
                <a:latin typeface="Times New Roman" panose="02020603050405020304" pitchFamily="18" charset="0"/>
                <a:cs typeface="Times New Roman" panose="02020603050405020304" pitchFamily="18" charset="0"/>
              </a:rPr>
              <a:t>Contradiction in “Lightweight” and NLP analysis; </a:t>
            </a:r>
          </a:p>
          <a:p>
            <a:pPr algn="just">
              <a:lnSpc>
                <a:spcPts val="1550"/>
              </a:lnSpc>
            </a:pPr>
            <a:r>
              <a:rPr lang="en-AU" sz="1050" dirty="0">
                <a:solidFill>
                  <a:schemeClr val="bg1"/>
                </a:solidFill>
                <a:latin typeface="Times New Roman" panose="02020603050405020304" pitchFamily="18" charset="0"/>
                <a:cs typeface="Times New Roman" panose="02020603050405020304" pitchFamily="18" charset="0"/>
              </a:rPr>
              <a:t>need proper validation. Make a proper literature survey </a:t>
            </a:r>
          </a:p>
          <a:p>
            <a:pPr algn="just">
              <a:lnSpc>
                <a:spcPts val="1550"/>
              </a:lnSpc>
            </a:pPr>
            <a:r>
              <a:rPr lang="en-AU" sz="1050" dirty="0">
                <a:solidFill>
                  <a:schemeClr val="bg1"/>
                </a:solidFill>
                <a:latin typeface="Times New Roman" panose="02020603050405020304" pitchFamily="18" charset="0"/>
                <a:cs typeface="Times New Roman" panose="02020603050405020304" pitchFamily="18" charset="0"/>
              </a:rPr>
              <a:t>and follow ML/AI fundamentals. Did not present the WBS</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17" name="Text 15"/>
          <p:cNvSpPr/>
          <p:nvPr/>
        </p:nvSpPr>
        <p:spPr>
          <a:xfrm>
            <a:off x="664741" y="2573982"/>
            <a:ext cx="1182960" cy="200620"/>
          </a:xfrm>
          <a:prstGeom prst="rect">
            <a:avLst/>
          </a:prstGeom>
          <a:noFill/>
          <a:ln/>
        </p:spPr>
        <p:txBody>
          <a:bodyPr wrap="none" lIns="0" tIns="0" rIns="0" bIns="0" rtlCol="0" anchor="t"/>
          <a:lstStyle/>
          <a:p>
            <a:pPr marL="0" indent="0" algn="l">
              <a:lnSpc>
                <a:spcPts val="1550"/>
              </a:lnSpc>
              <a:buNone/>
            </a:pPr>
            <a:endParaRPr lang="en-US" sz="1050" dirty="0">
              <a:latin typeface="Times New Roman" panose="02020603050405020304" pitchFamily="18" charset="0"/>
              <a:cs typeface="Times New Roman" panose="02020603050405020304" pitchFamily="18" charset="0"/>
            </a:endParaRPr>
          </a:p>
        </p:txBody>
      </p:sp>
      <p:sp>
        <p:nvSpPr>
          <p:cNvPr id="20" name="Shape 18"/>
          <p:cNvSpPr/>
          <p:nvPr/>
        </p:nvSpPr>
        <p:spPr>
          <a:xfrm>
            <a:off x="524917" y="2774602"/>
            <a:ext cx="8084641" cy="549622"/>
          </a:xfrm>
          <a:prstGeom prst="rect">
            <a:avLst/>
          </a:prstGeom>
          <a:solidFill>
            <a:srgbClr val="FFFFFF">
              <a:alpha val="4000"/>
            </a:srgbClr>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21" name="Text 19"/>
          <p:cNvSpPr/>
          <p:nvPr/>
        </p:nvSpPr>
        <p:spPr>
          <a:xfrm>
            <a:off x="664741" y="3942528"/>
            <a:ext cx="1182960" cy="200620"/>
          </a:xfrm>
          <a:prstGeom prst="rect">
            <a:avLst/>
          </a:prstGeom>
          <a:noFill/>
          <a:ln/>
        </p:spPr>
        <p:txBody>
          <a:bodyPr wrap="none" lIns="0" tIns="0" rIns="0" bIns="0" rtlCol="0" anchor="t"/>
          <a:lstStyle/>
          <a:p>
            <a:pPr marL="0" indent="0" algn="l">
              <a:lnSpc>
                <a:spcPts val="1550"/>
              </a:lnSpc>
              <a:buNone/>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IT22628718</a:t>
            </a:r>
            <a:endParaRPr lang="en-US" sz="1050" dirty="0">
              <a:latin typeface="Times New Roman" panose="02020603050405020304" pitchFamily="18" charset="0"/>
              <a:cs typeface="Times New Roman" panose="02020603050405020304" pitchFamily="18" charset="0"/>
            </a:endParaRPr>
          </a:p>
        </p:txBody>
      </p:sp>
      <p:sp>
        <p:nvSpPr>
          <p:cNvPr id="28" name="Shape 26"/>
          <p:cNvSpPr/>
          <p:nvPr/>
        </p:nvSpPr>
        <p:spPr>
          <a:xfrm>
            <a:off x="540018" y="3756349"/>
            <a:ext cx="8084641" cy="549622"/>
          </a:xfrm>
          <a:prstGeom prst="rect">
            <a:avLst/>
          </a:prstGeom>
          <a:solidFill>
            <a:srgbClr val="FFFFFF">
              <a:alpha val="4000"/>
            </a:srgbClr>
          </a:solidFill>
          <a:ln/>
        </p:spPr>
        <p:txBody>
          <a:bodyPr/>
          <a:lstStyle/>
          <a:p>
            <a:endParaRPr lang="en-US" dirty="0">
              <a:latin typeface="Times New Roman" panose="02020603050405020304" pitchFamily="18" charset="0"/>
              <a:cs typeface="Times New Roman" panose="02020603050405020304" pitchFamily="18" charset="0"/>
            </a:endParaRPr>
          </a:p>
        </p:txBody>
      </p:sp>
      <p:sp>
        <p:nvSpPr>
          <p:cNvPr id="32" name="Text 12">
            <a:extLst>
              <a:ext uri="{FF2B5EF4-FFF2-40B4-BE49-F238E27FC236}">
                <a16:creationId xmlns:a16="http://schemas.microsoft.com/office/drawing/2014/main" id="{08B488D3-F32D-9E17-2AD4-2A665DEAA5B6}"/>
              </a:ext>
            </a:extLst>
          </p:cNvPr>
          <p:cNvSpPr/>
          <p:nvPr/>
        </p:nvSpPr>
        <p:spPr>
          <a:xfrm>
            <a:off x="1818996" y="2738211"/>
            <a:ext cx="2797522" cy="200620"/>
          </a:xfrm>
          <a:prstGeom prst="rect">
            <a:avLst/>
          </a:prstGeom>
          <a:noFill/>
          <a:ln/>
        </p:spPr>
        <p:txBody>
          <a:bodyPr wrap="none" lIns="0" tIns="0" rIns="0" bIns="0" rtlCol="0" anchor="t"/>
          <a:lstStyle/>
          <a:p>
            <a:pPr algn="just">
              <a:lnSpc>
                <a:spcPts val="1550"/>
              </a:lnSpc>
            </a:pPr>
            <a:r>
              <a:rPr lang="en-AU" sz="1050" dirty="0">
                <a:solidFill>
                  <a:schemeClr val="bg1"/>
                </a:solidFill>
                <a:latin typeface="Times New Roman" panose="02020603050405020304" pitchFamily="18" charset="0"/>
                <a:cs typeface="Times New Roman" panose="02020603050405020304" pitchFamily="18" charset="0"/>
              </a:rPr>
              <a:t>Follow ML/AI fundamentals and make a proper literature </a:t>
            </a:r>
          </a:p>
          <a:p>
            <a:pPr algn="just">
              <a:lnSpc>
                <a:spcPts val="1550"/>
              </a:lnSpc>
            </a:pPr>
            <a:r>
              <a:rPr lang="en-AU" sz="1050" dirty="0">
                <a:solidFill>
                  <a:schemeClr val="bg1"/>
                </a:solidFill>
                <a:latin typeface="Times New Roman" panose="02020603050405020304" pitchFamily="18" charset="0"/>
                <a:cs typeface="Times New Roman" panose="02020603050405020304" pitchFamily="18" charset="0"/>
              </a:rPr>
              <a:t>survey and follow ML/AI fundamentals. </a:t>
            </a:r>
          </a:p>
          <a:p>
            <a:pPr algn="just">
              <a:lnSpc>
                <a:spcPts val="1550"/>
              </a:lnSpc>
            </a:pPr>
            <a:r>
              <a:rPr lang="en-AU" sz="1050" dirty="0">
                <a:solidFill>
                  <a:schemeClr val="bg1"/>
                </a:solidFill>
                <a:latin typeface="Times New Roman" panose="02020603050405020304" pitchFamily="18" charset="0"/>
                <a:cs typeface="Times New Roman" panose="02020603050405020304" pitchFamily="18" charset="0"/>
              </a:rPr>
              <a:t>Did not present the WBS</a:t>
            </a:r>
            <a:endParaRPr lang="en-US" sz="1050" dirty="0">
              <a:solidFill>
                <a:schemeClr val="bg1"/>
              </a:solidFill>
              <a:latin typeface="Times New Roman" panose="02020603050405020304" pitchFamily="18" charset="0"/>
              <a:cs typeface="Times New Roman" panose="02020603050405020304" pitchFamily="18" charset="0"/>
            </a:endParaRPr>
          </a:p>
          <a:p>
            <a:pPr algn="just">
              <a:lnSpc>
                <a:spcPts val="1550"/>
              </a:lnSpc>
            </a:pPr>
            <a:r>
              <a:rPr lang="en-AU" sz="1050" dirty="0">
                <a:solidFill>
                  <a:schemeClr val="bg1"/>
                </a:solidFill>
                <a:latin typeface="Times New Roman" panose="02020603050405020304" pitchFamily="18" charset="0"/>
                <a:cs typeface="Times New Roman" panose="02020603050405020304" pitchFamily="18" charset="0"/>
              </a:rPr>
              <a:t> </a:t>
            </a:r>
            <a:endParaRPr lang="en-US" sz="1050" dirty="0">
              <a:solidFill>
                <a:schemeClr val="bg1"/>
              </a:solidFill>
              <a:latin typeface="Times New Roman" panose="02020603050405020304" pitchFamily="18" charset="0"/>
              <a:cs typeface="Times New Roman" panose="02020603050405020304" pitchFamily="18" charset="0"/>
            </a:endParaRPr>
          </a:p>
        </p:txBody>
      </p:sp>
      <p:sp>
        <p:nvSpPr>
          <p:cNvPr id="33" name="Text 12">
            <a:extLst>
              <a:ext uri="{FF2B5EF4-FFF2-40B4-BE49-F238E27FC236}">
                <a16:creationId xmlns:a16="http://schemas.microsoft.com/office/drawing/2014/main" id="{0B25D0E4-C681-0978-99ED-153CA6A21CC1}"/>
              </a:ext>
            </a:extLst>
          </p:cNvPr>
          <p:cNvSpPr/>
          <p:nvPr/>
        </p:nvSpPr>
        <p:spPr>
          <a:xfrm>
            <a:off x="1818996" y="3842218"/>
            <a:ext cx="2797522" cy="200620"/>
          </a:xfrm>
          <a:prstGeom prst="rect">
            <a:avLst/>
          </a:prstGeom>
          <a:noFill/>
          <a:ln/>
        </p:spPr>
        <p:txBody>
          <a:bodyPr wrap="none" lIns="0" tIns="0" rIns="0" bIns="0" rtlCol="0" anchor="t"/>
          <a:lstStyle/>
          <a:p>
            <a:pPr algn="just">
              <a:lnSpc>
                <a:spcPts val="1550"/>
              </a:lnSpc>
            </a:pPr>
            <a:r>
              <a:rPr lang="en-US" sz="1050" dirty="0">
                <a:solidFill>
                  <a:schemeClr val="bg1"/>
                </a:solidFill>
                <a:latin typeface="Times New Roman" panose="02020603050405020304" pitchFamily="18" charset="0"/>
                <a:cs typeface="Times New Roman" panose="02020603050405020304" pitchFamily="18" charset="0"/>
              </a:rPr>
              <a:t>No proper dataset for the original component, and revise</a:t>
            </a:r>
          </a:p>
          <a:p>
            <a:pPr algn="just">
              <a:lnSpc>
                <a:spcPts val="1550"/>
              </a:lnSpc>
            </a:pPr>
            <a:r>
              <a:rPr lang="en-US" sz="1050" dirty="0">
                <a:solidFill>
                  <a:schemeClr val="bg1"/>
                </a:solidFill>
                <a:latin typeface="Times New Roman" panose="02020603050405020304" pitchFamily="18" charset="0"/>
                <a:cs typeface="Times New Roman" panose="02020603050405020304" pitchFamily="18" charset="0"/>
              </a:rPr>
              <a:t>/change the component</a:t>
            </a:r>
          </a:p>
        </p:txBody>
      </p:sp>
      <p:sp>
        <p:nvSpPr>
          <p:cNvPr id="34" name="Text 12">
            <a:extLst>
              <a:ext uri="{FF2B5EF4-FFF2-40B4-BE49-F238E27FC236}">
                <a16:creationId xmlns:a16="http://schemas.microsoft.com/office/drawing/2014/main" id="{DB665ED7-DF4F-C18D-82AB-2417487DC14A}"/>
              </a:ext>
            </a:extLst>
          </p:cNvPr>
          <p:cNvSpPr/>
          <p:nvPr/>
        </p:nvSpPr>
        <p:spPr>
          <a:xfrm>
            <a:off x="5194399" y="2771986"/>
            <a:ext cx="2797522" cy="200620"/>
          </a:xfrm>
          <a:prstGeom prst="rect">
            <a:avLst/>
          </a:prstGeom>
          <a:noFill/>
          <a:ln/>
        </p:spPr>
        <p:txBody>
          <a:bodyPr wrap="none" lIns="0" tIns="0" rIns="0" bIns="0" rtlCol="0" anchor="t"/>
          <a:lstStyle/>
          <a:p>
            <a:pPr>
              <a:lnSpc>
                <a:spcPts val="1550"/>
              </a:lnSpc>
            </a:pPr>
            <a:r>
              <a:rPr lang="en-US" sz="1050" dirty="0">
                <a:solidFill>
                  <a:schemeClr val="bg1"/>
                </a:solidFill>
                <a:latin typeface="Times New Roman" panose="02020603050405020304" pitchFamily="18" charset="0"/>
                <a:cs typeface="Times New Roman" panose="02020603050405020304" pitchFamily="18" charset="0"/>
              </a:rPr>
              <a:t>Following ML course and applying core concepts. Completed </a:t>
            </a:r>
          </a:p>
          <a:p>
            <a:pPr>
              <a:lnSpc>
                <a:spcPts val="1550"/>
              </a:lnSpc>
            </a:pPr>
            <a:r>
              <a:rPr lang="en-US" sz="1050" dirty="0">
                <a:solidFill>
                  <a:schemeClr val="bg1"/>
                </a:solidFill>
                <a:latin typeface="Times New Roman" panose="02020603050405020304" pitchFamily="18" charset="0"/>
                <a:cs typeface="Times New Roman" panose="02020603050405020304" pitchFamily="18" charset="0"/>
              </a:rPr>
              <a:t>literature survey and present WBS in next submission. </a:t>
            </a:r>
          </a:p>
        </p:txBody>
      </p:sp>
      <p:sp>
        <p:nvSpPr>
          <p:cNvPr id="35" name="Text 12">
            <a:extLst>
              <a:ext uri="{FF2B5EF4-FFF2-40B4-BE49-F238E27FC236}">
                <a16:creationId xmlns:a16="http://schemas.microsoft.com/office/drawing/2014/main" id="{5BF6C993-FC3D-1833-59C6-21881EDC80EB}"/>
              </a:ext>
            </a:extLst>
          </p:cNvPr>
          <p:cNvSpPr/>
          <p:nvPr/>
        </p:nvSpPr>
        <p:spPr>
          <a:xfrm>
            <a:off x="5194399" y="3813014"/>
            <a:ext cx="2797522" cy="200620"/>
          </a:xfrm>
          <a:prstGeom prst="rect">
            <a:avLst/>
          </a:prstGeom>
          <a:noFill/>
          <a:ln/>
        </p:spPr>
        <p:txBody>
          <a:bodyPr wrap="none" lIns="0" tIns="0" rIns="0" bIns="0" rtlCol="0" anchor="t"/>
          <a:lstStyle/>
          <a:p>
            <a:pPr>
              <a:lnSpc>
                <a:spcPts val="1550"/>
              </a:lnSpc>
            </a:pPr>
            <a:r>
              <a:rPr lang="en-US" sz="1050" dirty="0">
                <a:solidFill>
                  <a:schemeClr val="bg1"/>
                </a:solidFill>
                <a:latin typeface="Times New Roman" panose="02020603050405020304" pitchFamily="18" charset="0"/>
                <a:cs typeface="Times New Roman" panose="02020603050405020304" pitchFamily="18" charset="0"/>
              </a:rPr>
              <a:t>Change the component to new area. That area has available </a:t>
            </a:r>
          </a:p>
          <a:p>
            <a:pPr>
              <a:lnSpc>
                <a:spcPts val="1550"/>
              </a:lnSpc>
            </a:pPr>
            <a:r>
              <a:rPr lang="en-US" sz="1050" dirty="0">
                <a:solidFill>
                  <a:schemeClr val="bg1"/>
                </a:solidFill>
                <a:latin typeface="Times New Roman" panose="02020603050405020304" pitchFamily="18" charset="0"/>
                <a:cs typeface="Times New Roman" panose="02020603050405020304" pitchFamily="18" charset="0"/>
              </a:rPr>
              <a:t>datasets and is feasible to implement. </a:t>
            </a:r>
          </a:p>
        </p:txBody>
      </p:sp>
      <p:sp>
        <p:nvSpPr>
          <p:cNvPr id="36" name="TextBox 35">
            <a:extLst>
              <a:ext uri="{FF2B5EF4-FFF2-40B4-BE49-F238E27FC236}">
                <a16:creationId xmlns:a16="http://schemas.microsoft.com/office/drawing/2014/main" id="{26E4BB29-3AEB-B377-2128-9264B888B6EF}"/>
              </a:ext>
            </a:extLst>
          </p:cNvPr>
          <p:cNvSpPr txBox="1"/>
          <p:nvPr/>
        </p:nvSpPr>
        <p:spPr>
          <a:xfrm>
            <a:off x="7952014" y="4738096"/>
            <a:ext cx="1156063" cy="369332"/>
          </a:xfrm>
          <a:prstGeom prst="rect">
            <a:avLst/>
          </a:prstGeom>
          <a:solidFill>
            <a:srgbClr val="0A0B21"/>
          </a:solidFill>
        </p:spPr>
        <p:txBody>
          <a:bodyPr wrap="square" rtlCol="0">
            <a:spAutoFit/>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3474" y="469329"/>
            <a:ext cx="7618140" cy="338733"/>
          </a:xfrm>
          <a:prstGeom prst="rect">
            <a:avLst/>
          </a:prstGeom>
          <a:noFill/>
          <a:ln/>
        </p:spPr>
        <p:txBody>
          <a:bodyPr wrap="none" lIns="0" tIns="0" rIns="0" bIns="0" rtlCol="0" anchor="t"/>
          <a:lstStyle/>
          <a:p>
            <a:pPr marL="0" indent="0" algn="l">
              <a:lnSpc>
                <a:spcPts val="265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The Problem — AI-Driven Scams Are Outpacing Defenses</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1"/>
          <p:cNvSpPr/>
          <p:nvPr/>
        </p:nvSpPr>
        <p:spPr>
          <a:xfrm>
            <a:off x="794817" y="1058019"/>
            <a:ext cx="2090812" cy="402431"/>
          </a:xfrm>
          <a:prstGeom prst="rect">
            <a:avLst/>
          </a:prstGeom>
          <a:noFill/>
          <a:ln/>
        </p:spPr>
        <p:txBody>
          <a:bodyPr wrap="none" lIns="0" tIns="0" rIns="0" bIns="0" rtlCol="0" anchor="t"/>
          <a:lstStyle/>
          <a:p>
            <a:pPr marL="0" indent="0" algn="ctr">
              <a:lnSpc>
                <a:spcPts val="3150"/>
              </a:lnSpc>
              <a:buNone/>
            </a:pPr>
            <a:r>
              <a:rPr lang="en-US" sz="3150" dirty="0">
                <a:solidFill>
                  <a:srgbClr val="DAD8E9"/>
                </a:solidFill>
                <a:latin typeface="Times New Roman" panose="02020603050405020304" pitchFamily="18" charset="0"/>
                <a:ea typeface="Prompt Medium" pitchFamily="34" charset="-122"/>
                <a:cs typeface="Times New Roman" panose="02020603050405020304" pitchFamily="18" charset="0"/>
              </a:rPr>
              <a:t>$12.5B+</a:t>
            </a:r>
            <a:endParaRPr lang="en-US" sz="3150" dirty="0">
              <a:latin typeface="Times New Roman" panose="02020603050405020304" pitchFamily="18" charset="0"/>
              <a:cs typeface="Times New Roman" panose="02020603050405020304" pitchFamily="18" charset="0"/>
            </a:endParaRPr>
          </a:p>
        </p:txBody>
      </p:sp>
      <p:sp>
        <p:nvSpPr>
          <p:cNvPr id="4" name="Text 2"/>
          <p:cNvSpPr/>
          <p:nvPr/>
        </p:nvSpPr>
        <p:spPr>
          <a:xfrm>
            <a:off x="1162794" y="1592238"/>
            <a:ext cx="1354931" cy="169366"/>
          </a:xfrm>
          <a:prstGeom prst="rect">
            <a:avLst/>
          </a:prstGeom>
          <a:noFill/>
          <a:ln/>
        </p:spPr>
        <p:txBody>
          <a:bodyPr wrap="none" lIns="0" tIns="0" rIns="0" bIns="0" rtlCol="0" anchor="t"/>
          <a:lstStyle/>
          <a:p>
            <a:pPr marL="0" indent="0" algn="ctr">
              <a:lnSpc>
                <a:spcPts val="1300"/>
              </a:lnSpc>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Total Losses</a:t>
            </a:r>
            <a:endParaRPr lang="en-US" sz="1050" dirty="0">
              <a:latin typeface="Times New Roman" panose="02020603050405020304" pitchFamily="18" charset="0"/>
              <a:cs typeface="Times New Roman" panose="02020603050405020304" pitchFamily="18" charset="0"/>
            </a:endParaRPr>
          </a:p>
        </p:txBody>
      </p:sp>
      <p:sp>
        <p:nvSpPr>
          <p:cNvPr id="5" name="Text 3"/>
          <p:cNvSpPr/>
          <p:nvPr/>
        </p:nvSpPr>
        <p:spPr>
          <a:xfrm>
            <a:off x="533474" y="1818308"/>
            <a:ext cx="2613571" cy="346323"/>
          </a:xfrm>
          <a:prstGeom prst="rect">
            <a:avLst/>
          </a:prstGeom>
          <a:noFill/>
          <a:ln/>
        </p:spPr>
        <p:txBody>
          <a:bodyPr wrap="square" lIns="0" tIns="0" rIns="0" bIns="0" rtlCol="0" anchor="t"/>
          <a:lstStyle/>
          <a:p>
            <a:pPr marL="0" indent="0" algn="ctr">
              <a:lnSpc>
                <a:spcPts val="1350"/>
              </a:lnSpc>
              <a:buNone/>
            </a:pPr>
            <a:r>
              <a:rPr lang="en-US" sz="950" dirty="0">
                <a:solidFill>
                  <a:srgbClr val="DAD8E9"/>
                </a:solidFill>
                <a:latin typeface="Times New Roman" panose="02020603050405020304" pitchFamily="18" charset="0"/>
                <a:ea typeface="Mukta Light" pitchFamily="34" charset="-122"/>
                <a:cs typeface="Times New Roman" panose="02020603050405020304" pitchFamily="18" charset="0"/>
              </a:rPr>
              <a:t>Reported to cybercrime in 2023 — </a:t>
            </a:r>
            <a:r>
              <a:rPr lang="en-US" sz="950" i="1" dirty="0">
                <a:solidFill>
                  <a:srgbClr val="DAD8E9"/>
                </a:solidFill>
                <a:latin typeface="Times New Roman" panose="02020603050405020304" pitchFamily="18" charset="0"/>
                <a:ea typeface="Mukta Light" pitchFamily="34" charset="-122"/>
                <a:cs typeface="Times New Roman" panose="02020603050405020304" pitchFamily="18" charset="0"/>
              </a:rPr>
              <a:t>FBI IC3 Report 2023</a:t>
            </a:r>
            <a:endParaRPr lang="en-US" sz="950" dirty="0">
              <a:latin typeface="Times New Roman" panose="02020603050405020304" pitchFamily="18" charset="0"/>
              <a:cs typeface="Times New Roman" panose="02020603050405020304" pitchFamily="18" charset="0"/>
            </a:endParaRPr>
          </a:p>
        </p:txBody>
      </p:sp>
      <p:sp>
        <p:nvSpPr>
          <p:cNvPr id="6" name="Text 4"/>
          <p:cNvSpPr/>
          <p:nvPr/>
        </p:nvSpPr>
        <p:spPr>
          <a:xfrm>
            <a:off x="3526482" y="1058019"/>
            <a:ext cx="2090886" cy="402431"/>
          </a:xfrm>
          <a:prstGeom prst="rect">
            <a:avLst/>
          </a:prstGeom>
          <a:noFill/>
          <a:ln/>
        </p:spPr>
        <p:txBody>
          <a:bodyPr wrap="none" lIns="0" tIns="0" rIns="0" bIns="0" rtlCol="0" anchor="t"/>
          <a:lstStyle/>
          <a:p>
            <a:pPr marL="0" indent="0" algn="ctr">
              <a:lnSpc>
                <a:spcPts val="3150"/>
              </a:lnSpc>
              <a:buNone/>
            </a:pPr>
            <a:r>
              <a:rPr lang="en-US" sz="3150" dirty="0">
                <a:solidFill>
                  <a:srgbClr val="DAD8E9"/>
                </a:solidFill>
                <a:latin typeface="Times New Roman" panose="02020603050405020304" pitchFamily="18" charset="0"/>
                <a:ea typeface="Prompt Medium" pitchFamily="34" charset="-122"/>
                <a:cs typeface="Times New Roman" panose="02020603050405020304" pitchFamily="18" charset="0"/>
              </a:rPr>
              <a:t>3.4B</a:t>
            </a:r>
            <a:endParaRPr lang="en-US" sz="3150" dirty="0">
              <a:latin typeface="Times New Roman" panose="02020603050405020304" pitchFamily="18" charset="0"/>
              <a:cs typeface="Times New Roman" panose="02020603050405020304" pitchFamily="18" charset="0"/>
            </a:endParaRPr>
          </a:p>
        </p:txBody>
      </p:sp>
      <p:sp>
        <p:nvSpPr>
          <p:cNvPr id="7" name="Text 5"/>
          <p:cNvSpPr/>
          <p:nvPr/>
        </p:nvSpPr>
        <p:spPr>
          <a:xfrm>
            <a:off x="3879800" y="1592238"/>
            <a:ext cx="1384325" cy="169366"/>
          </a:xfrm>
          <a:prstGeom prst="rect">
            <a:avLst/>
          </a:prstGeom>
          <a:noFill/>
          <a:ln/>
        </p:spPr>
        <p:txBody>
          <a:bodyPr wrap="none" lIns="0" tIns="0" rIns="0" bIns="0" rtlCol="0" anchor="t"/>
          <a:lstStyle/>
          <a:p>
            <a:pPr marL="0" indent="0" algn="ctr">
              <a:lnSpc>
                <a:spcPts val="1300"/>
              </a:lnSpc>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Daily Phishing Emails</a:t>
            </a:r>
            <a:endParaRPr lang="en-US" sz="1050" dirty="0">
              <a:latin typeface="Times New Roman" panose="02020603050405020304" pitchFamily="18" charset="0"/>
              <a:cs typeface="Times New Roman" panose="02020603050405020304" pitchFamily="18" charset="0"/>
            </a:endParaRPr>
          </a:p>
        </p:txBody>
      </p:sp>
      <p:sp>
        <p:nvSpPr>
          <p:cNvPr id="8" name="Text 6"/>
          <p:cNvSpPr/>
          <p:nvPr/>
        </p:nvSpPr>
        <p:spPr>
          <a:xfrm>
            <a:off x="3265140" y="1818308"/>
            <a:ext cx="2613645" cy="346323"/>
          </a:xfrm>
          <a:prstGeom prst="rect">
            <a:avLst/>
          </a:prstGeom>
          <a:noFill/>
          <a:ln/>
        </p:spPr>
        <p:txBody>
          <a:bodyPr wrap="square" lIns="0" tIns="0" rIns="0" bIns="0" rtlCol="0" anchor="t"/>
          <a:lstStyle/>
          <a:p>
            <a:pPr marL="0" indent="0" algn="ctr">
              <a:lnSpc>
                <a:spcPts val="1350"/>
              </a:lnSpc>
              <a:buNone/>
            </a:pPr>
            <a:r>
              <a:rPr lang="en-US" sz="950" dirty="0">
                <a:solidFill>
                  <a:srgbClr val="DAD8E9"/>
                </a:solidFill>
                <a:latin typeface="Times New Roman" panose="02020603050405020304" pitchFamily="18" charset="0"/>
                <a:ea typeface="Mukta Light" pitchFamily="34" charset="-122"/>
                <a:cs typeface="Times New Roman" panose="02020603050405020304" pitchFamily="18" charset="0"/>
              </a:rPr>
              <a:t>Sent every single day — </a:t>
            </a:r>
            <a:r>
              <a:rPr lang="en-US" sz="950" i="1" dirty="0">
                <a:solidFill>
                  <a:srgbClr val="DAD8E9"/>
                </a:solidFill>
                <a:latin typeface="Times New Roman" panose="02020603050405020304" pitchFamily="18" charset="0"/>
                <a:ea typeface="Mukta Light" pitchFamily="34" charset="-122"/>
                <a:cs typeface="Times New Roman" panose="02020603050405020304" pitchFamily="18" charset="0"/>
              </a:rPr>
              <a:t>Symantec / Proofpoint Threat Report</a:t>
            </a:r>
            <a:endParaRPr lang="en-US" sz="950" dirty="0">
              <a:latin typeface="Times New Roman" panose="02020603050405020304" pitchFamily="18" charset="0"/>
              <a:cs typeface="Times New Roman" panose="02020603050405020304" pitchFamily="18" charset="0"/>
            </a:endParaRPr>
          </a:p>
        </p:txBody>
      </p:sp>
      <p:sp>
        <p:nvSpPr>
          <p:cNvPr id="9" name="Text 7"/>
          <p:cNvSpPr/>
          <p:nvPr/>
        </p:nvSpPr>
        <p:spPr>
          <a:xfrm>
            <a:off x="6258223" y="1058019"/>
            <a:ext cx="2090886" cy="402431"/>
          </a:xfrm>
          <a:prstGeom prst="rect">
            <a:avLst/>
          </a:prstGeom>
          <a:noFill/>
          <a:ln/>
        </p:spPr>
        <p:txBody>
          <a:bodyPr wrap="none" lIns="0" tIns="0" rIns="0" bIns="0" rtlCol="0" anchor="t"/>
          <a:lstStyle/>
          <a:p>
            <a:pPr marL="0" indent="0" algn="ctr">
              <a:lnSpc>
                <a:spcPts val="3150"/>
              </a:lnSpc>
              <a:buNone/>
            </a:pPr>
            <a:r>
              <a:rPr lang="en-US" sz="3150" dirty="0">
                <a:solidFill>
                  <a:srgbClr val="DAD8E9"/>
                </a:solidFill>
                <a:latin typeface="Times New Roman" panose="02020603050405020304" pitchFamily="18" charset="0"/>
                <a:ea typeface="Prompt Medium" pitchFamily="34" charset="-122"/>
                <a:cs typeface="Times New Roman" panose="02020603050405020304" pitchFamily="18" charset="0"/>
              </a:rPr>
              <a:t>74%</a:t>
            </a:r>
            <a:endParaRPr lang="en-US" sz="3150" dirty="0">
              <a:latin typeface="Times New Roman" panose="02020603050405020304" pitchFamily="18" charset="0"/>
              <a:cs typeface="Times New Roman" panose="02020603050405020304" pitchFamily="18" charset="0"/>
            </a:endParaRPr>
          </a:p>
        </p:txBody>
      </p:sp>
      <p:sp>
        <p:nvSpPr>
          <p:cNvPr id="10" name="Text 8"/>
          <p:cNvSpPr/>
          <p:nvPr/>
        </p:nvSpPr>
        <p:spPr>
          <a:xfrm>
            <a:off x="6520086" y="1592238"/>
            <a:ext cx="1567160" cy="169366"/>
          </a:xfrm>
          <a:prstGeom prst="rect">
            <a:avLst/>
          </a:prstGeom>
          <a:noFill/>
          <a:ln/>
        </p:spPr>
        <p:txBody>
          <a:bodyPr wrap="none" lIns="0" tIns="0" rIns="0" bIns="0" rtlCol="0" anchor="t"/>
          <a:lstStyle/>
          <a:p>
            <a:pPr marL="0" indent="0" algn="ctr">
              <a:lnSpc>
                <a:spcPts val="1300"/>
              </a:lnSpc>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Human Element Attacks</a:t>
            </a:r>
            <a:endParaRPr lang="en-US" sz="1050" dirty="0">
              <a:latin typeface="Times New Roman" panose="02020603050405020304" pitchFamily="18" charset="0"/>
              <a:cs typeface="Times New Roman" panose="02020603050405020304" pitchFamily="18" charset="0"/>
            </a:endParaRPr>
          </a:p>
        </p:txBody>
      </p:sp>
      <p:sp>
        <p:nvSpPr>
          <p:cNvPr id="11" name="Text 9"/>
          <p:cNvSpPr/>
          <p:nvPr/>
        </p:nvSpPr>
        <p:spPr>
          <a:xfrm>
            <a:off x="5996880" y="1818308"/>
            <a:ext cx="2613645" cy="346323"/>
          </a:xfrm>
          <a:prstGeom prst="rect">
            <a:avLst/>
          </a:prstGeom>
          <a:noFill/>
          <a:ln/>
        </p:spPr>
        <p:txBody>
          <a:bodyPr wrap="square" lIns="0" tIns="0" rIns="0" bIns="0" rtlCol="0" anchor="t"/>
          <a:lstStyle/>
          <a:p>
            <a:pPr marL="0" indent="0" algn="ctr">
              <a:lnSpc>
                <a:spcPts val="1350"/>
              </a:lnSpc>
              <a:buNone/>
            </a:pPr>
            <a:r>
              <a:rPr lang="en-US" sz="950" dirty="0">
                <a:solidFill>
                  <a:srgbClr val="DAD8E9"/>
                </a:solidFill>
                <a:latin typeface="Times New Roman" panose="02020603050405020304" pitchFamily="18" charset="0"/>
                <a:ea typeface="Mukta Light" pitchFamily="34" charset="-122"/>
                <a:cs typeface="Times New Roman" panose="02020603050405020304" pitchFamily="18" charset="0"/>
              </a:rPr>
              <a:t>Of all cyber attacks involve social engineering — </a:t>
            </a:r>
            <a:r>
              <a:rPr lang="en-US" sz="950" i="1" dirty="0">
                <a:solidFill>
                  <a:srgbClr val="DAD8E9"/>
                </a:solidFill>
                <a:latin typeface="Times New Roman" panose="02020603050405020304" pitchFamily="18" charset="0"/>
                <a:ea typeface="Mukta Light" pitchFamily="34" charset="-122"/>
                <a:cs typeface="Times New Roman" panose="02020603050405020304" pitchFamily="18" charset="0"/>
              </a:rPr>
              <a:t>Verizon DBIR 2023</a:t>
            </a:r>
            <a:endParaRPr lang="en-US" sz="950" dirty="0">
              <a:latin typeface="Times New Roman" panose="02020603050405020304" pitchFamily="18" charset="0"/>
              <a:cs typeface="Times New Roman" panose="02020603050405020304" pitchFamily="18" charset="0"/>
            </a:endParaRPr>
          </a:p>
        </p:txBody>
      </p:sp>
      <p:sp>
        <p:nvSpPr>
          <p:cNvPr id="12" name="Shape 10"/>
          <p:cNvSpPr/>
          <p:nvPr/>
        </p:nvSpPr>
        <p:spPr>
          <a:xfrm>
            <a:off x="533474" y="2270894"/>
            <a:ext cx="2629346" cy="2403202"/>
          </a:xfrm>
          <a:prstGeom prst="roundRect">
            <a:avLst>
              <a:gd name="adj" fmla="val 2854"/>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3" name="Shape 11"/>
          <p:cNvSpPr/>
          <p:nvPr/>
        </p:nvSpPr>
        <p:spPr>
          <a:xfrm>
            <a:off x="519187" y="2270894"/>
            <a:ext cx="57150" cy="2403202"/>
          </a:xfrm>
          <a:prstGeom prst="roundRect">
            <a:avLst>
              <a:gd name="adj" fmla="val 89621"/>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4" name="Text 12"/>
          <p:cNvSpPr/>
          <p:nvPr/>
        </p:nvSpPr>
        <p:spPr>
          <a:xfrm>
            <a:off x="712515" y="2407072"/>
            <a:ext cx="1354931" cy="169366"/>
          </a:xfrm>
          <a:prstGeom prst="rect">
            <a:avLst/>
          </a:prstGeom>
          <a:noFill/>
          <a:ln/>
        </p:spPr>
        <p:txBody>
          <a:bodyPr wrap="none" lIns="0" tIns="0" rIns="0" bIns="0" rtlCol="0" anchor="t"/>
          <a:lstStyle/>
          <a:p>
            <a:pPr marL="0" indent="0" algn="l">
              <a:lnSpc>
                <a:spcPts val="1300"/>
              </a:lnSpc>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 Detection Gap</a:t>
            </a:r>
            <a:endParaRPr lang="en-US" sz="1050" dirty="0">
              <a:latin typeface="Times New Roman" panose="02020603050405020304" pitchFamily="18" charset="0"/>
              <a:cs typeface="Times New Roman" panose="02020603050405020304" pitchFamily="18" charset="0"/>
            </a:endParaRPr>
          </a:p>
        </p:txBody>
      </p:sp>
      <p:sp>
        <p:nvSpPr>
          <p:cNvPr id="15" name="Text 13"/>
          <p:cNvSpPr/>
          <p:nvPr/>
        </p:nvSpPr>
        <p:spPr>
          <a:xfrm>
            <a:off x="712515" y="2633142"/>
            <a:ext cx="2314129" cy="1904777"/>
          </a:xfrm>
          <a:prstGeom prst="rect">
            <a:avLst/>
          </a:prstGeom>
          <a:noFill/>
          <a:ln/>
        </p:spPr>
        <p:txBody>
          <a:bodyPr wrap="square" lIns="0" tIns="0" rIns="0" bIns="0" rtlCol="0" anchor="t"/>
          <a:lstStyle/>
          <a:p>
            <a:pPr marL="0" indent="0" algn="l">
              <a:lnSpc>
                <a:spcPts val="1350"/>
              </a:lnSpc>
              <a:buNone/>
            </a:pPr>
            <a:r>
              <a:rPr lang="en-US" sz="950" dirty="0">
                <a:solidFill>
                  <a:srgbClr val="DAD8E9"/>
                </a:solidFill>
                <a:latin typeface="Times New Roman" panose="02020603050405020304" pitchFamily="18" charset="0"/>
                <a:ea typeface="Mukta Light" pitchFamily="34" charset="-122"/>
                <a:cs typeface="Times New Roman" panose="02020603050405020304" pitchFamily="18" charset="0"/>
              </a:rPr>
              <a:t>Existing tools are not built to detect AI-generated content specifically. Modern AI scams — written by tools like ChatGPT or WormGPT — closely mimic genuine human language in tone, grammar, and context. Traditional rule-based filters and even many ML-based tools fail because they were trained on older, human-written spam patterns. Studies show current detectors miss up to </a:t>
            </a:r>
            <a:r>
              <a:rPr lang="en-US" sz="950" b="1" dirty="0">
                <a:solidFill>
                  <a:srgbClr val="DAD8E9"/>
                </a:solidFill>
                <a:latin typeface="Times New Roman" panose="02020603050405020304" pitchFamily="18" charset="0"/>
                <a:ea typeface="Mukta Light" pitchFamily="34" charset="-122"/>
                <a:cs typeface="Times New Roman" panose="02020603050405020304" pitchFamily="18" charset="0"/>
              </a:rPr>
              <a:t>60% of AI-crafted phishing attempts</a:t>
            </a:r>
            <a:r>
              <a:rPr lang="en-US" sz="950" dirty="0">
                <a:solidFill>
                  <a:srgbClr val="DAD8E9"/>
                </a:solidFill>
                <a:latin typeface="Times New Roman" panose="02020603050405020304" pitchFamily="18" charset="0"/>
                <a:ea typeface="Mukta Light" pitchFamily="34" charset="-122"/>
                <a:cs typeface="Times New Roman" panose="02020603050405020304" pitchFamily="18" charset="0"/>
              </a:rPr>
              <a:t>, leaving individuals and organizations exposed.</a:t>
            </a:r>
            <a:endParaRPr lang="en-US" sz="950" dirty="0">
              <a:latin typeface="Times New Roman" panose="02020603050405020304" pitchFamily="18" charset="0"/>
              <a:cs typeface="Times New Roman" panose="02020603050405020304" pitchFamily="18" charset="0"/>
            </a:endParaRPr>
          </a:p>
        </p:txBody>
      </p:sp>
      <p:sp>
        <p:nvSpPr>
          <p:cNvPr id="16" name="Shape 14"/>
          <p:cNvSpPr/>
          <p:nvPr/>
        </p:nvSpPr>
        <p:spPr>
          <a:xfrm>
            <a:off x="3257327" y="2270894"/>
            <a:ext cx="2629346" cy="2403202"/>
          </a:xfrm>
          <a:prstGeom prst="roundRect">
            <a:avLst>
              <a:gd name="adj" fmla="val 2854"/>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7" name="Shape 15"/>
          <p:cNvSpPr/>
          <p:nvPr/>
        </p:nvSpPr>
        <p:spPr>
          <a:xfrm>
            <a:off x="3243039" y="2270894"/>
            <a:ext cx="57150" cy="2403202"/>
          </a:xfrm>
          <a:prstGeom prst="roundRect">
            <a:avLst>
              <a:gd name="adj" fmla="val 89621"/>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8" name="Text 16"/>
          <p:cNvSpPr/>
          <p:nvPr/>
        </p:nvSpPr>
        <p:spPr>
          <a:xfrm>
            <a:off x="3436367" y="2407072"/>
            <a:ext cx="1879253" cy="169366"/>
          </a:xfrm>
          <a:prstGeom prst="rect">
            <a:avLst/>
          </a:prstGeom>
          <a:noFill/>
          <a:ln/>
        </p:spPr>
        <p:txBody>
          <a:bodyPr wrap="none" lIns="0" tIns="0" rIns="0" bIns="0" rtlCol="0" anchor="t"/>
          <a:lstStyle/>
          <a:p>
            <a:pPr marL="0" indent="0" algn="l">
              <a:lnSpc>
                <a:spcPts val="1300"/>
              </a:lnSpc>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Adaptive Awareness Gap</a:t>
            </a:r>
            <a:endParaRPr lang="en-US" sz="1050" dirty="0">
              <a:latin typeface="Times New Roman" panose="02020603050405020304" pitchFamily="18" charset="0"/>
              <a:cs typeface="Times New Roman" panose="02020603050405020304" pitchFamily="18" charset="0"/>
            </a:endParaRPr>
          </a:p>
        </p:txBody>
      </p:sp>
      <p:sp>
        <p:nvSpPr>
          <p:cNvPr id="19" name="Text 17"/>
          <p:cNvSpPr/>
          <p:nvPr/>
        </p:nvSpPr>
        <p:spPr>
          <a:xfrm>
            <a:off x="3436367" y="2633142"/>
            <a:ext cx="2314129" cy="1904777"/>
          </a:xfrm>
          <a:prstGeom prst="rect">
            <a:avLst/>
          </a:prstGeom>
          <a:noFill/>
          <a:ln/>
        </p:spPr>
        <p:txBody>
          <a:bodyPr wrap="square" lIns="0" tIns="0" rIns="0" bIns="0" rtlCol="0" anchor="t"/>
          <a:lstStyle/>
          <a:p>
            <a:pPr marL="0" indent="0" algn="l">
              <a:lnSpc>
                <a:spcPts val="1350"/>
              </a:lnSpc>
              <a:buNone/>
            </a:pPr>
            <a:r>
              <a:rPr lang="en-US" sz="950" dirty="0">
                <a:solidFill>
                  <a:srgbClr val="DAD8E9"/>
                </a:solidFill>
                <a:latin typeface="Times New Roman" panose="02020603050405020304" pitchFamily="18" charset="0"/>
                <a:ea typeface="Mukta Light" pitchFamily="34" charset="-122"/>
                <a:cs typeface="Times New Roman" panose="02020603050405020304" pitchFamily="18" charset="0"/>
              </a:rPr>
              <a:t>General cybersecurity awareness training exists but has no measurable impact at the individual level. Sessions and generic alerts treat every user the same — a senior executive, a new employee, and a student receive identical warnings. Research shows that people repeatedly fall for attack types they have already been warned about because the warnings are not contextual, timely, or personalized to their specific behavior and history.</a:t>
            </a:r>
            <a:endParaRPr lang="en-US" sz="950" dirty="0">
              <a:latin typeface="Times New Roman" panose="02020603050405020304" pitchFamily="18" charset="0"/>
              <a:cs typeface="Times New Roman" panose="02020603050405020304" pitchFamily="18" charset="0"/>
            </a:endParaRPr>
          </a:p>
        </p:txBody>
      </p:sp>
      <p:sp>
        <p:nvSpPr>
          <p:cNvPr id="20" name="Shape 18"/>
          <p:cNvSpPr/>
          <p:nvPr/>
        </p:nvSpPr>
        <p:spPr>
          <a:xfrm>
            <a:off x="5981179" y="2270894"/>
            <a:ext cx="2629346" cy="2403202"/>
          </a:xfrm>
          <a:prstGeom prst="roundRect">
            <a:avLst>
              <a:gd name="adj" fmla="val 2854"/>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1" name="Shape 19"/>
          <p:cNvSpPr/>
          <p:nvPr/>
        </p:nvSpPr>
        <p:spPr>
          <a:xfrm>
            <a:off x="5966892" y="2270894"/>
            <a:ext cx="57150" cy="2403202"/>
          </a:xfrm>
          <a:prstGeom prst="roundRect">
            <a:avLst>
              <a:gd name="adj" fmla="val 89621"/>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2" name="Text 20"/>
          <p:cNvSpPr/>
          <p:nvPr/>
        </p:nvSpPr>
        <p:spPr>
          <a:xfrm>
            <a:off x="6160219" y="2407072"/>
            <a:ext cx="1403226" cy="169366"/>
          </a:xfrm>
          <a:prstGeom prst="rect">
            <a:avLst/>
          </a:prstGeom>
          <a:noFill/>
          <a:ln/>
        </p:spPr>
        <p:txBody>
          <a:bodyPr wrap="none" lIns="0" tIns="0" rIns="0" bIns="0" rtlCol="0" anchor="t"/>
          <a:lstStyle/>
          <a:p>
            <a:pPr marL="0" indent="0" algn="l">
              <a:lnSpc>
                <a:spcPts val="1300"/>
              </a:lnSpc>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 Image Threat Gap</a:t>
            </a:r>
            <a:endParaRPr lang="en-US" sz="1050" dirty="0">
              <a:latin typeface="Times New Roman" panose="02020603050405020304" pitchFamily="18" charset="0"/>
              <a:cs typeface="Times New Roman" panose="02020603050405020304" pitchFamily="18" charset="0"/>
            </a:endParaRPr>
          </a:p>
        </p:txBody>
      </p:sp>
      <p:sp>
        <p:nvSpPr>
          <p:cNvPr id="23" name="Text 21"/>
          <p:cNvSpPr/>
          <p:nvPr/>
        </p:nvSpPr>
        <p:spPr>
          <a:xfrm>
            <a:off x="6160219" y="2633142"/>
            <a:ext cx="2314129" cy="1731615"/>
          </a:xfrm>
          <a:prstGeom prst="rect">
            <a:avLst/>
          </a:prstGeom>
          <a:noFill/>
          <a:ln/>
        </p:spPr>
        <p:txBody>
          <a:bodyPr wrap="square" lIns="0" tIns="0" rIns="0" bIns="0" rtlCol="0" anchor="t"/>
          <a:lstStyle/>
          <a:p>
            <a:pPr marL="0" indent="0" algn="l">
              <a:lnSpc>
                <a:spcPts val="1350"/>
              </a:lnSpc>
              <a:buNone/>
            </a:pPr>
            <a:r>
              <a:rPr lang="en-US" sz="950" dirty="0">
                <a:solidFill>
                  <a:srgbClr val="DAD8E9"/>
                </a:solidFill>
                <a:latin typeface="Times New Roman" panose="02020603050405020304" pitchFamily="18" charset="0"/>
                <a:ea typeface="Mukta Light" pitchFamily="34" charset="-122"/>
                <a:cs typeface="Times New Roman" panose="02020603050405020304" pitchFamily="18" charset="0"/>
              </a:rPr>
              <a:t>A significant proportion of phishing emails arrive with image attachments carrying hidden malicious payloads — embedded through steganography, QR code overlays, or pixel-level encoding. Currently, no lightweight tool analyzes image attachments before they are downloaded to the host machine. By the time any analysis occurs, the threat has already reached the endpoint, making prevention impossible at the attachment level.</a:t>
            </a:r>
            <a:endParaRPr lang="en-US" sz="95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53EE4153-206C-EC48-F9EB-1E95C6F06507}"/>
              </a:ext>
            </a:extLst>
          </p:cNvPr>
          <p:cNvSpPr txBox="1"/>
          <p:nvPr/>
        </p:nvSpPr>
        <p:spPr>
          <a:xfrm>
            <a:off x="8014063" y="4727005"/>
            <a:ext cx="1084217" cy="369332"/>
          </a:xfrm>
          <a:prstGeom prst="rect">
            <a:avLst/>
          </a:prstGeom>
          <a:solidFill>
            <a:srgbClr val="0A0B21"/>
          </a:solidFill>
        </p:spPr>
        <p:txBody>
          <a:bodyPr wrap="square" rtlCol="0">
            <a:spAutoFit/>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66762" y="279165"/>
            <a:ext cx="6278863" cy="322659"/>
          </a:xfrm>
          <a:prstGeom prst="rect">
            <a:avLst/>
          </a:prstGeom>
          <a:noFill/>
          <a:ln/>
        </p:spPr>
        <p:txBody>
          <a:bodyPr wrap="none" lIns="0" tIns="0" rIns="0" bIns="0" rtlCol="0" anchor="t"/>
          <a:lstStyle/>
          <a:p>
            <a:pPr marL="0" indent="0" algn="l">
              <a:lnSpc>
                <a:spcPts val="250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Who is Affected — and Who Will Benefit</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1"/>
          <p:cNvSpPr/>
          <p:nvPr/>
        </p:nvSpPr>
        <p:spPr>
          <a:xfrm>
            <a:off x="542106" y="734582"/>
            <a:ext cx="1290786" cy="161330"/>
          </a:xfrm>
          <a:prstGeom prst="rect">
            <a:avLst/>
          </a:prstGeom>
          <a:noFill/>
          <a:ln/>
        </p:spPr>
        <p:txBody>
          <a:bodyPr wrap="none" lIns="0" tIns="0" rIns="0" bIns="0" rtlCol="0" anchor="t"/>
          <a:lstStyle/>
          <a:p>
            <a:pPr marL="0" indent="0" algn="l">
              <a:lnSpc>
                <a:spcPts val="1250"/>
              </a:lnSpc>
              <a:buNone/>
            </a:pPr>
            <a:r>
              <a:rPr lang="en-US" sz="140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Affected Parties</a:t>
            </a:r>
            <a:endParaRPr lang="en-US"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Shape 2"/>
          <p:cNvSpPr/>
          <p:nvPr/>
        </p:nvSpPr>
        <p:spPr>
          <a:xfrm>
            <a:off x="527819" y="976695"/>
            <a:ext cx="28575" cy="1533004"/>
          </a:xfrm>
          <a:prstGeom prst="rect">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686842" y="990982"/>
            <a:ext cx="1290786" cy="161330"/>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lIns="0" tIns="0" rIns="0" bIns="0" rtlCol="0" anchor="t"/>
          <a:lstStyle/>
          <a:p>
            <a:pPr marL="0" indent="0" algn="l">
              <a:lnSpc>
                <a:spcPts val="1250"/>
              </a:lnSpc>
              <a:buNone/>
            </a:pPr>
            <a:r>
              <a:rPr lang="en-US" sz="1100" dirty="0">
                <a:solidFill>
                  <a:srgbClr val="DAD8E9"/>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Individuals</a:t>
            </a:r>
            <a:endParaRPr lang="en-US" sz="1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 4"/>
          <p:cNvSpPr/>
          <p:nvPr/>
        </p:nvSpPr>
        <p:spPr>
          <a:xfrm>
            <a:off x="686842" y="1229859"/>
            <a:ext cx="1789807" cy="968871"/>
          </a:xfrm>
          <a:prstGeom prst="rect">
            <a:avLst/>
          </a:prstGeom>
          <a:noFill/>
          <a:ln/>
        </p:spPr>
        <p:txBody>
          <a:bodyPr wrap="square" lIns="0" tIns="0" rIns="0" bIns="0" rtlCol="0" anchor="t"/>
          <a:lstStyle/>
          <a:p>
            <a:pPr marL="0" indent="0" algn="just">
              <a:lnSpc>
                <a:spcPts val="1250"/>
              </a:lnSpc>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Everyday internet users are the most frequent targets of AI phishing. They lack technical knowledge to identify AI-crafted messages and have no access to enterprise-grade security tools.</a:t>
            </a:r>
            <a:endParaRPr lang="en-US" sz="900" dirty="0">
              <a:latin typeface="Times New Roman" panose="02020603050405020304" pitchFamily="18" charset="0"/>
              <a:cs typeface="Times New Roman" panose="02020603050405020304" pitchFamily="18" charset="0"/>
            </a:endParaRPr>
          </a:p>
        </p:txBody>
      </p:sp>
      <p:sp>
        <p:nvSpPr>
          <p:cNvPr id="7" name="Shape 5"/>
          <p:cNvSpPr/>
          <p:nvPr/>
        </p:nvSpPr>
        <p:spPr>
          <a:xfrm>
            <a:off x="2569518" y="976695"/>
            <a:ext cx="28575" cy="1533004"/>
          </a:xfrm>
          <a:prstGeom prst="rect">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8" name="Text 6"/>
          <p:cNvSpPr/>
          <p:nvPr/>
        </p:nvSpPr>
        <p:spPr>
          <a:xfrm>
            <a:off x="2728540" y="990982"/>
            <a:ext cx="1789881" cy="322659"/>
          </a:xfrm>
          <a:prstGeom prst="rect">
            <a:avLst/>
          </a:prstGeom>
          <a:noFill/>
          <a:ln/>
        </p:spPr>
        <p:txBody>
          <a:bodyPr wrap="square" lIns="0" tIns="0" rIns="0" bIns="0" rtlCol="0" anchor="t"/>
          <a:lstStyle/>
          <a:p>
            <a:pPr marL="0" indent="0" algn="l">
              <a:lnSpc>
                <a:spcPts val="1250"/>
              </a:lnSpc>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Small &amp; Medium-Sized Businesses (SMBs)</a:t>
            </a:r>
            <a:endParaRPr lang="en-US" sz="1050" dirty="0">
              <a:latin typeface="Times New Roman" panose="02020603050405020304" pitchFamily="18" charset="0"/>
              <a:cs typeface="Times New Roman" panose="02020603050405020304" pitchFamily="18" charset="0"/>
            </a:endParaRPr>
          </a:p>
        </p:txBody>
      </p:sp>
      <p:sp>
        <p:nvSpPr>
          <p:cNvPr id="9" name="Text 7"/>
          <p:cNvSpPr/>
          <p:nvPr/>
        </p:nvSpPr>
        <p:spPr>
          <a:xfrm>
            <a:off x="2728540" y="1365062"/>
            <a:ext cx="1789881" cy="1130350"/>
          </a:xfrm>
          <a:prstGeom prst="rect">
            <a:avLst/>
          </a:prstGeom>
          <a:noFill/>
          <a:ln/>
        </p:spPr>
        <p:txBody>
          <a:bodyPr wrap="square" lIns="0" tIns="0" rIns="0" bIns="0" rtlCol="0" anchor="t"/>
          <a:lstStyle/>
          <a:p>
            <a:pPr marL="0" indent="0" algn="just">
              <a:lnSpc>
                <a:spcPts val="1250"/>
              </a:lnSpc>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SMBs handle sensitive client data but cannot afford costly enterprise email security platforms. A single successful phishing attack can result in data breaches, financial loss, and reputational damage that can permanently close a small business.</a:t>
            </a:r>
            <a:endParaRPr lang="en-US" sz="900" dirty="0">
              <a:latin typeface="Times New Roman" panose="02020603050405020304" pitchFamily="18" charset="0"/>
              <a:cs typeface="Times New Roman" panose="02020603050405020304" pitchFamily="18" charset="0"/>
            </a:endParaRPr>
          </a:p>
        </p:txBody>
      </p:sp>
      <p:sp>
        <p:nvSpPr>
          <p:cNvPr id="10" name="Shape 8"/>
          <p:cNvSpPr/>
          <p:nvPr/>
        </p:nvSpPr>
        <p:spPr>
          <a:xfrm>
            <a:off x="4611291" y="976695"/>
            <a:ext cx="28575" cy="1533004"/>
          </a:xfrm>
          <a:prstGeom prst="rect">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9"/>
          <p:cNvSpPr/>
          <p:nvPr/>
        </p:nvSpPr>
        <p:spPr>
          <a:xfrm>
            <a:off x="4770313" y="990982"/>
            <a:ext cx="1290786" cy="161330"/>
          </a:xfrm>
          <a:prstGeom prst="rect">
            <a:avLst/>
          </a:prstGeom>
          <a:noFill/>
          <a:ln/>
        </p:spPr>
        <p:txBody>
          <a:bodyPr wrap="none" lIns="0" tIns="0" rIns="0" bIns="0" rtlCol="0" anchor="t"/>
          <a:lstStyle/>
          <a:p>
            <a:pPr marL="0" indent="0" algn="l">
              <a:lnSpc>
                <a:spcPts val="1250"/>
              </a:lnSpc>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Large Organizations</a:t>
            </a:r>
            <a:endParaRPr lang="en-US" sz="1050" dirty="0">
              <a:latin typeface="Times New Roman" panose="02020603050405020304" pitchFamily="18" charset="0"/>
              <a:cs typeface="Times New Roman" panose="02020603050405020304" pitchFamily="18" charset="0"/>
            </a:endParaRPr>
          </a:p>
        </p:txBody>
      </p:sp>
      <p:sp>
        <p:nvSpPr>
          <p:cNvPr id="12" name="Text 10"/>
          <p:cNvSpPr/>
          <p:nvPr/>
        </p:nvSpPr>
        <p:spPr>
          <a:xfrm>
            <a:off x="4770313" y="1203732"/>
            <a:ext cx="1789807" cy="968871"/>
          </a:xfrm>
          <a:prstGeom prst="rect">
            <a:avLst/>
          </a:prstGeom>
          <a:noFill/>
          <a:ln/>
        </p:spPr>
        <p:txBody>
          <a:bodyPr wrap="square" lIns="0" tIns="0" rIns="0" bIns="0" rtlCol="0" anchor="t"/>
          <a:lstStyle/>
          <a:p>
            <a:pPr marL="0" indent="0" algn="just">
              <a:lnSpc>
                <a:spcPts val="1250"/>
              </a:lnSpc>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Even organizations with existing security tools suffer from detection gaps at the AI-generated content level and from employees who bypass security protocols due to poor awareness.</a:t>
            </a:r>
            <a:endParaRPr lang="en-US" sz="900" dirty="0">
              <a:latin typeface="Times New Roman" panose="02020603050405020304" pitchFamily="18" charset="0"/>
              <a:cs typeface="Times New Roman" panose="02020603050405020304" pitchFamily="18" charset="0"/>
            </a:endParaRPr>
          </a:p>
        </p:txBody>
      </p:sp>
      <p:sp>
        <p:nvSpPr>
          <p:cNvPr id="13" name="Shape 11"/>
          <p:cNvSpPr/>
          <p:nvPr/>
        </p:nvSpPr>
        <p:spPr>
          <a:xfrm>
            <a:off x="6652989" y="976695"/>
            <a:ext cx="28575" cy="1533004"/>
          </a:xfrm>
          <a:prstGeom prst="rect">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4" name="Text 12"/>
          <p:cNvSpPr/>
          <p:nvPr/>
        </p:nvSpPr>
        <p:spPr>
          <a:xfrm>
            <a:off x="6812012" y="990982"/>
            <a:ext cx="1290786" cy="161330"/>
          </a:xfrm>
          <a:prstGeom prst="rect">
            <a:avLst/>
          </a:prstGeom>
          <a:noFill/>
          <a:ln/>
        </p:spPr>
        <p:txBody>
          <a:bodyPr wrap="none" lIns="0" tIns="0" rIns="0" bIns="0" rtlCol="0" anchor="t"/>
          <a:lstStyle/>
          <a:p>
            <a:pPr marL="0" indent="0" algn="l">
              <a:lnSpc>
                <a:spcPts val="1250"/>
              </a:lnSpc>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Non-Technical Users</a:t>
            </a:r>
            <a:endParaRPr lang="en-US" sz="1050" dirty="0">
              <a:latin typeface="Times New Roman" panose="02020603050405020304" pitchFamily="18" charset="0"/>
              <a:cs typeface="Times New Roman" panose="02020603050405020304" pitchFamily="18" charset="0"/>
            </a:endParaRPr>
          </a:p>
        </p:txBody>
      </p:sp>
      <p:sp>
        <p:nvSpPr>
          <p:cNvPr id="15" name="Text 13"/>
          <p:cNvSpPr/>
          <p:nvPr/>
        </p:nvSpPr>
        <p:spPr>
          <a:xfrm>
            <a:off x="6812012" y="1203732"/>
            <a:ext cx="1789881" cy="968871"/>
          </a:xfrm>
          <a:prstGeom prst="rect">
            <a:avLst/>
          </a:prstGeom>
          <a:noFill/>
          <a:ln/>
        </p:spPr>
        <p:txBody>
          <a:bodyPr wrap="square" lIns="0" tIns="0" rIns="0" bIns="0" rtlCol="0" anchor="t"/>
          <a:lstStyle/>
          <a:p>
            <a:pPr marL="0" indent="0" algn="just">
              <a:lnSpc>
                <a:spcPts val="1250"/>
              </a:lnSpc>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Users with limited digital literacy — educators, healthcare workers, government staff — are highly vulnerable because technical security alerts are not written in a language they understand.</a:t>
            </a:r>
            <a:endParaRPr lang="en-US" sz="900" dirty="0">
              <a:latin typeface="Times New Roman" panose="02020603050405020304" pitchFamily="18" charset="0"/>
              <a:cs typeface="Times New Roman" panose="02020603050405020304" pitchFamily="18" charset="0"/>
            </a:endParaRPr>
          </a:p>
        </p:txBody>
      </p:sp>
      <p:sp>
        <p:nvSpPr>
          <p:cNvPr id="16" name="Text 14"/>
          <p:cNvSpPr/>
          <p:nvPr/>
        </p:nvSpPr>
        <p:spPr>
          <a:xfrm>
            <a:off x="542106" y="2741563"/>
            <a:ext cx="2074366" cy="161330"/>
          </a:xfrm>
          <a:prstGeom prst="rect">
            <a:avLst/>
          </a:prstGeom>
          <a:noFill/>
          <a:ln/>
        </p:spPr>
        <p:txBody>
          <a:bodyPr wrap="none" lIns="0" tIns="0" rIns="0" bIns="0" rtlCol="0" anchor="t"/>
          <a:lstStyle/>
          <a:p>
            <a:pPr marL="0" indent="0" algn="l">
              <a:lnSpc>
                <a:spcPts val="1250"/>
              </a:lnSpc>
              <a:buNone/>
            </a:pPr>
            <a:r>
              <a:rPr lang="en-US" sz="140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Why Existing Solutions Fail Them</a:t>
            </a:r>
            <a:endParaRPr lang="en-US"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7" name="Shape 15"/>
          <p:cNvSpPr/>
          <p:nvPr/>
        </p:nvSpPr>
        <p:spPr>
          <a:xfrm>
            <a:off x="542106" y="3070666"/>
            <a:ext cx="3987031" cy="782315"/>
          </a:xfrm>
          <a:prstGeom prst="roundRect">
            <a:avLst>
              <a:gd name="adj" fmla="val 6237"/>
            </a:avLst>
          </a:prstGeom>
          <a:solidFill>
            <a:srgbClr val="542C49"/>
          </a:solidFill>
          <a:ln w="4763">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8" name="Text 16"/>
          <p:cNvSpPr/>
          <p:nvPr/>
        </p:nvSpPr>
        <p:spPr>
          <a:xfrm>
            <a:off x="663029" y="3191589"/>
            <a:ext cx="1290786" cy="166092"/>
          </a:xfrm>
          <a:prstGeom prst="rect">
            <a:avLst/>
          </a:prstGeom>
          <a:noFill/>
          <a:ln/>
        </p:spPr>
        <p:txBody>
          <a:bodyPr wrap="none" lIns="0" tIns="0" rIns="0" bIns="0" rtlCol="0" anchor="t"/>
          <a:lstStyle/>
          <a:p>
            <a:pPr marL="0" indent="0" algn="l">
              <a:lnSpc>
                <a:spcPts val="1250"/>
              </a:lnSpc>
              <a:buNone/>
            </a:pPr>
            <a:r>
              <a:rPr lang="en-US" sz="1000" dirty="0">
                <a:solidFill>
                  <a:srgbClr val="DAD8E9"/>
                </a:solidFill>
                <a:latin typeface="Times New Roman" panose="02020603050405020304" pitchFamily="18" charset="0"/>
                <a:ea typeface="Prompt Medium" pitchFamily="34" charset="-122"/>
                <a:cs typeface="Times New Roman" panose="02020603050405020304" pitchFamily="18" charset="0"/>
              </a:rPr>
              <a:t>Too Expensive</a:t>
            </a:r>
            <a:endParaRPr lang="en-US" sz="1000" dirty="0">
              <a:latin typeface="Times New Roman" panose="02020603050405020304" pitchFamily="18" charset="0"/>
              <a:cs typeface="Times New Roman" panose="02020603050405020304" pitchFamily="18" charset="0"/>
            </a:endParaRPr>
          </a:p>
        </p:txBody>
      </p:sp>
      <p:sp>
        <p:nvSpPr>
          <p:cNvPr id="19" name="Text 17"/>
          <p:cNvSpPr/>
          <p:nvPr/>
        </p:nvSpPr>
        <p:spPr>
          <a:xfrm>
            <a:off x="663029" y="3409101"/>
            <a:ext cx="3745185" cy="322957"/>
          </a:xfrm>
          <a:prstGeom prst="rect">
            <a:avLst/>
          </a:prstGeom>
          <a:noFill/>
          <a:ln/>
        </p:spPr>
        <p:txBody>
          <a:bodyPr wrap="square" lIns="0" tIns="0" rIns="0" bIns="0" rtlCol="0" anchor="t"/>
          <a:lstStyle/>
          <a:p>
            <a:pPr marL="0" indent="0" algn="l">
              <a:lnSpc>
                <a:spcPts val="1250"/>
              </a:lnSpc>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Enterprise tools (Proofpoint, Mimecast) are too expensive for individuals and SMBs</a:t>
            </a:r>
            <a:endParaRPr lang="en-US" sz="900" dirty="0">
              <a:latin typeface="Times New Roman" panose="02020603050405020304" pitchFamily="18" charset="0"/>
              <a:cs typeface="Times New Roman" panose="02020603050405020304" pitchFamily="18" charset="0"/>
            </a:endParaRPr>
          </a:p>
        </p:txBody>
      </p:sp>
      <p:sp>
        <p:nvSpPr>
          <p:cNvPr id="20" name="Shape 18"/>
          <p:cNvSpPr/>
          <p:nvPr/>
        </p:nvSpPr>
        <p:spPr>
          <a:xfrm>
            <a:off x="4614863" y="3070666"/>
            <a:ext cx="3987031" cy="782315"/>
          </a:xfrm>
          <a:prstGeom prst="roundRect">
            <a:avLst>
              <a:gd name="adj" fmla="val 6237"/>
            </a:avLst>
          </a:prstGeom>
          <a:solidFill>
            <a:srgbClr val="542C49"/>
          </a:solidFill>
          <a:ln w="4763">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1" name="Text 19"/>
          <p:cNvSpPr/>
          <p:nvPr/>
        </p:nvSpPr>
        <p:spPr>
          <a:xfrm>
            <a:off x="4735785" y="3191589"/>
            <a:ext cx="1290786" cy="166092"/>
          </a:xfrm>
          <a:prstGeom prst="rect">
            <a:avLst/>
          </a:prstGeom>
          <a:noFill/>
          <a:ln/>
        </p:spPr>
        <p:txBody>
          <a:bodyPr wrap="none" lIns="0" tIns="0" rIns="0" bIns="0" rtlCol="0" anchor="t"/>
          <a:lstStyle/>
          <a:p>
            <a:pPr marL="0" indent="0" algn="l">
              <a:lnSpc>
                <a:spcPts val="1250"/>
              </a:lnSpc>
              <a:buNone/>
            </a:pPr>
            <a:r>
              <a:rPr lang="en-US" sz="1000" dirty="0">
                <a:solidFill>
                  <a:srgbClr val="DAD8E9"/>
                </a:solidFill>
                <a:latin typeface="Times New Roman" panose="02020603050405020304" pitchFamily="18" charset="0"/>
                <a:ea typeface="Prompt Medium" pitchFamily="34" charset="-122"/>
                <a:cs typeface="Times New Roman" panose="02020603050405020304" pitchFamily="18" charset="0"/>
              </a:rPr>
              <a:t> Not Adaptive</a:t>
            </a:r>
            <a:endParaRPr lang="en-US" sz="1000" dirty="0">
              <a:latin typeface="Times New Roman" panose="02020603050405020304" pitchFamily="18" charset="0"/>
              <a:cs typeface="Times New Roman" panose="02020603050405020304" pitchFamily="18" charset="0"/>
            </a:endParaRPr>
          </a:p>
        </p:txBody>
      </p:sp>
      <p:sp>
        <p:nvSpPr>
          <p:cNvPr id="22" name="Text 20"/>
          <p:cNvSpPr/>
          <p:nvPr/>
        </p:nvSpPr>
        <p:spPr>
          <a:xfrm>
            <a:off x="4735785" y="3409101"/>
            <a:ext cx="3745185" cy="161479"/>
          </a:xfrm>
          <a:prstGeom prst="rect">
            <a:avLst/>
          </a:prstGeom>
          <a:noFill/>
          <a:ln/>
        </p:spPr>
        <p:txBody>
          <a:bodyPr wrap="none" lIns="0" tIns="0" rIns="0" bIns="0" rtlCol="0" anchor="t"/>
          <a:lstStyle/>
          <a:p>
            <a:pPr marL="0" indent="0" algn="l">
              <a:lnSpc>
                <a:spcPts val="1250"/>
              </a:lnSpc>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Generic awareness platforms (KnowBe4) are not adaptive to user behavior</a:t>
            </a:r>
            <a:endParaRPr lang="en-US" sz="900" dirty="0">
              <a:latin typeface="Times New Roman" panose="02020603050405020304" pitchFamily="18" charset="0"/>
              <a:cs typeface="Times New Roman" panose="02020603050405020304" pitchFamily="18" charset="0"/>
            </a:endParaRPr>
          </a:p>
        </p:txBody>
      </p:sp>
      <p:sp>
        <p:nvSpPr>
          <p:cNvPr id="23" name="Shape 21"/>
          <p:cNvSpPr/>
          <p:nvPr/>
        </p:nvSpPr>
        <p:spPr>
          <a:xfrm>
            <a:off x="542106" y="3938706"/>
            <a:ext cx="3987031" cy="782315"/>
          </a:xfrm>
          <a:prstGeom prst="roundRect">
            <a:avLst>
              <a:gd name="adj" fmla="val 6237"/>
            </a:avLst>
          </a:prstGeom>
          <a:solidFill>
            <a:srgbClr val="542C49"/>
          </a:solidFill>
          <a:ln w="4763">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4" name="Text 22"/>
          <p:cNvSpPr/>
          <p:nvPr/>
        </p:nvSpPr>
        <p:spPr>
          <a:xfrm>
            <a:off x="663029" y="4059629"/>
            <a:ext cx="1473547" cy="166092"/>
          </a:xfrm>
          <a:prstGeom prst="rect">
            <a:avLst/>
          </a:prstGeom>
          <a:noFill/>
          <a:ln/>
        </p:spPr>
        <p:txBody>
          <a:bodyPr wrap="none" lIns="0" tIns="0" rIns="0" bIns="0" rtlCol="0" anchor="t"/>
          <a:lstStyle/>
          <a:p>
            <a:pPr marL="0" indent="0" algn="l">
              <a:lnSpc>
                <a:spcPts val="1250"/>
              </a:lnSpc>
              <a:buNone/>
            </a:pPr>
            <a:r>
              <a:rPr lang="en-US" sz="1000" dirty="0">
                <a:solidFill>
                  <a:srgbClr val="DAD8E9"/>
                </a:solidFill>
                <a:latin typeface="Times New Roman" panose="02020603050405020304" pitchFamily="18" charset="0"/>
                <a:ea typeface="Prompt Medium" pitchFamily="34" charset="-122"/>
                <a:cs typeface="Times New Roman" panose="02020603050405020304" pitchFamily="18" charset="0"/>
              </a:rPr>
              <a:t> No Lightweight Tool</a:t>
            </a:r>
            <a:endParaRPr lang="en-US" sz="1000" dirty="0">
              <a:latin typeface="Times New Roman" panose="02020603050405020304" pitchFamily="18" charset="0"/>
              <a:cs typeface="Times New Roman" panose="02020603050405020304" pitchFamily="18" charset="0"/>
            </a:endParaRPr>
          </a:p>
        </p:txBody>
      </p:sp>
      <p:sp>
        <p:nvSpPr>
          <p:cNvPr id="25" name="Text 23"/>
          <p:cNvSpPr/>
          <p:nvPr/>
        </p:nvSpPr>
        <p:spPr>
          <a:xfrm>
            <a:off x="663029" y="4277141"/>
            <a:ext cx="3745185" cy="322957"/>
          </a:xfrm>
          <a:prstGeom prst="rect">
            <a:avLst/>
          </a:prstGeom>
          <a:noFill/>
          <a:ln/>
        </p:spPr>
        <p:txBody>
          <a:bodyPr wrap="square" lIns="0" tIns="0" rIns="0" bIns="0" rtlCol="0" anchor="t"/>
          <a:lstStyle/>
          <a:p>
            <a:pPr marL="0" indent="0" algn="l">
              <a:lnSpc>
                <a:spcPts val="1250"/>
              </a:lnSpc>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No existing lightweight tool covers all three: detection + awareness + image scanning</a:t>
            </a:r>
            <a:endParaRPr lang="en-US" sz="900" dirty="0">
              <a:latin typeface="Times New Roman" panose="02020603050405020304" pitchFamily="18" charset="0"/>
              <a:cs typeface="Times New Roman" panose="02020603050405020304" pitchFamily="18" charset="0"/>
            </a:endParaRPr>
          </a:p>
        </p:txBody>
      </p:sp>
      <p:sp>
        <p:nvSpPr>
          <p:cNvPr id="26" name="Shape 24"/>
          <p:cNvSpPr/>
          <p:nvPr/>
        </p:nvSpPr>
        <p:spPr>
          <a:xfrm>
            <a:off x="4614863" y="3938706"/>
            <a:ext cx="3987031" cy="782315"/>
          </a:xfrm>
          <a:prstGeom prst="roundRect">
            <a:avLst>
              <a:gd name="adj" fmla="val 6237"/>
            </a:avLst>
          </a:prstGeom>
          <a:solidFill>
            <a:srgbClr val="542C49"/>
          </a:solidFill>
          <a:ln w="4763">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7" name="Text 25"/>
          <p:cNvSpPr/>
          <p:nvPr/>
        </p:nvSpPr>
        <p:spPr>
          <a:xfrm>
            <a:off x="4735785" y="4059629"/>
            <a:ext cx="1689720" cy="166092"/>
          </a:xfrm>
          <a:prstGeom prst="rect">
            <a:avLst/>
          </a:prstGeom>
          <a:noFill/>
          <a:ln/>
        </p:spPr>
        <p:txBody>
          <a:bodyPr wrap="none" lIns="0" tIns="0" rIns="0" bIns="0" rtlCol="0" anchor="t"/>
          <a:lstStyle/>
          <a:p>
            <a:pPr marL="0" indent="0" algn="l">
              <a:lnSpc>
                <a:spcPts val="1250"/>
              </a:lnSpc>
              <a:buNone/>
            </a:pPr>
            <a:r>
              <a:rPr lang="en-US" sz="1000" dirty="0">
                <a:solidFill>
                  <a:srgbClr val="DAD8E9"/>
                </a:solidFill>
                <a:latin typeface="Times New Roman" panose="02020603050405020304" pitchFamily="18" charset="0"/>
                <a:ea typeface="Prompt Medium" pitchFamily="34" charset="-122"/>
                <a:cs typeface="Times New Roman" panose="02020603050405020304" pitchFamily="18" charset="0"/>
              </a:rPr>
              <a:t> High Resource Demand</a:t>
            </a:r>
            <a:endParaRPr lang="en-US" sz="1000" dirty="0">
              <a:latin typeface="Times New Roman" panose="02020603050405020304" pitchFamily="18" charset="0"/>
              <a:cs typeface="Times New Roman" panose="02020603050405020304" pitchFamily="18" charset="0"/>
            </a:endParaRPr>
          </a:p>
        </p:txBody>
      </p:sp>
      <p:sp>
        <p:nvSpPr>
          <p:cNvPr id="28" name="Text 26"/>
          <p:cNvSpPr/>
          <p:nvPr/>
        </p:nvSpPr>
        <p:spPr>
          <a:xfrm>
            <a:off x="4735785" y="4277141"/>
            <a:ext cx="3745185" cy="322957"/>
          </a:xfrm>
          <a:prstGeom prst="rect">
            <a:avLst/>
          </a:prstGeom>
          <a:noFill/>
          <a:ln/>
        </p:spPr>
        <p:txBody>
          <a:bodyPr wrap="square" lIns="0" tIns="0" rIns="0" bIns="0" rtlCol="0" anchor="t"/>
          <a:lstStyle/>
          <a:p>
            <a:pPr marL="0" indent="0" algn="l">
              <a:lnSpc>
                <a:spcPts val="1250"/>
              </a:lnSpc>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High resource demand of large models makes them impossible to deploy on standard hardware</a:t>
            </a:r>
            <a:endParaRPr lang="en-US" sz="900" dirty="0">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8577F7F6-FF70-EC3F-D6E1-94EAC1988FA5}"/>
              </a:ext>
            </a:extLst>
          </p:cNvPr>
          <p:cNvSpPr txBox="1"/>
          <p:nvPr/>
        </p:nvSpPr>
        <p:spPr>
          <a:xfrm>
            <a:off x="8020594" y="4751044"/>
            <a:ext cx="1058092" cy="369332"/>
          </a:xfrm>
          <a:prstGeom prst="rect">
            <a:avLst/>
          </a:prstGeom>
          <a:solidFill>
            <a:srgbClr val="0A0B21"/>
          </a:solidFill>
        </p:spPr>
        <p:txBody>
          <a:bodyPr wrap="square" rtlCol="0">
            <a:spAutoFit/>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3474" y="419174"/>
            <a:ext cx="6099423" cy="296391"/>
          </a:xfrm>
          <a:prstGeom prst="rect">
            <a:avLst/>
          </a:prstGeom>
          <a:noFill/>
          <a:ln/>
        </p:spPr>
        <p:txBody>
          <a:bodyPr wrap="none" lIns="0" tIns="0" rIns="0" bIns="0" rtlCol="0" anchor="t"/>
          <a:lstStyle/>
          <a:p>
            <a:pPr marL="0" indent="0" algn="l">
              <a:lnSpc>
                <a:spcPts val="230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Our Solution — A Lightweight 3-in-1 Defense System</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Text 1"/>
          <p:cNvSpPr/>
          <p:nvPr/>
        </p:nvSpPr>
        <p:spPr>
          <a:xfrm>
            <a:off x="533474" y="1036302"/>
            <a:ext cx="2524051" cy="148158"/>
          </a:xfrm>
          <a:prstGeom prst="rect">
            <a:avLst/>
          </a:prstGeom>
          <a:noFill/>
          <a:ln/>
        </p:spPr>
        <p:txBody>
          <a:bodyPr wrap="none" lIns="0" tIns="0" rIns="0" bIns="0" rtlCol="0" anchor="t"/>
          <a:lstStyle/>
          <a:p>
            <a:pPr marL="0" indent="0" algn="l">
              <a:lnSpc>
                <a:spcPts val="1150"/>
              </a:lnSpc>
              <a:buNone/>
            </a:pPr>
            <a:r>
              <a:rPr lang="en-US" sz="1050" b="1" dirty="0">
                <a:solidFill>
                  <a:srgbClr val="DAD8E9"/>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Module 1 — AI-Driven Email Scam Detection</a:t>
            </a:r>
            <a:endParaRPr lang="en-US" sz="10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 2"/>
          <p:cNvSpPr/>
          <p:nvPr/>
        </p:nvSpPr>
        <p:spPr>
          <a:xfrm>
            <a:off x="533474" y="1227844"/>
            <a:ext cx="2632025" cy="1145977"/>
          </a:xfrm>
          <a:prstGeom prst="rect">
            <a:avLst/>
          </a:prstGeom>
          <a:noFill/>
          <a:ln/>
        </p:spPr>
        <p:txBody>
          <a:bodyPr wrap="square" lIns="0" tIns="0" rIns="0" bIns="0" rtlCol="0" anchor="t"/>
          <a:lstStyle/>
          <a:p>
            <a:pPr marL="0" indent="0" algn="just">
              <a:lnSpc>
                <a:spcPct val="1500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Detects AI-generated phishing emails using a </a:t>
            </a:r>
            <a:r>
              <a:rPr lang="en-US" sz="800" b="1" dirty="0">
                <a:solidFill>
                  <a:srgbClr val="DAD8E9"/>
                </a:solidFill>
                <a:latin typeface="Times New Roman" panose="02020603050405020304" pitchFamily="18" charset="0"/>
                <a:ea typeface="Mukta Light" pitchFamily="34" charset="-122"/>
                <a:cs typeface="Times New Roman" panose="02020603050405020304" pitchFamily="18" charset="0"/>
              </a:rPr>
              <a:t>DistilBERT-based lightweight classifier</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 combined with perplexity scoring and burstiness analysis. DistilBERT retains </a:t>
            </a:r>
            <a:r>
              <a:rPr lang="en-US" sz="800" b="1" dirty="0">
                <a:solidFill>
                  <a:srgbClr val="DAD8E9"/>
                </a:solidFill>
                <a:latin typeface="Times New Roman" panose="02020603050405020304" pitchFamily="18" charset="0"/>
                <a:ea typeface="Mukta Light" pitchFamily="34" charset="-122"/>
                <a:cs typeface="Times New Roman" panose="02020603050405020304" pitchFamily="18" charset="0"/>
              </a:rPr>
              <a:t>97% of BERT's accuracy at 40% of the model size</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 — making it deployable on standard hardware without GPU requirement. The system analyzes email linguistic patterns, urgency cues, and stylometric features to classify emails as AI-generated scam or legitimate.</a:t>
            </a:r>
            <a:endParaRPr lang="en-US" sz="800" dirty="0">
              <a:latin typeface="Times New Roman" panose="02020603050405020304" pitchFamily="18" charset="0"/>
              <a:cs typeface="Times New Roman" panose="02020603050405020304" pitchFamily="18" charset="0"/>
            </a:endParaRPr>
          </a:p>
        </p:txBody>
      </p:sp>
      <p:sp>
        <p:nvSpPr>
          <p:cNvPr id="7" name="Text 3"/>
          <p:cNvSpPr/>
          <p:nvPr/>
        </p:nvSpPr>
        <p:spPr>
          <a:xfrm>
            <a:off x="3255913" y="1036302"/>
            <a:ext cx="2632100" cy="296317"/>
          </a:xfrm>
          <a:prstGeom prst="rect">
            <a:avLst/>
          </a:prstGeom>
          <a:noFill/>
          <a:ln/>
        </p:spPr>
        <p:txBody>
          <a:bodyPr wrap="square" lIns="0" tIns="0" rIns="0" bIns="0" rtlCol="0" anchor="t"/>
          <a:lstStyle/>
          <a:p>
            <a:pPr marL="0" indent="0" algn="l">
              <a:lnSpc>
                <a:spcPts val="1150"/>
              </a:lnSpc>
              <a:buNone/>
            </a:pPr>
            <a:r>
              <a:rPr lang="en-US" sz="1050" b="1" dirty="0">
                <a:solidFill>
                  <a:srgbClr val="DAD8E9"/>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Module 2 — Adaptive Personalized User Awareness</a:t>
            </a:r>
            <a:endParaRPr lang="en-US" sz="10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Text 4"/>
          <p:cNvSpPr/>
          <p:nvPr/>
        </p:nvSpPr>
        <p:spPr>
          <a:xfrm>
            <a:off x="3255913" y="1376003"/>
            <a:ext cx="2632100" cy="1145977"/>
          </a:xfrm>
          <a:prstGeom prst="rect">
            <a:avLst/>
          </a:prstGeom>
          <a:noFill/>
          <a:ln/>
        </p:spPr>
        <p:txBody>
          <a:bodyPr wrap="square" lIns="0" tIns="0" rIns="0" bIns="0" rtlCol="0" anchor="t"/>
          <a:lstStyle/>
          <a:p>
            <a:pPr marL="0" indent="0" algn="just">
              <a:lnSpc>
                <a:spcPct val="1500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Builds an individual user behavior profile over time — tracking which scam types were encountered, how the user responded, and what risk patterns emerge. Based on this profile, the system generates </a:t>
            </a:r>
            <a:r>
              <a:rPr lang="en-US" sz="800" b="1" dirty="0">
                <a:solidFill>
                  <a:srgbClr val="DAD8E9"/>
                </a:solidFill>
                <a:latin typeface="Times New Roman" panose="02020603050405020304" pitchFamily="18" charset="0"/>
                <a:ea typeface="Mukta Light" pitchFamily="34" charset="-122"/>
                <a:cs typeface="Times New Roman" panose="02020603050405020304" pitchFamily="18" charset="0"/>
              </a:rPr>
              <a:t>contextual, personalized awareness alerts</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 specific to the threat type detected — not a generic warning, but a tailored explanation of exactly why this email is suspicious and what the user should do. The awareness engine adapts as the user profile evolves.</a:t>
            </a:r>
            <a:endParaRPr lang="en-US" sz="800" dirty="0">
              <a:latin typeface="Times New Roman" panose="02020603050405020304" pitchFamily="18" charset="0"/>
              <a:cs typeface="Times New Roman" panose="02020603050405020304" pitchFamily="18" charset="0"/>
            </a:endParaRPr>
          </a:p>
        </p:txBody>
      </p:sp>
      <p:sp>
        <p:nvSpPr>
          <p:cNvPr id="10" name="Text 5"/>
          <p:cNvSpPr/>
          <p:nvPr/>
        </p:nvSpPr>
        <p:spPr>
          <a:xfrm>
            <a:off x="5978426" y="1036302"/>
            <a:ext cx="2632100" cy="296317"/>
          </a:xfrm>
          <a:prstGeom prst="rect">
            <a:avLst/>
          </a:prstGeom>
          <a:noFill/>
          <a:ln/>
        </p:spPr>
        <p:txBody>
          <a:bodyPr wrap="square" lIns="0" tIns="0" rIns="0" bIns="0" rtlCol="0" anchor="t"/>
          <a:lstStyle/>
          <a:p>
            <a:pPr marL="0" indent="0" algn="l">
              <a:lnSpc>
                <a:spcPts val="1150"/>
              </a:lnSpc>
              <a:buNone/>
            </a:pPr>
            <a:r>
              <a:rPr lang="en-US" sz="1050" b="1" dirty="0">
                <a:solidFill>
                  <a:srgbClr val="DAD8E9"/>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Module 3 — Pre-Download Image Threat Analysis</a:t>
            </a:r>
            <a:endParaRPr lang="en-US" sz="10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 name="Text 6"/>
          <p:cNvSpPr/>
          <p:nvPr/>
        </p:nvSpPr>
        <p:spPr>
          <a:xfrm>
            <a:off x="5978426" y="1376003"/>
            <a:ext cx="2632100" cy="859482"/>
          </a:xfrm>
          <a:prstGeom prst="rect">
            <a:avLst/>
          </a:prstGeom>
          <a:noFill/>
          <a:ln/>
        </p:spPr>
        <p:txBody>
          <a:bodyPr wrap="square" lIns="0" tIns="0" rIns="0" bIns="0" rtlCol="0" anchor="t"/>
          <a:lstStyle/>
          <a:p>
            <a:pPr marL="0" indent="0" algn="just">
              <a:lnSpc>
                <a:spcPct val="1500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Builds an Explainable AI-driven cybersecurity system that analyzes image attachments from user-selected </a:t>
            </a:r>
            <a:r>
              <a:rPr lang="en-US" sz="800" b="1" dirty="0">
                <a:solidFill>
                  <a:srgbClr val="DAD8E9"/>
                </a:solidFill>
                <a:latin typeface="Times New Roman" panose="02020603050405020304" pitchFamily="18" charset="0"/>
                <a:ea typeface="Mukta Light" pitchFamily="34" charset="-122"/>
                <a:cs typeface="Times New Roman" panose="02020603050405020304" pitchFamily="18" charset="0"/>
              </a:rPr>
              <a:t>.eml email files</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 detects hidden steganographic content, classifies steganography techniques using </a:t>
            </a:r>
            <a:r>
              <a:rPr lang="en-US" sz="800" b="1" dirty="0">
                <a:solidFill>
                  <a:srgbClr val="DAD8E9"/>
                </a:solidFill>
                <a:latin typeface="Times New Roman" panose="02020603050405020304" pitchFamily="18" charset="0"/>
                <a:ea typeface="Mukta Light" pitchFamily="34" charset="-122"/>
                <a:cs typeface="Times New Roman" panose="02020603050405020304" pitchFamily="18" charset="0"/>
              </a:rPr>
              <a:t>EfficientNet-B2 deep learning models</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 and provides </a:t>
            </a:r>
            <a:r>
              <a:rPr lang="en-US" sz="800" b="1" dirty="0">
                <a:solidFill>
                  <a:srgbClr val="DAD8E9"/>
                </a:solidFill>
                <a:latin typeface="Times New Roman" panose="02020603050405020304" pitchFamily="18" charset="0"/>
                <a:ea typeface="Mukta Light" pitchFamily="34" charset="-122"/>
                <a:cs typeface="Times New Roman" panose="02020603050405020304" pitchFamily="18" charset="0"/>
              </a:rPr>
              <a:t>SHAP-based visual explanations</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 through an interactive dashboard.</a:t>
            </a:r>
            <a:endParaRPr lang="en-US" sz="800" dirty="0">
              <a:latin typeface="Times New Roman" panose="02020603050405020304" pitchFamily="18" charset="0"/>
              <a:cs typeface="Times New Roman" panose="02020603050405020304" pitchFamily="18" charset="0"/>
            </a:endParaRPr>
          </a:p>
        </p:txBody>
      </p:sp>
      <p:sp>
        <p:nvSpPr>
          <p:cNvPr id="12" name="Text 7"/>
          <p:cNvSpPr/>
          <p:nvPr/>
        </p:nvSpPr>
        <p:spPr>
          <a:xfrm>
            <a:off x="538237" y="3105870"/>
            <a:ext cx="3803303" cy="296391"/>
          </a:xfrm>
          <a:prstGeom prst="rect">
            <a:avLst/>
          </a:prstGeom>
          <a:noFill/>
          <a:ln/>
        </p:spPr>
        <p:txBody>
          <a:bodyPr wrap="none" lIns="0" tIns="0" rIns="0" bIns="0" rtlCol="0" anchor="t"/>
          <a:lstStyle/>
          <a:p>
            <a:pPr marL="0" indent="0" algn="l">
              <a:lnSpc>
                <a:spcPts val="2300"/>
              </a:lnSpc>
              <a:buNone/>
            </a:pPr>
            <a:r>
              <a:rPr lang="en-US" sz="18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What make this design excellent</a:t>
            </a:r>
            <a:endParaRPr lang="en-US" sz="18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 name="Shape 8"/>
          <p:cNvSpPr/>
          <p:nvPr/>
        </p:nvSpPr>
        <p:spPr>
          <a:xfrm>
            <a:off x="533474" y="3610124"/>
            <a:ext cx="8077051" cy="1115169"/>
          </a:xfrm>
          <a:prstGeom prst="roundRect">
            <a:avLst>
              <a:gd name="adj" fmla="val 4019"/>
            </a:avLst>
          </a:prstGeom>
          <a:solidFill>
            <a:srgbClr val="542C49"/>
          </a:solidFill>
          <a:ln w="4763">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4" name="Shape 9"/>
          <p:cNvSpPr/>
          <p:nvPr/>
        </p:nvSpPr>
        <p:spPr>
          <a:xfrm>
            <a:off x="538237" y="3614886"/>
            <a:ext cx="2689175" cy="552822"/>
          </a:xfrm>
          <a:prstGeom prst="roundRect">
            <a:avLst>
              <a:gd name="adj" fmla="val 8107"/>
            </a:avLst>
          </a:prstGeom>
          <a:solidFill>
            <a:srgbClr val="542C49"/>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5" name="Text 10"/>
          <p:cNvSpPr/>
          <p:nvPr/>
        </p:nvSpPr>
        <p:spPr>
          <a:xfrm>
            <a:off x="644872" y="3721522"/>
            <a:ext cx="1185565" cy="152921"/>
          </a:xfrm>
          <a:prstGeom prst="rect">
            <a:avLst/>
          </a:prstGeom>
          <a:noFill/>
          <a:ln/>
        </p:spPr>
        <p:txBody>
          <a:bodyPr wrap="none" lIns="0" tIns="0" rIns="0" bIns="0" rtlCol="0" anchor="t"/>
          <a:lstStyle/>
          <a:p>
            <a:pPr marL="0" indent="0" algn="l">
              <a:lnSpc>
                <a:spcPts val="115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Lightweight</a:t>
            </a:r>
            <a:endParaRPr lang="en-US" sz="900" dirty="0">
              <a:latin typeface="Times New Roman" panose="02020603050405020304" pitchFamily="18" charset="0"/>
              <a:cs typeface="Times New Roman" panose="02020603050405020304" pitchFamily="18" charset="0"/>
            </a:endParaRPr>
          </a:p>
        </p:txBody>
      </p:sp>
      <p:sp>
        <p:nvSpPr>
          <p:cNvPr id="16" name="Text 11"/>
          <p:cNvSpPr/>
          <p:nvPr/>
        </p:nvSpPr>
        <p:spPr>
          <a:xfrm>
            <a:off x="644872" y="3917826"/>
            <a:ext cx="2475905" cy="143247"/>
          </a:xfrm>
          <a:prstGeom prst="rect">
            <a:avLst/>
          </a:prstGeom>
          <a:noFill/>
          <a:ln/>
        </p:spPr>
        <p:txBody>
          <a:bodyPr wrap="none" lIns="0" tIns="0" rIns="0" bIns="0" rtlCol="0" anchor="t"/>
          <a:lstStyle/>
          <a:p>
            <a:pPr marL="0" indent="0" algn="l">
              <a:lnSpc>
                <a:spcPts val="11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Use know resources for working. </a:t>
            </a:r>
            <a:endParaRPr lang="en-US" sz="800" dirty="0">
              <a:latin typeface="Times New Roman" panose="02020603050405020304" pitchFamily="18" charset="0"/>
              <a:cs typeface="Times New Roman" panose="02020603050405020304" pitchFamily="18" charset="0"/>
            </a:endParaRPr>
          </a:p>
        </p:txBody>
      </p:sp>
      <p:sp>
        <p:nvSpPr>
          <p:cNvPr id="17" name="Shape 12"/>
          <p:cNvSpPr/>
          <p:nvPr/>
        </p:nvSpPr>
        <p:spPr>
          <a:xfrm>
            <a:off x="3227412" y="3614886"/>
            <a:ext cx="2689175" cy="552822"/>
          </a:xfrm>
          <a:prstGeom prst="rect">
            <a:avLst/>
          </a:prstGeom>
          <a:solidFill>
            <a:srgbClr val="542C49"/>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8" name="Shape 13"/>
          <p:cNvSpPr/>
          <p:nvPr/>
        </p:nvSpPr>
        <p:spPr>
          <a:xfrm>
            <a:off x="3227412" y="3614886"/>
            <a:ext cx="14288" cy="552822"/>
          </a:xfrm>
          <a:prstGeom prst="roundRect">
            <a:avLst>
              <a:gd name="adj" fmla="val 313664"/>
            </a:avLst>
          </a:prstGeom>
          <a:solidFill>
            <a:srgbClr val="6D456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19" name="Text 14"/>
          <p:cNvSpPr/>
          <p:nvPr/>
        </p:nvSpPr>
        <p:spPr>
          <a:xfrm>
            <a:off x="3334048" y="3721522"/>
            <a:ext cx="1185565" cy="152921"/>
          </a:xfrm>
          <a:prstGeom prst="rect">
            <a:avLst/>
          </a:prstGeom>
          <a:noFill/>
          <a:ln/>
        </p:spPr>
        <p:txBody>
          <a:bodyPr wrap="none" lIns="0" tIns="0" rIns="0" bIns="0" rtlCol="0" anchor="t"/>
          <a:lstStyle/>
          <a:p>
            <a:pPr marL="0" indent="0" algn="l">
              <a:lnSpc>
                <a:spcPts val="115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 3-in-1 Integrated</a:t>
            </a:r>
            <a:endParaRPr lang="en-US" sz="900" dirty="0">
              <a:latin typeface="Times New Roman" panose="02020603050405020304" pitchFamily="18" charset="0"/>
              <a:cs typeface="Times New Roman" panose="02020603050405020304" pitchFamily="18" charset="0"/>
            </a:endParaRPr>
          </a:p>
        </p:txBody>
      </p:sp>
      <p:sp>
        <p:nvSpPr>
          <p:cNvPr id="20" name="Text 15"/>
          <p:cNvSpPr/>
          <p:nvPr/>
        </p:nvSpPr>
        <p:spPr>
          <a:xfrm>
            <a:off x="3334048" y="3917826"/>
            <a:ext cx="2475905" cy="143247"/>
          </a:xfrm>
          <a:prstGeom prst="rect">
            <a:avLst/>
          </a:prstGeom>
          <a:noFill/>
          <a:ln/>
        </p:spPr>
        <p:txBody>
          <a:bodyPr wrap="none" lIns="0" tIns="0" rIns="0" bIns="0" rtlCol="0" anchor="t"/>
          <a:lstStyle/>
          <a:p>
            <a:pPr marL="0" indent="0" algn="l">
              <a:lnSpc>
                <a:spcPts val="11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No existing tool combines all three capabilities</a:t>
            </a:r>
            <a:endParaRPr lang="en-US" sz="800" dirty="0">
              <a:latin typeface="Times New Roman" panose="02020603050405020304" pitchFamily="18" charset="0"/>
              <a:cs typeface="Times New Roman" panose="02020603050405020304" pitchFamily="18" charset="0"/>
            </a:endParaRPr>
          </a:p>
        </p:txBody>
      </p:sp>
      <p:sp>
        <p:nvSpPr>
          <p:cNvPr id="21" name="Shape 16"/>
          <p:cNvSpPr/>
          <p:nvPr/>
        </p:nvSpPr>
        <p:spPr>
          <a:xfrm>
            <a:off x="5916588" y="3614886"/>
            <a:ext cx="2689175" cy="552822"/>
          </a:xfrm>
          <a:prstGeom prst="rect">
            <a:avLst/>
          </a:prstGeom>
          <a:solidFill>
            <a:srgbClr val="542C49"/>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2" name="Shape 17"/>
          <p:cNvSpPr/>
          <p:nvPr/>
        </p:nvSpPr>
        <p:spPr>
          <a:xfrm>
            <a:off x="5916588" y="3614886"/>
            <a:ext cx="14288" cy="552822"/>
          </a:xfrm>
          <a:prstGeom prst="roundRect">
            <a:avLst>
              <a:gd name="adj" fmla="val 313664"/>
            </a:avLst>
          </a:prstGeom>
          <a:solidFill>
            <a:srgbClr val="6D456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3" name="Text 18"/>
          <p:cNvSpPr/>
          <p:nvPr/>
        </p:nvSpPr>
        <p:spPr>
          <a:xfrm>
            <a:off x="6023223" y="3721522"/>
            <a:ext cx="1185565" cy="152921"/>
          </a:xfrm>
          <a:prstGeom prst="rect">
            <a:avLst/>
          </a:prstGeom>
          <a:noFill/>
          <a:ln/>
        </p:spPr>
        <p:txBody>
          <a:bodyPr wrap="none" lIns="0" tIns="0" rIns="0" bIns="0" rtlCol="0" anchor="t"/>
          <a:lstStyle/>
          <a:p>
            <a:pPr marL="0" indent="0" algn="l">
              <a:lnSpc>
                <a:spcPts val="115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 Adaptive</a:t>
            </a:r>
            <a:endParaRPr lang="en-US" sz="900" dirty="0">
              <a:latin typeface="Times New Roman" panose="02020603050405020304" pitchFamily="18" charset="0"/>
              <a:cs typeface="Times New Roman" panose="02020603050405020304" pitchFamily="18" charset="0"/>
            </a:endParaRPr>
          </a:p>
        </p:txBody>
      </p:sp>
      <p:sp>
        <p:nvSpPr>
          <p:cNvPr id="24" name="Text 19"/>
          <p:cNvSpPr/>
          <p:nvPr/>
        </p:nvSpPr>
        <p:spPr>
          <a:xfrm>
            <a:off x="6023223" y="3917826"/>
            <a:ext cx="2475905" cy="143247"/>
          </a:xfrm>
          <a:prstGeom prst="rect">
            <a:avLst/>
          </a:prstGeom>
          <a:noFill/>
          <a:ln/>
        </p:spPr>
        <p:txBody>
          <a:bodyPr wrap="none" lIns="0" tIns="0" rIns="0" bIns="0" rtlCol="0" anchor="t"/>
          <a:lstStyle/>
          <a:p>
            <a:pPr marL="0" indent="0" algn="l">
              <a:lnSpc>
                <a:spcPts val="11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Awareness module learns and evolves with the user</a:t>
            </a:r>
            <a:endParaRPr lang="en-US" sz="800" dirty="0">
              <a:latin typeface="Times New Roman" panose="02020603050405020304" pitchFamily="18" charset="0"/>
              <a:cs typeface="Times New Roman" panose="02020603050405020304" pitchFamily="18" charset="0"/>
            </a:endParaRPr>
          </a:p>
        </p:txBody>
      </p:sp>
      <p:sp>
        <p:nvSpPr>
          <p:cNvPr id="25" name="Shape 20"/>
          <p:cNvSpPr/>
          <p:nvPr/>
        </p:nvSpPr>
        <p:spPr>
          <a:xfrm>
            <a:off x="538237" y="4167708"/>
            <a:ext cx="4033763" cy="552822"/>
          </a:xfrm>
          <a:prstGeom prst="rect">
            <a:avLst/>
          </a:prstGeom>
          <a:solidFill>
            <a:srgbClr val="542C49"/>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6" name="Shape 21"/>
          <p:cNvSpPr/>
          <p:nvPr/>
        </p:nvSpPr>
        <p:spPr>
          <a:xfrm>
            <a:off x="538237" y="4167708"/>
            <a:ext cx="4033763" cy="14288"/>
          </a:xfrm>
          <a:prstGeom prst="roundRect">
            <a:avLst>
              <a:gd name="adj" fmla="val 313664"/>
            </a:avLst>
          </a:prstGeom>
          <a:solidFill>
            <a:srgbClr val="6D456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7" name="Text 22"/>
          <p:cNvSpPr/>
          <p:nvPr/>
        </p:nvSpPr>
        <p:spPr>
          <a:xfrm>
            <a:off x="644872" y="4274344"/>
            <a:ext cx="1185565" cy="152921"/>
          </a:xfrm>
          <a:prstGeom prst="rect">
            <a:avLst/>
          </a:prstGeom>
          <a:noFill/>
          <a:ln/>
        </p:spPr>
        <p:txBody>
          <a:bodyPr wrap="none" lIns="0" tIns="0" rIns="0" bIns="0" rtlCol="0" anchor="t"/>
          <a:lstStyle/>
          <a:p>
            <a:pPr marL="0" indent="0" algn="l">
              <a:lnSpc>
                <a:spcPts val="115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Affordable</a:t>
            </a:r>
            <a:endParaRPr lang="en-US" sz="900" dirty="0">
              <a:latin typeface="Times New Roman" panose="02020603050405020304" pitchFamily="18" charset="0"/>
              <a:cs typeface="Times New Roman" panose="02020603050405020304" pitchFamily="18" charset="0"/>
            </a:endParaRPr>
          </a:p>
        </p:txBody>
      </p:sp>
      <p:sp>
        <p:nvSpPr>
          <p:cNvPr id="28" name="Text 23"/>
          <p:cNvSpPr/>
          <p:nvPr/>
        </p:nvSpPr>
        <p:spPr>
          <a:xfrm>
            <a:off x="644872" y="4470648"/>
            <a:ext cx="3820492" cy="143247"/>
          </a:xfrm>
          <a:prstGeom prst="rect">
            <a:avLst/>
          </a:prstGeom>
          <a:noFill/>
          <a:ln/>
        </p:spPr>
        <p:txBody>
          <a:bodyPr wrap="none" lIns="0" tIns="0" rIns="0" bIns="0" rtlCol="0" anchor="t"/>
          <a:lstStyle/>
          <a:p>
            <a:pPr marL="0" indent="0" algn="l">
              <a:lnSpc>
                <a:spcPts val="11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Designed for individuals and SMBs, not just enterprises</a:t>
            </a:r>
            <a:endParaRPr lang="en-US" sz="800" dirty="0">
              <a:latin typeface="Times New Roman" panose="02020603050405020304" pitchFamily="18" charset="0"/>
              <a:cs typeface="Times New Roman" panose="02020603050405020304" pitchFamily="18" charset="0"/>
            </a:endParaRPr>
          </a:p>
        </p:txBody>
      </p:sp>
      <p:sp>
        <p:nvSpPr>
          <p:cNvPr id="29" name="Shape 24"/>
          <p:cNvSpPr/>
          <p:nvPr/>
        </p:nvSpPr>
        <p:spPr>
          <a:xfrm>
            <a:off x="4572000" y="4167708"/>
            <a:ext cx="4033763" cy="552822"/>
          </a:xfrm>
          <a:prstGeom prst="rect">
            <a:avLst/>
          </a:prstGeom>
          <a:solidFill>
            <a:srgbClr val="542C49"/>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0" name="Shape 25"/>
          <p:cNvSpPr/>
          <p:nvPr/>
        </p:nvSpPr>
        <p:spPr>
          <a:xfrm>
            <a:off x="4572000" y="4167708"/>
            <a:ext cx="14288" cy="552822"/>
          </a:xfrm>
          <a:prstGeom prst="roundRect">
            <a:avLst>
              <a:gd name="adj" fmla="val 313664"/>
            </a:avLst>
          </a:prstGeom>
          <a:solidFill>
            <a:srgbClr val="6D456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1" name="Shape 26"/>
          <p:cNvSpPr/>
          <p:nvPr/>
        </p:nvSpPr>
        <p:spPr>
          <a:xfrm>
            <a:off x="4572000" y="4167708"/>
            <a:ext cx="4033763" cy="14288"/>
          </a:xfrm>
          <a:prstGeom prst="roundRect">
            <a:avLst>
              <a:gd name="adj" fmla="val 313664"/>
            </a:avLst>
          </a:prstGeom>
          <a:solidFill>
            <a:srgbClr val="6D456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2" name="Text 27"/>
          <p:cNvSpPr/>
          <p:nvPr/>
        </p:nvSpPr>
        <p:spPr>
          <a:xfrm>
            <a:off x="4678635" y="4274344"/>
            <a:ext cx="1185565" cy="152921"/>
          </a:xfrm>
          <a:prstGeom prst="rect">
            <a:avLst/>
          </a:prstGeom>
          <a:noFill/>
          <a:ln/>
        </p:spPr>
        <p:txBody>
          <a:bodyPr wrap="none" lIns="0" tIns="0" rIns="0" bIns="0" rtlCol="0" anchor="t"/>
          <a:lstStyle/>
          <a:p>
            <a:pPr marL="0" indent="0" algn="l">
              <a:lnSpc>
                <a:spcPts val="115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Pre-Download</a:t>
            </a:r>
            <a:endParaRPr lang="en-US" sz="900" dirty="0">
              <a:latin typeface="Times New Roman" panose="02020603050405020304" pitchFamily="18" charset="0"/>
              <a:cs typeface="Times New Roman" panose="02020603050405020304" pitchFamily="18" charset="0"/>
            </a:endParaRPr>
          </a:p>
        </p:txBody>
      </p:sp>
      <p:sp>
        <p:nvSpPr>
          <p:cNvPr id="33" name="Text 28"/>
          <p:cNvSpPr/>
          <p:nvPr/>
        </p:nvSpPr>
        <p:spPr>
          <a:xfrm>
            <a:off x="4678635" y="4470648"/>
            <a:ext cx="3820492" cy="143247"/>
          </a:xfrm>
          <a:prstGeom prst="rect">
            <a:avLst/>
          </a:prstGeom>
          <a:noFill/>
          <a:ln/>
        </p:spPr>
        <p:txBody>
          <a:bodyPr wrap="none" lIns="0" tIns="0" rIns="0" bIns="0" rtlCol="0" anchor="t"/>
          <a:lstStyle/>
          <a:p>
            <a:pPr marL="0" indent="0" algn="l">
              <a:lnSpc>
                <a:spcPts val="11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Image threats stopped before reaching the endpoint</a:t>
            </a:r>
            <a:endParaRPr lang="en-US" sz="800" dirty="0">
              <a:latin typeface="Times New Roman" panose="02020603050405020304" pitchFamily="18" charset="0"/>
              <a:cs typeface="Times New Roman" panose="02020603050405020304" pitchFamily="18" charset="0"/>
            </a:endParaRPr>
          </a:p>
        </p:txBody>
      </p:sp>
      <p:sp>
        <p:nvSpPr>
          <p:cNvPr id="34" name="Shape 5">
            <a:extLst>
              <a:ext uri="{FF2B5EF4-FFF2-40B4-BE49-F238E27FC236}">
                <a16:creationId xmlns:a16="http://schemas.microsoft.com/office/drawing/2014/main" id="{E6EB6389-02A6-C12E-C9BE-1E55C079867A}"/>
              </a:ext>
            </a:extLst>
          </p:cNvPr>
          <p:cNvSpPr/>
          <p:nvPr/>
        </p:nvSpPr>
        <p:spPr>
          <a:xfrm>
            <a:off x="3196530" y="976695"/>
            <a:ext cx="45719" cy="1939890"/>
          </a:xfrm>
          <a:prstGeom prst="rect">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5" name="Shape 5">
            <a:extLst>
              <a:ext uri="{FF2B5EF4-FFF2-40B4-BE49-F238E27FC236}">
                <a16:creationId xmlns:a16="http://schemas.microsoft.com/office/drawing/2014/main" id="{BA632DB1-8B81-30E8-803F-25F379D3CC35}"/>
              </a:ext>
            </a:extLst>
          </p:cNvPr>
          <p:cNvSpPr/>
          <p:nvPr/>
        </p:nvSpPr>
        <p:spPr>
          <a:xfrm>
            <a:off x="5915507" y="961504"/>
            <a:ext cx="45719" cy="1939890"/>
          </a:xfrm>
          <a:prstGeom prst="rect">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7EEE32E2-3DF6-E8F4-D7A9-F26CAE284D56}"/>
              </a:ext>
            </a:extLst>
          </p:cNvPr>
          <p:cNvSpPr txBox="1"/>
          <p:nvPr/>
        </p:nvSpPr>
        <p:spPr>
          <a:xfrm>
            <a:off x="8007530" y="4748490"/>
            <a:ext cx="1071155" cy="369332"/>
          </a:xfrm>
          <a:prstGeom prst="rect">
            <a:avLst/>
          </a:prstGeom>
          <a:solidFill>
            <a:srgbClr val="0A0B21"/>
          </a:solidFill>
        </p:spPr>
        <p:txBody>
          <a:bodyPr wrap="square" rtlCol="0">
            <a:spAutoFit/>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BF03C-BB28-A435-E22E-077BEE44100F}"/>
            </a:ext>
          </a:extLst>
        </p:cNvPr>
        <p:cNvGrpSpPr/>
        <p:nvPr/>
      </p:nvGrpSpPr>
      <p:grpSpPr>
        <a:xfrm>
          <a:off x="0" y="0"/>
          <a:ext cx="0" cy="0"/>
          <a:chOff x="0" y="0"/>
          <a:chExt cx="0" cy="0"/>
        </a:xfrm>
      </p:grpSpPr>
      <p:sp>
        <p:nvSpPr>
          <p:cNvPr id="5" name="Text 2">
            <a:extLst>
              <a:ext uri="{FF2B5EF4-FFF2-40B4-BE49-F238E27FC236}">
                <a16:creationId xmlns:a16="http://schemas.microsoft.com/office/drawing/2014/main" id="{0B8A45EC-0F5B-6B66-91C1-D8C65675908D}"/>
              </a:ext>
            </a:extLst>
          </p:cNvPr>
          <p:cNvSpPr/>
          <p:nvPr/>
        </p:nvSpPr>
        <p:spPr>
          <a:xfrm>
            <a:off x="1931049" y="1250493"/>
            <a:ext cx="5281902" cy="1004693"/>
          </a:xfrm>
          <a:prstGeom prst="rect">
            <a:avLst/>
          </a:prstGeom>
          <a:noFill/>
          <a:ln/>
        </p:spPr>
        <p:txBody>
          <a:bodyPr wrap="square" lIns="0" tIns="0" rIns="0" bIns="0" rtlCol="0" anchor="t"/>
          <a:lstStyle/>
          <a:p>
            <a:pPr algn="ctr">
              <a:lnSpc>
                <a:spcPct val="150000"/>
              </a:lnSpc>
            </a:pPr>
            <a:r>
              <a:rPr lang="en-US" sz="320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AI Scam Text Risk Indicator System</a:t>
            </a:r>
            <a:endPar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0C510F01-D47B-200C-0CE9-DD256B9A428B}"/>
              </a:ext>
            </a:extLst>
          </p:cNvPr>
          <p:cNvSpPr/>
          <p:nvPr/>
        </p:nvSpPr>
        <p:spPr>
          <a:xfrm>
            <a:off x="3979664" y="3276898"/>
            <a:ext cx="4613672" cy="503634"/>
          </a:xfrm>
          <a:prstGeom prst="rect">
            <a:avLst/>
          </a:prstGeom>
          <a:noFill/>
          <a:ln/>
        </p:spPr>
        <p:txBody>
          <a:bodyPr wrap="square" lIns="0" tIns="0" rIns="0" bIns="0" rtlCol="0" anchor="t"/>
          <a:lstStyle/>
          <a:p>
            <a:pPr marL="0" indent="0" algn="l">
              <a:lnSpc>
                <a:spcPts val="1950"/>
              </a:lnSpc>
              <a:buNone/>
            </a:pPr>
            <a:endParaRPr lang="en-US" sz="1200" dirty="0"/>
          </a:p>
        </p:txBody>
      </p:sp>
      <p:sp>
        <p:nvSpPr>
          <p:cNvPr id="7" name="Text 4">
            <a:extLst>
              <a:ext uri="{FF2B5EF4-FFF2-40B4-BE49-F238E27FC236}">
                <a16:creationId xmlns:a16="http://schemas.microsoft.com/office/drawing/2014/main" id="{C911520E-9C88-0020-27BA-1D31BD7E5867}"/>
              </a:ext>
            </a:extLst>
          </p:cNvPr>
          <p:cNvSpPr/>
          <p:nvPr/>
        </p:nvSpPr>
        <p:spPr>
          <a:xfrm>
            <a:off x="2941167" y="3654623"/>
            <a:ext cx="4613672" cy="251817"/>
          </a:xfrm>
          <a:prstGeom prst="rect">
            <a:avLst/>
          </a:prstGeom>
          <a:noFill/>
          <a:ln/>
        </p:spPr>
        <p:txBody>
          <a:bodyPr wrap="none" lIns="0" tIns="0" rIns="0" bIns="0" rtlCol="0" anchor="t"/>
          <a:lstStyle/>
          <a:p>
            <a:pPr marL="0" indent="0" algn="l">
              <a:lnSpc>
                <a:spcPts val="1950"/>
              </a:lnSpc>
              <a:buNone/>
            </a:pP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Project ID:</a:t>
            </a: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 R26-CS-011  |  SLIIT — Faculty of Computing</a:t>
            </a:r>
            <a:endParaRPr lang="en-US" sz="1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B18CE70-A7D8-74F6-F0D1-CBF7B9901829}"/>
              </a:ext>
            </a:extLst>
          </p:cNvPr>
          <p:cNvSpPr txBox="1"/>
          <p:nvPr/>
        </p:nvSpPr>
        <p:spPr>
          <a:xfrm>
            <a:off x="1521823" y="3091718"/>
            <a:ext cx="6400799" cy="336118"/>
          </a:xfrm>
          <a:prstGeom prst="rect">
            <a:avLst/>
          </a:prstGeom>
          <a:noFill/>
        </p:spPr>
        <p:txBody>
          <a:bodyPr wrap="square">
            <a:spAutoFit/>
          </a:bodyPr>
          <a:lstStyle/>
          <a:p>
            <a:pPr algn="just">
              <a:lnSpc>
                <a:spcPct val="150000"/>
              </a:lnSpc>
            </a:pPr>
            <a:r>
              <a:rPr lang="en-US" sz="1200" b="1" dirty="0">
                <a:solidFill>
                  <a:srgbClr val="DAD8E9"/>
                </a:solidFill>
                <a:latin typeface="Times New Roman" panose="02020603050405020304" pitchFamily="18" charset="0"/>
                <a:ea typeface="Mukta Light" panose="020B0604020202020204" charset="0"/>
                <a:cs typeface="Times New Roman" panose="02020603050405020304" pitchFamily="18" charset="0"/>
              </a:rPr>
              <a:t>Name:</a:t>
            </a:r>
            <a:r>
              <a:rPr lang="en-US" sz="1200" dirty="0">
                <a:solidFill>
                  <a:srgbClr val="DAD8E9"/>
                </a:solidFill>
                <a:latin typeface="Times New Roman" panose="02020603050405020304" pitchFamily="18" charset="0"/>
                <a:ea typeface="Mukta Light" panose="020B0604020202020204" charset="0"/>
                <a:cs typeface="Times New Roman" panose="02020603050405020304" pitchFamily="18" charset="0"/>
              </a:rPr>
              <a:t> Aberathna H.M.M.K  |  </a:t>
            </a:r>
            <a:r>
              <a:rPr lang="en-US" sz="1200" b="1" dirty="0">
                <a:solidFill>
                  <a:srgbClr val="DAD8E9"/>
                </a:solidFill>
                <a:latin typeface="Times New Roman" panose="02020603050405020304" pitchFamily="18" charset="0"/>
                <a:ea typeface="Mukta Light" panose="020B0604020202020204" charset="0"/>
                <a:cs typeface="Times New Roman" panose="02020603050405020304" pitchFamily="18" charset="0"/>
              </a:rPr>
              <a:t>Student ID:</a:t>
            </a:r>
            <a:r>
              <a:rPr lang="en-US" sz="1200" dirty="0">
                <a:solidFill>
                  <a:srgbClr val="DAD8E9"/>
                </a:solidFill>
                <a:latin typeface="Times New Roman" panose="02020603050405020304" pitchFamily="18" charset="0"/>
                <a:ea typeface="Mukta Light" panose="020B0604020202020204" charset="0"/>
                <a:cs typeface="Times New Roman" panose="02020603050405020304" pitchFamily="18" charset="0"/>
              </a:rPr>
              <a:t> IT22277268</a:t>
            </a:r>
            <a:r>
              <a:rPr lang="en-US" sz="1200" b="1" kern="1200" dirty="0">
                <a:solidFill>
                  <a:srgbClr val="DAD8E9"/>
                </a:solidFill>
                <a:effectLst/>
                <a:latin typeface="Times New Roman" panose="02020603050405020304" pitchFamily="18" charset="0"/>
                <a:ea typeface="Mukta Light" panose="020B0604020202020204" charset="0"/>
                <a:cs typeface="Times New Roman" panose="02020603050405020304" pitchFamily="18" charset="0"/>
              </a:rPr>
              <a:t> </a:t>
            </a:r>
            <a:r>
              <a:rPr lang="en-US" sz="1200" dirty="0">
                <a:solidFill>
                  <a:srgbClr val="DAD8E9"/>
                </a:solidFill>
                <a:latin typeface="Times New Roman" panose="02020603050405020304" pitchFamily="18" charset="0"/>
                <a:ea typeface="Mukta Light" panose="020B0604020202020204" charset="0"/>
                <a:cs typeface="Times New Roman" panose="02020603050405020304" pitchFamily="18" charset="0"/>
              </a:rPr>
              <a:t>|  </a:t>
            </a:r>
            <a:r>
              <a:rPr lang="en-US" sz="1200" b="1" kern="1200" dirty="0">
                <a:solidFill>
                  <a:srgbClr val="DAD8E9"/>
                </a:solidFill>
                <a:effectLst/>
                <a:latin typeface="Times New Roman" panose="02020603050405020304" pitchFamily="18" charset="0"/>
                <a:ea typeface="Mukta Light" panose="020B0604020202020204" charset="0"/>
                <a:cs typeface="Times New Roman" panose="02020603050405020304" pitchFamily="18" charset="0"/>
              </a:rPr>
              <a:t>Specialization:</a:t>
            </a:r>
            <a:r>
              <a:rPr lang="en-US" sz="1200" kern="1200" dirty="0">
                <a:solidFill>
                  <a:srgbClr val="DAD8E9"/>
                </a:solidFill>
                <a:effectLst/>
                <a:latin typeface="Times New Roman" panose="02020603050405020304" pitchFamily="18" charset="0"/>
                <a:ea typeface="Mukta Light" panose="020B0604020202020204" charset="0"/>
                <a:cs typeface="Times New Roman" panose="02020603050405020304" pitchFamily="18" charset="0"/>
              </a:rPr>
              <a:t> Cyber Security  </a:t>
            </a:r>
            <a:endParaRPr lang="en-US" sz="1200" dirty="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C861BEC-7DAE-DFBD-05E8-0A5982EFFC87}"/>
              </a:ext>
            </a:extLst>
          </p:cNvPr>
          <p:cNvSpPr txBox="1"/>
          <p:nvPr/>
        </p:nvSpPr>
        <p:spPr>
          <a:xfrm>
            <a:off x="7994468" y="4774168"/>
            <a:ext cx="1149531" cy="369332"/>
          </a:xfrm>
          <a:prstGeom prst="rect">
            <a:avLst/>
          </a:prstGeom>
          <a:solidFill>
            <a:srgbClr val="0A0B21"/>
          </a:solidFill>
        </p:spPr>
        <p:txBody>
          <a:bodyPr wrap="square" rtlCol="0">
            <a:spAutoFit/>
          </a:bodyPr>
          <a:lstStyle/>
          <a:p>
            <a:endParaRPr lang="en-US" dirty="0"/>
          </a:p>
        </p:txBody>
      </p:sp>
      <p:pic>
        <p:nvPicPr>
          <p:cNvPr id="11" name="Picture 2">
            <a:extLst>
              <a:ext uri="{FF2B5EF4-FFF2-40B4-BE49-F238E27FC236}">
                <a16:creationId xmlns:a16="http://schemas.microsoft.com/office/drawing/2014/main" id="{6918DD37-66C9-7D46-C03C-6FF3DB71EE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3173" y="374825"/>
            <a:ext cx="1271764" cy="1193751"/>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0894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8" name="Text 6"/>
          <p:cNvSpPr/>
          <p:nvPr/>
        </p:nvSpPr>
        <p:spPr>
          <a:xfrm>
            <a:off x="403150" y="439303"/>
            <a:ext cx="5697662" cy="241697"/>
          </a:xfrm>
          <a:prstGeom prst="rect">
            <a:avLst/>
          </a:prstGeom>
          <a:noFill/>
          <a:ln/>
        </p:spPr>
        <p:txBody>
          <a:bodyPr wrap="none" lIns="0" tIns="0" rIns="0" bIns="0" rtlCol="0" anchor="t"/>
          <a:lstStyle/>
          <a:p>
            <a:pPr marL="0" indent="0" algn="l">
              <a:lnSpc>
                <a:spcPts val="190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How the Solution Will Address the Sub-Problem / Prototype</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Text 7"/>
          <p:cNvSpPr/>
          <p:nvPr/>
        </p:nvSpPr>
        <p:spPr>
          <a:xfrm>
            <a:off x="403150" y="1049666"/>
            <a:ext cx="1208782" cy="151061"/>
          </a:xfrm>
          <a:prstGeom prst="rect">
            <a:avLst/>
          </a:prstGeom>
          <a:noFill/>
          <a:ln/>
        </p:spPr>
        <p:txBody>
          <a:bodyPr wrap="none" lIns="0" tIns="0" rIns="0" bIns="0" rtlCol="0" anchor="t"/>
          <a:lstStyle/>
          <a:p>
            <a:pPr marL="0" indent="0" algn="l">
              <a:lnSpc>
                <a:spcPts val="1150"/>
              </a:lnSpc>
              <a:buNone/>
            </a:pPr>
            <a:r>
              <a:rPr lang="en-US" sz="140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Proposed Solution</a:t>
            </a:r>
            <a:endParaRPr lang="en-US"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 name="Text 8"/>
          <p:cNvSpPr/>
          <p:nvPr/>
        </p:nvSpPr>
        <p:spPr>
          <a:xfrm>
            <a:off x="403150" y="1367867"/>
            <a:ext cx="3931667" cy="294382"/>
          </a:xfrm>
          <a:prstGeom prst="rect">
            <a:avLst/>
          </a:prstGeom>
          <a:noFill/>
          <a:ln/>
        </p:spPr>
        <p:txBody>
          <a:bodyPr wrap="square" lIns="0" tIns="0" rIns="0" bIns="0" rtlCol="0" anchor="t"/>
          <a:lstStyle/>
          <a:p>
            <a:pPr marL="0" indent="0" algn="l">
              <a:lnSpc>
                <a:spcPct val="1500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The proposed solution is a </a:t>
            </a:r>
            <a:r>
              <a:rPr lang="en-US" sz="1000" b="1" dirty="0">
                <a:solidFill>
                  <a:srgbClr val="DAD8E9"/>
                </a:solidFill>
                <a:latin typeface="Times New Roman" panose="02020603050405020304" pitchFamily="18" charset="0"/>
                <a:ea typeface="Mukta Light" pitchFamily="34" charset="-122"/>
                <a:cs typeface="Times New Roman" panose="02020603050405020304" pitchFamily="18" charset="0"/>
              </a:rPr>
              <a:t>Lightweight AI Scam Text Risk Indicator System</a:t>
            </a: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 that uses lightweight machine learning to detect AI-generated scam messages.</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403147" y="2059874"/>
            <a:ext cx="4874244" cy="90061"/>
          </a:xfrm>
          <a:prstGeom prst="rect">
            <a:avLst/>
          </a:prstGeom>
          <a:noFill/>
          <a:ln/>
        </p:spPr>
        <p:txBody>
          <a:bodyPr wrap="none" lIns="0" tIns="0" rIns="0" bIns="0" rtlCol="0" anchor="t"/>
          <a:lstStyle/>
          <a:p>
            <a:pPr marL="0" indent="0" algn="l">
              <a:lnSpc>
                <a:spcPct val="1500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The prototype analyzes emails to identify scam-related behaviours such as:</a:t>
            </a:r>
            <a:endParaRPr lang="en-US" sz="1000" dirty="0">
              <a:latin typeface="Times New Roman" panose="02020603050405020304" pitchFamily="18" charset="0"/>
              <a:cs typeface="Times New Roman" panose="02020603050405020304" pitchFamily="18" charset="0"/>
            </a:endParaRPr>
          </a:p>
        </p:txBody>
      </p:sp>
      <p:sp>
        <p:nvSpPr>
          <p:cNvPr id="12" name="Text 10"/>
          <p:cNvSpPr/>
          <p:nvPr/>
        </p:nvSpPr>
        <p:spPr>
          <a:xfrm>
            <a:off x="403147" y="2330244"/>
            <a:ext cx="3931667" cy="494109"/>
          </a:xfrm>
          <a:prstGeom prst="rect">
            <a:avLst/>
          </a:prstGeom>
          <a:noFill/>
          <a:ln/>
        </p:spPr>
        <p:txBody>
          <a:bodyPr wrap="square" lIns="0" tIns="0" rIns="0" bIns="0" rtlCol="0" anchor="t"/>
          <a:lstStyle/>
          <a:p>
            <a:pPr marL="342900" indent="-342900" algn="l">
              <a:lnSpc>
                <a:spcPct val="150000"/>
              </a:lnSpc>
              <a:buSzPct val="100000"/>
              <a:buChar char="•"/>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Urgency</a:t>
            </a:r>
            <a:endParaRPr lang="en-US" sz="1000" dirty="0">
              <a:latin typeface="Times New Roman" panose="02020603050405020304" pitchFamily="18" charset="0"/>
              <a:cs typeface="Times New Roman" panose="02020603050405020304" pitchFamily="18" charset="0"/>
            </a:endParaRPr>
          </a:p>
          <a:p>
            <a:pPr marL="342900" indent="-342900" algn="l">
              <a:lnSpc>
                <a:spcPct val="150000"/>
              </a:lnSpc>
              <a:buSzPct val="100000"/>
              <a:buChar char="•"/>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Fake authority</a:t>
            </a:r>
            <a:endParaRPr lang="en-US" sz="1000" dirty="0">
              <a:latin typeface="Times New Roman" panose="02020603050405020304" pitchFamily="18" charset="0"/>
              <a:cs typeface="Times New Roman" panose="02020603050405020304" pitchFamily="18" charset="0"/>
            </a:endParaRPr>
          </a:p>
          <a:p>
            <a:pPr marL="342900" indent="-342900" algn="l">
              <a:lnSpc>
                <a:spcPct val="150000"/>
              </a:lnSpc>
              <a:buSzPct val="100000"/>
              <a:buChar char="•"/>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Emotional manipulation</a:t>
            </a:r>
            <a:endParaRPr lang="en-US" sz="1000" dirty="0">
              <a:latin typeface="Times New Roman" panose="02020603050405020304" pitchFamily="18" charset="0"/>
              <a:cs typeface="Times New Roman" panose="02020603050405020304" pitchFamily="18" charset="0"/>
            </a:endParaRPr>
          </a:p>
        </p:txBody>
      </p:sp>
      <p:sp>
        <p:nvSpPr>
          <p:cNvPr id="13" name="Text 11"/>
          <p:cNvSpPr/>
          <p:nvPr/>
        </p:nvSpPr>
        <p:spPr>
          <a:xfrm>
            <a:off x="403148" y="3058791"/>
            <a:ext cx="3931667" cy="147191"/>
          </a:xfrm>
          <a:prstGeom prst="rect">
            <a:avLst/>
          </a:prstGeom>
          <a:noFill/>
          <a:ln/>
        </p:spPr>
        <p:txBody>
          <a:bodyPr wrap="none" lIns="0" tIns="0" rIns="0" bIns="0" rtlCol="0" anchor="t"/>
          <a:lstStyle/>
          <a:p>
            <a:pPr marL="0" indent="0" algn="l">
              <a:lnSpc>
                <a:spcPct val="1500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It operates efficiently with </a:t>
            </a:r>
            <a:r>
              <a:rPr lang="en-US" sz="1000" b="1" dirty="0">
                <a:solidFill>
                  <a:srgbClr val="DAD8E9"/>
                </a:solidFill>
                <a:latin typeface="Times New Roman" panose="02020603050405020304" pitchFamily="18" charset="0"/>
                <a:ea typeface="Mukta Light" pitchFamily="34" charset="-122"/>
                <a:cs typeface="Times New Roman" panose="02020603050405020304" pitchFamily="18" charset="0"/>
              </a:rPr>
              <a:t>low computational resources</a:t>
            </a: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a:t>
            </a:r>
            <a:endParaRPr lang="en-US" sz="1000" dirty="0">
              <a:latin typeface="Times New Roman" panose="02020603050405020304" pitchFamily="18" charset="0"/>
              <a:cs typeface="Times New Roman" panose="02020603050405020304" pitchFamily="18" charset="0"/>
            </a:endParaRPr>
          </a:p>
        </p:txBody>
      </p:sp>
      <p:sp>
        <p:nvSpPr>
          <p:cNvPr id="14" name="Text 12"/>
          <p:cNvSpPr/>
          <p:nvPr/>
        </p:nvSpPr>
        <p:spPr>
          <a:xfrm>
            <a:off x="4809183" y="1049666"/>
            <a:ext cx="2948806" cy="151061"/>
          </a:xfrm>
          <a:prstGeom prst="rect">
            <a:avLst/>
          </a:prstGeom>
          <a:noFill/>
          <a:ln/>
        </p:spPr>
        <p:txBody>
          <a:bodyPr wrap="none" lIns="0" tIns="0" rIns="0" bIns="0" rtlCol="0" anchor="t"/>
          <a:lstStyle/>
          <a:p>
            <a:pPr marL="0" indent="0" algn="l">
              <a:lnSpc>
                <a:spcPts val="1150"/>
              </a:lnSpc>
              <a:buNone/>
            </a:pPr>
            <a:r>
              <a:rPr lang="en-US" sz="140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Design Excellence &amp; User Feedback on Prototype</a:t>
            </a:r>
            <a:endParaRPr lang="en-US"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9183" y="1473378"/>
            <a:ext cx="163190" cy="163190"/>
          </a:xfrm>
          <a:prstGeom prst="rect">
            <a:avLst/>
          </a:prstGeom>
        </p:spPr>
      </p:pic>
      <p:sp>
        <p:nvSpPr>
          <p:cNvPr id="16" name="Text 13"/>
          <p:cNvSpPr/>
          <p:nvPr/>
        </p:nvSpPr>
        <p:spPr>
          <a:xfrm>
            <a:off x="5121945" y="1467983"/>
            <a:ext cx="3578126" cy="147191"/>
          </a:xfrm>
          <a:prstGeom prst="rect">
            <a:avLst/>
          </a:prstGeom>
          <a:noFill/>
          <a:ln/>
        </p:spPr>
        <p:txBody>
          <a:bodyPr wrap="none" lIns="0" tIns="0" rIns="0" bIns="0" rtlCol="0" anchor="t"/>
          <a:lstStyle/>
          <a:p>
            <a:pPr marL="0" indent="0" algn="l">
              <a:lnSpc>
                <a:spcPts val="115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Lightweight and efficient AI scam detection system</a:t>
            </a:r>
            <a:endParaRPr lang="en-US" sz="1000" dirty="0">
              <a:latin typeface="Times New Roman" panose="02020603050405020304" pitchFamily="18" charset="0"/>
              <a:cs typeface="Times New Roman" panose="02020603050405020304" pitchFamily="18" charset="0"/>
            </a:endParaRPr>
          </a:p>
        </p:txBody>
      </p:sp>
      <p:pic>
        <p:nvPicPr>
          <p:cNvPr id="1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9183" y="1955507"/>
            <a:ext cx="163190" cy="163190"/>
          </a:xfrm>
          <a:prstGeom prst="rect">
            <a:avLst/>
          </a:prstGeom>
        </p:spPr>
      </p:pic>
      <p:sp>
        <p:nvSpPr>
          <p:cNvPr id="18" name="Text 14"/>
          <p:cNvSpPr/>
          <p:nvPr/>
        </p:nvSpPr>
        <p:spPr>
          <a:xfrm>
            <a:off x="5121945" y="1950112"/>
            <a:ext cx="3578126" cy="147191"/>
          </a:xfrm>
          <a:prstGeom prst="rect">
            <a:avLst/>
          </a:prstGeom>
          <a:noFill/>
          <a:ln/>
        </p:spPr>
        <p:txBody>
          <a:bodyPr wrap="none" lIns="0" tIns="0" rIns="0" bIns="0" rtlCol="0" anchor="t"/>
          <a:lstStyle/>
          <a:p>
            <a:pPr marL="0" indent="0" algn="l">
              <a:lnSpc>
                <a:spcPts val="115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Combines NLP with lightweight machine learning techniques</a:t>
            </a:r>
            <a:endParaRPr lang="en-US" sz="1000" dirty="0">
              <a:latin typeface="Times New Roman" panose="02020603050405020304" pitchFamily="18" charset="0"/>
              <a:cs typeface="Times New Roman" panose="02020603050405020304" pitchFamily="18" charset="0"/>
            </a:endParaRPr>
          </a:p>
        </p:txBody>
      </p:sp>
      <p:pic>
        <p:nvPicPr>
          <p:cNvPr id="1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9183" y="2437635"/>
            <a:ext cx="163190" cy="163190"/>
          </a:xfrm>
          <a:prstGeom prst="rect">
            <a:avLst/>
          </a:prstGeom>
        </p:spPr>
      </p:pic>
      <p:sp>
        <p:nvSpPr>
          <p:cNvPr id="20" name="Text 15"/>
          <p:cNvSpPr/>
          <p:nvPr/>
        </p:nvSpPr>
        <p:spPr>
          <a:xfrm>
            <a:off x="5121945" y="2432240"/>
            <a:ext cx="3578126" cy="147191"/>
          </a:xfrm>
          <a:prstGeom prst="rect">
            <a:avLst/>
          </a:prstGeom>
          <a:noFill/>
          <a:ln/>
        </p:spPr>
        <p:txBody>
          <a:bodyPr wrap="none" lIns="0" tIns="0" rIns="0" bIns="0" rtlCol="0" anchor="t"/>
          <a:lstStyle/>
          <a:p>
            <a:pPr marL="0" indent="0" algn="l">
              <a:lnSpc>
                <a:spcPts val="115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Provides real-time scam risk analysis and warning outputs</a:t>
            </a:r>
            <a:endParaRPr lang="en-US" sz="1000" dirty="0">
              <a:latin typeface="Times New Roman" panose="02020603050405020304" pitchFamily="18" charset="0"/>
              <a:cs typeface="Times New Roman" panose="02020603050405020304" pitchFamily="18" charset="0"/>
            </a:endParaRPr>
          </a:p>
        </p:txBody>
      </p:sp>
      <p:pic>
        <p:nvPicPr>
          <p:cNvPr id="21"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9183" y="2919764"/>
            <a:ext cx="163190" cy="163190"/>
          </a:xfrm>
          <a:prstGeom prst="rect">
            <a:avLst/>
          </a:prstGeom>
        </p:spPr>
      </p:pic>
      <p:sp>
        <p:nvSpPr>
          <p:cNvPr id="22" name="Text 16"/>
          <p:cNvSpPr/>
          <p:nvPr/>
        </p:nvSpPr>
        <p:spPr>
          <a:xfrm>
            <a:off x="5121945" y="2914369"/>
            <a:ext cx="3578126" cy="147191"/>
          </a:xfrm>
          <a:prstGeom prst="rect">
            <a:avLst/>
          </a:prstGeom>
          <a:noFill/>
          <a:ln/>
        </p:spPr>
        <p:txBody>
          <a:bodyPr wrap="none" lIns="0" tIns="0" rIns="0" bIns="0" rtlCol="0" anchor="t"/>
          <a:lstStyle/>
          <a:p>
            <a:pPr marL="0" indent="0" algn="l">
              <a:lnSpc>
                <a:spcPts val="115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Detects scam behaviors such as urgency and fake authority</a:t>
            </a:r>
            <a:endParaRPr lang="en-US" sz="1000" dirty="0">
              <a:latin typeface="Times New Roman" panose="02020603050405020304" pitchFamily="18" charset="0"/>
              <a:cs typeface="Times New Roman" panose="02020603050405020304" pitchFamily="18" charset="0"/>
            </a:endParaRPr>
          </a:p>
        </p:txBody>
      </p:sp>
      <p:pic>
        <p:nvPicPr>
          <p:cNvPr id="23"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9183" y="3401893"/>
            <a:ext cx="163190" cy="163190"/>
          </a:xfrm>
          <a:prstGeom prst="rect">
            <a:avLst/>
          </a:prstGeom>
        </p:spPr>
      </p:pic>
      <p:sp>
        <p:nvSpPr>
          <p:cNvPr id="24" name="Text 17"/>
          <p:cNvSpPr/>
          <p:nvPr/>
        </p:nvSpPr>
        <p:spPr>
          <a:xfrm>
            <a:off x="5121945" y="3396498"/>
            <a:ext cx="3578126" cy="147191"/>
          </a:xfrm>
          <a:prstGeom prst="rect">
            <a:avLst/>
          </a:prstGeom>
          <a:noFill/>
          <a:ln/>
        </p:spPr>
        <p:txBody>
          <a:bodyPr wrap="none" lIns="0" tIns="0" rIns="0" bIns="0" rtlCol="0" anchor="t"/>
          <a:lstStyle/>
          <a:p>
            <a:pPr marL="0" indent="0" algn="l">
              <a:lnSpc>
                <a:spcPts val="115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User-friendly interface suitable for non-technical users</a:t>
            </a:r>
            <a:endParaRPr lang="en-US" sz="1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4DBF313D-16DC-D2FF-8C96-1B30BBBAAE39}"/>
              </a:ext>
            </a:extLst>
          </p:cNvPr>
          <p:cNvSpPr txBox="1"/>
          <p:nvPr/>
        </p:nvSpPr>
        <p:spPr>
          <a:xfrm>
            <a:off x="7757989" y="4689566"/>
            <a:ext cx="1386011" cy="453934"/>
          </a:xfrm>
          <a:prstGeom prst="rect">
            <a:avLst/>
          </a:prstGeom>
          <a:solidFill>
            <a:srgbClr val="0A0B21"/>
          </a:solidFill>
        </p:spPr>
        <p:txBody>
          <a:bodyPr wrap="square" rtlCol="0">
            <a:spAutoFit/>
          </a:bodyPr>
          <a:lstStyle/>
          <a:p>
            <a:endParaRPr lang="en-US" dirty="0"/>
          </a:p>
        </p:txBody>
      </p:sp>
      <p:sp>
        <p:nvSpPr>
          <p:cNvPr id="27" name="TextBox 26">
            <a:extLst>
              <a:ext uri="{FF2B5EF4-FFF2-40B4-BE49-F238E27FC236}">
                <a16:creationId xmlns:a16="http://schemas.microsoft.com/office/drawing/2014/main" id="{F2D18706-35EC-C60B-F1EF-8C5EB8F3E9F1}"/>
              </a:ext>
            </a:extLst>
          </p:cNvPr>
          <p:cNvSpPr txBox="1"/>
          <p:nvPr/>
        </p:nvSpPr>
        <p:spPr>
          <a:xfrm>
            <a:off x="384022" y="4670856"/>
            <a:ext cx="8850322" cy="336118"/>
          </a:xfrm>
          <a:prstGeom prst="rect">
            <a:avLst/>
          </a:prstGeom>
          <a:noFill/>
        </p:spPr>
        <p:txBody>
          <a:bodyPr wrap="square">
            <a:spAutoFit/>
          </a:bodyPr>
          <a:lstStyle/>
          <a:p>
            <a:pPr algn="just">
              <a:lnSpc>
                <a:spcPct val="150000"/>
              </a:lnSpc>
            </a:pPr>
            <a:r>
              <a:rPr lang="en-US" sz="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Aberathna H.M.M.K  |  IT22277268  |  </a:t>
            </a:r>
            <a:r>
              <a:rPr lang="en-US" sz="1200" kern="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R26-CS-011</a:t>
            </a:r>
            <a:endParaRPr lang="en-US" sz="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7515" y="376817"/>
            <a:ext cx="6452815" cy="362620"/>
          </a:xfrm>
          <a:prstGeom prst="rect">
            <a:avLst/>
          </a:prstGeom>
          <a:noFill/>
          <a:ln/>
        </p:spPr>
        <p:txBody>
          <a:bodyPr wrap="none" lIns="0" tIns="0" rIns="0" bIns="0" rtlCol="0" anchor="t"/>
          <a:lstStyle/>
          <a:p>
            <a:pPr marL="0" indent="0" algn="l">
              <a:lnSpc>
                <a:spcPts val="285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User Requirements &amp; Feedback on Prototype</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1"/>
          <p:cNvSpPr/>
          <p:nvPr/>
        </p:nvSpPr>
        <p:spPr>
          <a:xfrm>
            <a:off x="507653" y="1021962"/>
            <a:ext cx="2153692" cy="181273"/>
          </a:xfrm>
          <a:prstGeom prst="rect">
            <a:avLst/>
          </a:prstGeom>
          <a:noFill/>
          <a:ln/>
        </p:spPr>
        <p:txBody>
          <a:bodyPr wrap="none" lIns="0" tIns="0" rIns="0" bIns="0" rtlCol="0" anchor="t"/>
          <a:lstStyle/>
          <a:p>
            <a:pPr marL="0" indent="0" algn="l">
              <a:lnSpc>
                <a:spcPts val="1400"/>
              </a:lnSpc>
              <a:buNone/>
            </a:pPr>
            <a:r>
              <a:rPr lang="en-US" sz="140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User Requirements Addressed</a:t>
            </a:r>
            <a:endParaRPr lang="en-US"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Shape 2"/>
          <p:cNvSpPr/>
          <p:nvPr/>
        </p:nvSpPr>
        <p:spPr>
          <a:xfrm>
            <a:off x="502890" y="1461600"/>
            <a:ext cx="1898377" cy="671661"/>
          </a:xfrm>
          <a:prstGeom prst="roundRect">
            <a:avLst>
              <a:gd name="adj" fmla="val 8164"/>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5" name="Text 3"/>
          <p:cNvSpPr/>
          <p:nvPr/>
        </p:nvSpPr>
        <p:spPr>
          <a:xfrm>
            <a:off x="647700" y="1606410"/>
            <a:ext cx="1608758" cy="382042"/>
          </a:xfrm>
          <a:prstGeom prst="rect">
            <a:avLst/>
          </a:prstGeom>
          <a:noFill/>
          <a:ln/>
        </p:spPr>
        <p:txBody>
          <a:bodyPr wrap="square" lIns="0" tIns="0" rIns="0" bIns="0" rtlCol="0" anchor="t"/>
          <a:lstStyle/>
          <a:p>
            <a:pPr marL="0" indent="0" algn="l">
              <a:lnSpc>
                <a:spcPts val="15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Supports text-based scam message analysis</a:t>
            </a:r>
            <a:endParaRPr lang="en-US" sz="1000" dirty="0">
              <a:latin typeface="Times New Roman" panose="02020603050405020304" pitchFamily="18" charset="0"/>
              <a:cs typeface="Times New Roman" panose="02020603050405020304" pitchFamily="18" charset="0"/>
            </a:endParaRPr>
          </a:p>
        </p:txBody>
      </p:sp>
      <p:sp>
        <p:nvSpPr>
          <p:cNvPr id="6" name="Shape 4"/>
          <p:cNvSpPr/>
          <p:nvPr/>
        </p:nvSpPr>
        <p:spPr>
          <a:xfrm>
            <a:off x="2509539" y="1461600"/>
            <a:ext cx="1898452" cy="671661"/>
          </a:xfrm>
          <a:prstGeom prst="roundRect">
            <a:avLst>
              <a:gd name="adj" fmla="val 8164"/>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7" name="Text 5"/>
          <p:cNvSpPr/>
          <p:nvPr/>
        </p:nvSpPr>
        <p:spPr>
          <a:xfrm>
            <a:off x="2654349" y="1606410"/>
            <a:ext cx="1608832" cy="191021"/>
          </a:xfrm>
          <a:prstGeom prst="rect">
            <a:avLst/>
          </a:prstGeom>
          <a:noFill/>
          <a:ln/>
        </p:spPr>
        <p:txBody>
          <a:bodyPr wrap="none" lIns="0" tIns="0" rIns="0" bIns="0" rtlCol="0" anchor="t"/>
          <a:lstStyle/>
          <a:p>
            <a:pPr marL="0" indent="0" algn="l">
              <a:lnSpc>
                <a:spcPts val="15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Allows users to input emails</a:t>
            </a:r>
            <a:endParaRPr lang="en-US" sz="1000" dirty="0">
              <a:latin typeface="Times New Roman" panose="02020603050405020304" pitchFamily="18" charset="0"/>
              <a:cs typeface="Times New Roman" panose="02020603050405020304" pitchFamily="18" charset="0"/>
            </a:endParaRPr>
          </a:p>
        </p:txBody>
      </p:sp>
      <p:sp>
        <p:nvSpPr>
          <p:cNvPr id="8" name="Shape 6"/>
          <p:cNvSpPr/>
          <p:nvPr/>
        </p:nvSpPr>
        <p:spPr>
          <a:xfrm>
            <a:off x="502890" y="2241534"/>
            <a:ext cx="1898377" cy="862682"/>
          </a:xfrm>
          <a:prstGeom prst="roundRect">
            <a:avLst>
              <a:gd name="adj" fmla="val 6356"/>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9" name="Text 7"/>
          <p:cNvSpPr/>
          <p:nvPr/>
        </p:nvSpPr>
        <p:spPr>
          <a:xfrm>
            <a:off x="647700" y="2386344"/>
            <a:ext cx="1608758" cy="573063"/>
          </a:xfrm>
          <a:prstGeom prst="rect">
            <a:avLst/>
          </a:prstGeom>
          <a:noFill/>
          <a:ln/>
        </p:spPr>
        <p:txBody>
          <a:bodyPr wrap="square" lIns="0" tIns="0" rIns="0" bIns="0" rtlCol="0" anchor="t"/>
          <a:lstStyle/>
          <a:p>
            <a:pPr marL="0" indent="0" algn="l">
              <a:lnSpc>
                <a:spcPts val="15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Provides real-time scam detection using the "Score Text" function</a:t>
            </a:r>
            <a:endParaRPr lang="en-US" sz="1000" dirty="0">
              <a:latin typeface="Times New Roman" panose="02020603050405020304" pitchFamily="18" charset="0"/>
              <a:cs typeface="Times New Roman" panose="02020603050405020304" pitchFamily="18" charset="0"/>
            </a:endParaRPr>
          </a:p>
        </p:txBody>
      </p:sp>
      <p:sp>
        <p:nvSpPr>
          <p:cNvPr id="10" name="Shape 8"/>
          <p:cNvSpPr/>
          <p:nvPr/>
        </p:nvSpPr>
        <p:spPr>
          <a:xfrm>
            <a:off x="2509539" y="2241534"/>
            <a:ext cx="1898452" cy="862682"/>
          </a:xfrm>
          <a:prstGeom prst="roundRect">
            <a:avLst>
              <a:gd name="adj" fmla="val 6356"/>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1" name="Text 9"/>
          <p:cNvSpPr/>
          <p:nvPr/>
        </p:nvSpPr>
        <p:spPr>
          <a:xfrm>
            <a:off x="2654349" y="2386344"/>
            <a:ext cx="1608832" cy="382042"/>
          </a:xfrm>
          <a:prstGeom prst="rect">
            <a:avLst/>
          </a:prstGeom>
          <a:noFill/>
          <a:ln/>
        </p:spPr>
        <p:txBody>
          <a:bodyPr wrap="square" lIns="0" tIns="0" rIns="0" bIns="0" rtlCol="0" anchor="t"/>
          <a:lstStyle/>
          <a:p>
            <a:pPr marL="0" indent="0" algn="l">
              <a:lnSpc>
                <a:spcPts val="15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Displays clear risk levels such as "Low Risk"</a:t>
            </a:r>
            <a:endParaRPr lang="en-US" sz="1000" dirty="0">
              <a:latin typeface="Times New Roman" panose="02020603050405020304" pitchFamily="18" charset="0"/>
              <a:cs typeface="Times New Roman" panose="02020603050405020304" pitchFamily="18" charset="0"/>
            </a:endParaRPr>
          </a:p>
        </p:txBody>
      </p:sp>
      <p:sp>
        <p:nvSpPr>
          <p:cNvPr id="12" name="Shape 10"/>
          <p:cNvSpPr/>
          <p:nvPr/>
        </p:nvSpPr>
        <p:spPr>
          <a:xfrm>
            <a:off x="502890" y="3212489"/>
            <a:ext cx="1898377" cy="671661"/>
          </a:xfrm>
          <a:prstGeom prst="roundRect">
            <a:avLst>
              <a:gd name="adj" fmla="val 8164"/>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3" name="Text 11"/>
          <p:cNvSpPr/>
          <p:nvPr/>
        </p:nvSpPr>
        <p:spPr>
          <a:xfrm>
            <a:off x="647700" y="3357298"/>
            <a:ext cx="1608758" cy="382042"/>
          </a:xfrm>
          <a:prstGeom prst="rect">
            <a:avLst/>
          </a:prstGeom>
          <a:noFill/>
          <a:ln/>
        </p:spPr>
        <p:txBody>
          <a:bodyPr wrap="square" lIns="0" tIns="0" rIns="0" bIns="0" rtlCol="0" anchor="t"/>
          <a:lstStyle/>
          <a:p>
            <a:pPr marL="0" indent="0" algn="l">
              <a:lnSpc>
                <a:spcPts val="15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Generates scam probability scores for easy understanding</a:t>
            </a:r>
            <a:endParaRPr lang="en-US" sz="1000" dirty="0">
              <a:latin typeface="Times New Roman" panose="02020603050405020304" pitchFamily="18" charset="0"/>
              <a:cs typeface="Times New Roman" panose="02020603050405020304" pitchFamily="18" charset="0"/>
            </a:endParaRPr>
          </a:p>
        </p:txBody>
      </p:sp>
      <p:sp>
        <p:nvSpPr>
          <p:cNvPr id="14" name="Shape 12"/>
          <p:cNvSpPr/>
          <p:nvPr/>
        </p:nvSpPr>
        <p:spPr>
          <a:xfrm>
            <a:off x="2509539" y="3212489"/>
            <a:ext cx="1898452" cy="671661"/>
          </a:xfrm>
          <a:prstGeom prst="roundRect">
            <a:avLst>
              <a:gd name="adj" fmla="val 8164"/>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5" name="Text 13"/>
          <p:cNvSpPr/>
          <p:nvPr/>
        </p:nvSpPr>
        <p:spPr>
          <a:xfrm>
            <a:off x="2654349" y="3357298"/>
            <a:ext cx="1608832" cy="382042"/>
          </a:xfrm>
          <a:prstGeom prst="rect">
            <a:avLst/>
          </a:prstGeom>
          <a:noFill/>
          <a:ln/>
        </p:spPr>
        <p:txBody>
          <a:bodyPr wrap="square" lIns="0" tIns="0" rIns="0" bIns="0" rtlCol="0" anchor="t"/>
          <a:lstStyle/>
          <a:p>
            <a:pPr marL="0" indent="0" algn="l">
              <a:lnSpc>
                <a:spcPts val="15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Uses lightweight AI models for fast processing</a:t>
            </a:r>
            <a:endParaRPr lang="en-US" sz="1000" dirty="0">
              <a:latin typeface="Times New Roman" panose="02020603050405020304" pitchFamily="18" charset="0"/>
              <a:cs typeface="Times New Roman" panose="02020603050405020304" pitchFamily="18" charset="0"/>
            </a:endParaRPr>
          </a:p>
        </p:txBody>
      </p:sp>
      <p:sp>
        <p:nvSpPr>
          <p:cNvPr id="16" name="Shape 14"/>
          <p:cNvSpPr/>
          <p:nvPr/>
        </p:nvSpPr>
        <p:spPr>
          <a:xfrm>
            <a:off x="502890" y="3992422"/>
            <a:ext cx="3905101" cy="480640"/>
          </a:xfrm>
          <a:prstGeom prst="roundRect">
            <a:avLst>
              <a:gd name="adj" fmla="val 11408"/>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7" name="Text 15"/>
          <p:cNvSpPr/>
          <p:nvPr/>
        </p:nvSpPr>
        <p:spPr>
          <a:xfrm>
            <a:off x="647700" y="4137232"/>
            <a:ext cx="3615482" cy="191021"/>
          </a:xfrm>
          <a:prstGeom prst="rect">
            <a:avLst/>
          </a:prstGeom>
          <a:noFill/>
          <a:ln/>
        </p:spPr>
        <p:txBody>
          <a:bodyPr wrap="none" lIns="0" tIns="0" rIns="0" bIns="0" rtlCol="0" anchor="t"/>
          <a:lstStyle/>
          <a:p>
            <a:pPr marL="0" indent="0" algn="l">
              <a:lnSpc>
                <a:spcPts val="15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Provides a simple and user-friendly interface</a:t>
            </a:r>
            <a:endParaRPr lang="en-US" sz="1000" dirty="0">
              <a:latin typeface="Times New Roman" panose="02020603050405020304" pitchFamily="18" charset="0"/>
              <a:cs typeface="Times New Roman" panose="02020603050405020304" pitchFamily="18" charset="0"/>
            </a:endParaRPr>
          </a:p>
        </p:txBody>
      </p:sp>
      <p:sp>
        <p:nvSpPr>
          <p:cNvPr id="18" name="Text 16"/>
          <p:cNvSpPr/>
          <p:nvPr/>
        </p:nvSpPr>
        <p:spPr>
          <a:xfrm>
            <a:off x="4736009" y="1029604"/>
            <a:ext cx="2037978" cy="181273"/>
          </a:xfrm>
          <a:prstGeom prst="rect">
            <a:avLst/>
          </a:prstGeom>
          <a:noFill/>
          <a:ln/>
        </p:spPr>
        <p:txBody>
          <a:bodyPr wrap="none" lIns="0" tIns="0" rIns="0" bIns="0" rtlCol="0" anchor="t"/>
          <a:lstStyle/>
          <a:p>
            <a:pPr marL="0" indent="0" algn="l">
              <a:lnSpc>
                <a:spcPts val="1400"/>
              </a:lnSpc>
              <a:buNone/>
            </a:pPr>
            <a:r>
              <a:rPr lang="en-US" sz="140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User Feedback on Prototype</a:t>
            </a:r>
            <a:endParaRPr lang="en-US"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9" name="Shape 17"/>
          <p:cNvSpPr/>
          <p:nvPr/>
        </p:nvSpPr>
        <p:spPr>
          <a:xfrm>
            <a:off x="4736009" y="1473324"/>
            <a:ext cx="1898377" cy="1152227"/>
          </a:xfrm>
          <a:prstGeom prst="roundRect">
            <a:avLst>
              <a:gd name="adj" fmla="val 5952"/>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0" name="Shape 18"/>
          <p:cNvSpPr/>
          <p:nvPr/>
        </p:nvSpPr>
        <p:spPr>
          <a:xfrm>
            <a:off x="4721721" y="1473324"/>
            <a:ext cx="57150" cy="1152227"/>
          </a:xfrm>
          <a:prstGeom prst="roundRect">
            <a:avLst>
              <a:gd name="adj" fmla="val 95946"/>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1" name="Text 19"/>
          <p:cNvSpPr/>
          <p:nvPr/>
        </p:nvSpPr>
        <p:spPr>
          <a:xfrm>
            <a:off x="4923681" y="1618134"/>
            <a:ext cx="1450553" cy="181273"/>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Times New Roman" panose="02020603050405020304" pitchFamily="18" charset="0"/>
                <a:ea typeface="Prompt Medium" pitchFamily="34" charset="-122"/>
                <a:cs typeface="Times New Roman" panose="02020603050405020304" pitchFamily="18" charset="0"/>
              </a:rPr>
              <a:t>Positive</a:t>
            </a:r>
            <a:endParaRPr lang="en-US" sz="1100" dirty="0">
              <a:latin typeface="Times New Roman" panose="02020603050405020304" pitchFamily="18" charset="0"/>
              <a:cs typeface="Times New Roman" panose="02020603050405020304" pitchFamily="18" charset="0"/>
            </a:endParaRPr>
          </a:p>
        </p:txBody>
      </p:sp>
      <p:sp>
        <p:nvSpPr>
          <p:cNvPr id="22" name="Text 20"/>
          <p:cNvSpPr/>
          <p:nvPr/>
        </p:nvSpPr>
        <p:spPr>
          <a:xfrm>
            <a:off x="4923681" y="1907679"/>
            <a:ext cx="1565895" cy="573063"/>
          </a:xfrm>
          <a:prstGeom prst="rect">
            <a:avLst/>
          </a:prstGeom>
          <a:noFill/>
          <a:ln/>
        </p:spPr>
        <p:txBody>
          <a:bodyPr wrap="square" lIns="0" tIns="0" rIns="0" bIns="0" rtlCol="0" anchor="t"/>
          <a:lstStyle/>
          <a:p>
            <a:pPr marL="0" indent="0" algn="l">
              <a:lnSpc>
                <a:spcPts val="15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Easy to use, simple, and suitable for non-technical users.</a:t>
            </a:r>
            <a:endParaRPr lang="en-US" sz="1000" dirty="0">
              <a:latin typeface="Times New Roman" panose="02020603050405020304" pitchFamily="18" charset="0"/>
              <a:cs typeface="Times New Roman" panose="02020603050405020304" pitchFamily="18" charset="0"/>
            </a:endParaRPr>
          </a:p>
        </p:txBody>
      </p:sp>
      <p:sp>
        <p:nvSpPr>
          <p:cNvPr id="23" name="Shape 21"/>
          <p:cNvSpPr/>
          <p:nvPr/>
        </p:nvSpPr>
        <p:spPr>
          <a:xfrm>
            <a:off x="6742658" y="1473324"/>
            <a:ext cx="1898452" cy="1152227"/>
          </a:xfrm>
          <a:prstGeom prst="roundRect">
            <a:avLst>
              <a:gd name="adj" fmla="val 5952"/>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4" name="Shape 22"/>
          <p:cNvSpPr/>
          <p:nvPr/>
        </p:nvSpPr>
        <p:spPr>
          <a:xfrm>
            <a:off x="6728371" y="1473324"/>
            <a:ext cx="57150" cy="1152227"/>
          </a:xfrm>
          <a:prstGeom prst="roundRect">
            <a:avLst>
              <a:gd name="adj" fmla="val 95946"/>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5" name="Text 23"/>
          <p:cNvSpPr/>
          <p:nvPr/>
        </p:nvSpPr>
        <p:spPr>
          <a:xfrm>
            <a:off x="6930330" y="1618134"/>
            <a:ext cx="1450553" cy="181273"/>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Times New Roman" panose="02020603050405020304" pitchFamily="18" charset="0"/>
                <a:ea typeface="Prompt Medium" pitchFamily="34" charset="-122"/>
                <a:cs typeface="Times New Roman" panose="02020603050405020304" pitchFamily="18" charset="0"/>
              </a:rPr>
              <a:t>Appreciated</a:t>
            </a:r>
            <a:endParaRPr lang="en-US" sz="1100" dirty="0">
              <a:latin typeface="Times New Roman" panose="02020603050405020304" pitchFamily="18" charset="0"/>
              <a:cs typeface="Times New Roman" panose="02020603050405020304" pitchFamily="18" charset="0"/>
            </a:endParaRPr>
          </a:p>
        </p:txBody>
      </p:sp>
      <p:sp>
        <p:nvSpPr>
          <p:cNvPr id="26" name="Text 24"/>
          <p:cNvSpPr/>
          <p:nvPr/>
        </p:nvSpPr>
        <p:spPr>
          <a:xfrm>
            <a:off x="6930330" y="1907679"/>
            <a:ext cx="1565970" cy="573063"/>
          </a:xfrm>
          <a:prstGeom prst="rect">
            <a:avLst/>
          </a:prstGeom>
          <a:noFill/>
          <a:ln/>
        </p:spPr>
        <p:txBody>
          <a:bodyPr wrap="square" lIns="0" tIns="0" rIns="0" bIns="0" rtlCol="0" anchor="t"/>
          <a:lstStyle/>
          <a:p>
            <a:pPr marL="0" indent="0" algn="l">
              <a:lnSpc>
                <a:spcPts val="15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Real-time detection, clear risk scoring &amp; warning messages.</a:t>
            </a:r>
            <a:endParaRPr lang="en-US" sz="1000" dirty="0">
              <a:latin typeface="Times New Roman" panose="02020603050405020304" pitchFamily="18" charset="0"/>
              <a:cs typeface="Times New Roman" panose="02020603050405020304" pitchFamily="18" charset="0"/>
            </a:endParaRPr>
          </a:p>
        </p:txBody>
      </p:sp>
      <p:sp>
        <p:nvSpPr>
          <p:cNvPr id="27" name="Shape 25"/>
          <p:cNvSpPr/>
          <p:nvPr/>
        </p:nvSpPr>
        <p:spPr>
          <a:xfrm>
            <a:off x="4736009" y="2733824"/>
            <a:ext cx="1898377" cy="1152227"/>
          </a:xfrm>
          <a:prstGeom prst="roundRect">
            <a:avLst>
              <a:gd name="adj" fmla="val 5952"/>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8" name="Shape 26"/>
          <p:cNvSpPr/>
          <p:nvPr/>
        </p:nvSpPr>
        <p:spPr>
          <a:xfrm>
            <a:off x="4721721" y="2733824"/>
            <a:ext cx="57150" cy="1152227"/>
          </a:xfrm>
          <a:prstGeom prst="roundRect">
            <a:avLst>
              <a:gd name="adj" fmla="val 95946"/>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9" name="Text 27"/>
          <p:cNvSpPr/>
          <p:nvPr/>
        </p:nvSpPr>
        <p:spPr>
          <a:xfrm>
            <a:off x="4923681" y="2878634"/>
            <a:ext cx="1450553" cy="181273"/>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Times New Roman" panose="02020603050405020304" pitchFamily="18" charset="0"/>
                <a:ea typeface="Prompt Medium" pitchFamily="34" charset="-122"/>
                <a:cs typeface="Times New Roman" panose="02020603050405020304" pitchFamily="18" charset="0"/>
              </a:rPr>
              <a:t>Highlighted</a:t>
            </a:r>
            <a:endParaRPr lang="en-US" sz="1100" dirty="0">
              <a:latin typeface="Times New Roman" panose="02020603050405020304" pitchFamily="18" charset="0"/>
              <a:cs typeface="Times New Roman" panose="02020603050405020304" pitchFamily="18" charset="0"/>
            </a:endParaRPr>
          </a:p>
        </p:txBody>
      </p:sp>
      <p:sp>
        <p:nvSpPr>
          <p:cNvPr id="30" name="Text 28"/>
          <p:cNvSpPr/>
          <p:nvPr/>
        </p:nvSpPr>
        <p:spPr>
          <a:xfrm>
            <a:off x="4923681" y="3168179"/>
            <a:ext cx="1565895" cy="573063"/>
          </a:xfrm>
          <a:prstGeom prst="rect">
            <a:avLst/>
          </a:prstGeom>
          <a:noFill/>
          <a:ln/>
        </p:spPr>
        <p:txBody>
          <a:bodyPr wrap="square" lIns="0" tIns="0" rIns="0" bIns="0" rtlCol="0" anchor="t"/>
          <a:lstStyle/>
          <a:p>
            <a:pPr marL="0" indent="0" algn="l">
              <a:lnSpc>
                <a:spcPts val="15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Detection of emotional manipulation and urgency was found very useful.</a:t>
            </a:r>
            <a:endParaRPr lang="en-US" sz="1000" dirty="0">
              <a:latin typeface="Times New Roman" panose="02020603050405020304" pitchFamily="18" charset="0"/>
              <a:cs typeface="Times New Roman" panose="02020603050405020304" pitchFamily="18" charset="0"/>
            </a:endParaRPr>
          </a:p>
        </p:txBody>
      </p:sp>
      <p:sp>
        <p:nvSpPr>
          <p:cNvPr id="31" name="Shape 29"/>
          <p:cNvSpPr/>
          <p:nvPr/>
        </p:nvSpPr>
        <p:spPr>
          <a:xfrm>
            <a:off x="6742658" y="2733824"/>
            <a:ext cx="1898452" cy="1152227"/>
          </a:xfrm>
          <a:prstGeom prst="roundRect">
            <a:avLst>
              <a:gd name="adj" fmla="val 5952"/>
            </a:avLst>
          </a:prstGeom>
          <a:solidFill>
            <a:srgbClr val="0B0C23">
              <a:alpha val="95000"/>
            </a:srgbClr>
          </a:solidFill>
          <a:ln w="14288">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32" name="Shape 30"/>
          <p:cNvSpPr/>
          <p:nvPr/>
        </p:nvSpPr>
        <p:spPr>
          <a:xfrm>
            <a:off x="6728371" y="2733824"/>
            <a:ext cx="57150" cy="1152227"/>
          </a:xfrm>
          <a:prstGeom prst="roundRect">
            <a:avLst>
              <a:gd name="adj" fmla="val 95946"/>
            </a:avLst>
          </a:prstGeom>
          <a:solidFill>
            <a:srgbClr val="A95B95"/>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3" name="Text 31"/>
          <p:cNvSpPr/>
          <p:nvPr/>
        </p:nvSpPr>
        <p:spPr>
          <a:xfrm>
            <a:off x="6930330" y="2878634"/>
            <a:ext cx="1450553" cy="181273"/>
          </a:xfrm>
          <a:prstGeom prst="rect">
            <a:avLst/>
          </a:prstGeom>
          <a:noFill/>
          <a:ln/>
        </p:spPr>
        <p:txBody>
          <a:bodyPr wrap="none" lIns="0" tIns="0" rIns="0" bIns="0" rtlCol="0" anchor="t"/>
          <a:lstStyle/>
          <a:p>
            <a:pPr marL="0" indent="0" algn="l">
              <a:lnSpc>
                <a:spcPts val="1400"/>
              </a:lnSpc>
              <a:buNone/>
            </a:pPr>
            <a:r>
              <a:rPr lang="en-US" sz="1100" dirty="0">
                <a:solidFill>
                  <a:srgbClr val="DAD8E9"/>
                </a:solidFill>
                <a:latin typeface="Times New Roman" panose="02020603050405020304" pitchFamily="18" charset="0"/>
                <a:ea typeface="Prompt Medium" pitchFamily="34" charset="-122"/>
                <a:cs typeface="Times New Roman" panose="02020603050405020304" pitchFamily="18" charset="0"/>
              </a:rPr>
              <a:t>Overall</a:t>
            </a:r>
            <a:endParaRPr lang="en-US" sz="1100" dirty="0">
              <a:latin typeface="Times New Roman" panose="02020603050405020304" pitchFamily="18" charset="0"/>
              <a:cs typeface="Times New Roman" panose="02020603050405020304" pitchFamily="18" charset="0"/>
            </a:endParaRPr>
          </a:p>
        </p:txBody>
      </p:sp>
      <p:sp>
        <p:nvSpPr>
          <p:cNvPr id="34" name="Text 32"/>
          <p:cNvSpPr/>
          <p:nvPr/>
        </p:nvSpPr>
        <p:spPr>
          <a:xfrm>
            <a:off x="6930330" y="3168179"/>
            <a:ext cx="1565970" cy="573063"/>
          </a:xfrm>
          <a:prstGeom prst="rect">
            <a:avLst/>
          </a:prstGeom>
          <a:noFill/>
          <a:ln/>
        </p:spPr>
        <p:txBody>
          <a:bodyPr wrap="square" lIns="0" tIns="0" rIns="0" bIns="0" rtlCol="0" anchor="t"/>
          <a:lstStyle/>
          <a:p>
            <a:pPr marL="0" indent="0" algn="l">
              <a:lnSpc>
                <a:spcPts val="1500"/>
              </a:lnSpc>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Improved user awareness and confidence in identifying AI-driven scam messages.</a:t>
            </a:r>
            <a:endParaRPr lang="en-US" sz="1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98BAE720-25DC-84CE-5749-2B4604047187}"/>
              </a:ext>
            </a:extLst>
          </p:cNvPr>
          <p:cNvSpPr txBox="1"/>
          <p:nvPr/>
        </p:nvSpPr>
        <p:spPr>
          <a:xfrm>
            <a:off x="7824651" y="4754880"/>
            <a:ext cx="1260566" cy="369332"/>
          </a:xfrm>
          <a:prstGeom prst="rect">
            <a:avLst/>
          </a:prstGeom>
          <a:solidFill>
            <a:srgbClr val="0A0B21"/>
          </a:solidFill>
        </p:spPr>
        <p:txBody>
          <a:bodyPr wrap="square" rtlCol="0">
            <a:spAutoFit/>
          </a:bodyPr>
          <a:lstStyle/>
          <a:p>
            <a:endParaRPr lang="en-US" dirty="0"/>
          </a:p>
        </p:txBody>
      </p:sp>
      <p:sp>
        <p:nvSpPr>
          <p:cNvPr id="36" name="TextBox 35">
            <a:extLst>
              <a:ext uri="{FF2B5EF4-FFF2-40B4-BE49-F238E27FC236}">
                <a16:creationId xmlns:a16="http://schemas.microsoft.com/office/drawing/2014/main" id="{936557E5-18C1-E956-D101-79E0C87DD0CE}"/>
              </a:ext>
            </a:extLst>
          </p:cNvPr>
          <p:cNvSpPr txBox="1"/>
          <p:nvPr/>
        </p:nvSpPr>
        <p:spPr>
          <a:xfrm>
            <a:off x="449591" y="4683939"/>
            <a:ext cx="8531124" cy="336118"/>
          </a:xfrm>
          <a:prstGeom prst="rect">
            <a:avLst/>
          </a:prstGeom>
          <a:noFill/>
        </p:spPr>
        <p:txBody>
          <a:bodyPr wrap="square">
            <a:spAutoFit/>
          </a:bodyPr>
          <a:lstStyle/>
          <a:p>
            <a:pPr algn="just">
              <a:lnSpc>
                <a:spcPct val="150000"/>
              </a:lnSpc>
            </a:pPr>
            <a:r>
              <a:rPr lang="en-US" sz="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Aberathna H.M.M.K  |  IT22277268  |  </a:t>
            </a:r>
            <a:r>
              <a:rPr lang="en-US" sz="1200" kern="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R26-CS-011</a:t>
            </a:r>
            <a:endParaRPr lang="en-US" sz="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5" name="Text 2"/>
          <p:cNvSpPr/>
          <p:nvPr/>
        </p:nvSpPr>
        <p:spPr>
          <a:xfrm>
            <a:off x="1171380" y="1290723"/>
            <a:ext cx="6988629" cy="1748135"/>
          </a:xfrm>
          <a:prstGeom prst="rect">
            <a:avLst/>
          </a:prstGeom>
          <a:noFill/>
          <a:ln/>
        </p:spPr>
        <p:txBody>
          <a:bodyPr wrap="square" lIns="0" tIns="0" rIns="0" bIns="0" rtlCol="0" anchor="t"/>
          <a:lstStyle/>
          <a:p>
            <a:pPr marL="0" indent="0" algn="ctr">
              <a:lnSpc>
                <a:spcPct val="150000"/>
              </a:lnSpc>
              <a:buNone/>
            </a:pPr>
            <a:r>
              <a:rPr lang="en-US" sz="320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Human-Centered Awareness &amp; Defense System for AI-Driven Scams</a:t>
            </a:r>
            <a:endPar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 3"/>
          <p:cNvSpPr/>
          <p:nvPr/>
        </p:nvSpPr>
        <p:spPr>
          <a:xfrm>
            <a:off x="1750423" y="3051196"/>
            <a:ext cx="5895855" cy="503634"/>
          </a:xfrm>
          <a:prstGeom prst="rect">
            <a:avLst/>
          </a:prstGeom>
          <a:noFill/>
          <a:ln/>
        </p:spPr>
        <p:txBody>
          <a:bodyPr wrap="square" lIns="0" tIns="0" rIns="0" bIns="0" rtlCol="0" anchor="t"/>
          <a:lstStyle/>
          <a:p>
            <a:pPr algn="ctr">
              <a:lnSpc>
                <a:spcPts val="1950"/>
              </a:lnSpc>
            </a:pP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Name:</a:t>
            </a: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 Vidara S V  |  </a:t>
            </a: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Student ID:</a:t>
            </a: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 IT22299048</a:t>
            </a: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 </a:t>
            </a: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   </a:t>
            </a: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Specialization:</a:t>
            </a: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 Cybersecurity  </a:t>
            </a:r>
            <a:endParaRPr lang="en-US" sz="1200" dirty="0">
              <a:latin typeface="Times New Roman" panose="02020603050405020304" pitchFamily="18" charset="0"/>
              <a:cs typeface="Times New Roman" panose="02020603050405020304" pitchFamily="18" charset="0"/>
            </a:endParaRPr>
          </a:p>
        </p:txBody>
      </p:sp>
      <p:sp>
        <p:nvSpPr>
          <p:cNvPr id="7" name="Text 4"/>
          <p:cNvSpPr/>
          <p:nvPr/>
        </p:nvSpPr>
        <p:spPr>
          <a:xfrm>
            <a:off x="2660315" y="3538866"/>
            <a:ext cx="4613672" cy="251817"/>
          </a:xfrm>
          <a:prstGeom prst="rect">
            <a:avLst/>
          </a:prstGeom>
          <a:noFill/>
          <a:ln/>
        </p:spPr>
        <p:txBody>
          <a:bodyPr wrap="none" lIns="0" tIns="0" rIns="0" bIns="0" rtlCol="0" anchor="t"/>
          <a:lstStyle/>
          <a:p>
            <a:pPr marL="0" indent="0" algn="l">
              <a:lnSpc>
                <a:spcPts val="1950"/>
              </a:lnSpc>
              <a:buNone/>
            </a:pP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Project ID:</a:t>
            </a: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 R26-CS-011  |  SLIIT — Faculty of Computing</a:t>
            </a:r>
            <a:endParaRPr lang="en-US" sz="1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2C482A8F-21E1-3DF8-1406-E81185EE3967}"/>
              </a:ext>
            </a:extLst>
          </p:cNvPr>
          <p:cNvSpPr txBox="1"/>
          <p:nvPr/>
        </p:nvSpPr>
        <p:spPr>
          <a:xfrm>
            <a:off x="7955279" y="4741511"/>
            <a:ext cx="1110343" cy="369332"/>
          </a:xfrm>
          <a:prstGeom prst="rect">
            <a:avLst/>
          </a:prstGeom>
          <a:solidFill>
            <a:srgbClr val="0A0B21"/>
          </a:solidFill>
        </p:spPr>
        <p:txBody>
          <a:bodyPr wrap="square" rtlCol="0">
            <a:spAutoFit/>
          </a:bodyPr>
          <a:lstStyle/>
          <a:p>
            <a:endParaRPr lang="en-US" dirty="0"/>
          </a:p>
        </p:txBody>
      </p:sp>
      <p:pic>
        <p:nvPicPr>
          <p:cNvPr id="11" name="Picture 10">
            <a:extLst>
              <a:ext uri="{FF2B5EF4-FFF2-40B4-BE49-F238E27FC236}">
                <a16:creationId xmlns:a16="http://schemas.microsoft.com/office/drawing/2014/main" id="{279ECF65-2D92-B3ED-EA7F-121FA97E5154}"/>
              </a:ext>
            </a:extLst>
          </p:cNvPr>
          <p:cNvPicPr>
            <a:picLocks noChangeAspect="1"/>
          </p:cNvPicPr>
          <p:nvPr/>
        </p:nvPicPr>
        <p:blipFill>
          <a:blip r:embed="rId3"/>
          <a:srcRect t="28653" b="14310"/>
          <a:stretch>
            <a:fillRect/>
          </a:stretch>
        </p:blipFill>
        <p:spPr>
          <a:xfrm>
            <a:off x="7955279" y="261096"/>
            <a:ext cx="940271" cy="953427"/>
          </a:xfrm>
          <a:prstGeom prst="ellipse">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219597" y="149667"/>
            <a:ext cx="6330351" cy="830461"/>
          </a:xfrm>
          <a:prstGeom prst="rect">
            <a:avLst/>
          </a:prstGeom>
          <a:noFill/>
          <a:ln/>
        </p:spPr>
        <p:txBody>
          <a:bodyPr wrap="square" lIns="0" tIns="0" rIns="0" bIns="0" rtlCol="0" anchor="t"/>
          <a:lstStyle/>
          <a:p>
            <a:pPr marL="0" indent="0">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3 Critical Gaps in Existing Defenses and How </a:t>
            </a:r>
          </a:p>
          <a:p>
            <a:pPr marL="0" indent="0">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We Address Each Gap</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hape 1"/>
          <p:cNvSpPr/>
          <p:nvPr/>
        </p:nvSpPr>
        <p:spPr>
          <a:xfrm>
            <a:off x="160999" y="1049148"/>
            <a:ext cx="6391756" cy="3135677"/>
          </a:xfrm>
          <a:prstGeom prst="roundRect">
            <a:avLst>
              <a:gd name="adj" fmla="val 2051"/>
            </a:avLst>
          </a:prstGeom>
          <a:noFill/>
          <a:ln w="4763">
            <a:solidFill>
              <a:srgbClr val="FFFFFF">
                <a:alpha val="24000"/>
              </a:srgbClr>
            </a:solidFill>
            <a:prstDash val="solid"/>
          </a:ln>
        </p:spPr>
        <p:txBody>
          <a:bodyPr/>
          <a:lstStyle/>
          <a:p>
            <a:pPr algn="just"/>
            <a:endParaRPr lang="en-US" sz="800">
              <a:latin typeface="Times New Roman" panose="02020603050405020304" pitchFamily="18" charset="0"/>
              <a:cs typeface="Times New Roman" panose="02020603050405020304" pitchFamily="18" charset="0"/>
            </a:endParaRPr>
          </a:p>
        </p:txBody>
      </p:sp>
      <p:sp>
        <p:nvSpPr>
          <p:cNvPr id="4" name="Shape 2"/>
          <p:cNvSpPr/>
          <p:nvPr/>
        </p:nvSpPr>
        <p:spPr>
          <a:xfrm>
            <a:off x="165762" y="1053910"/>
            <a:ext cx="6384186" cy="423171"/>
          </a:xfrm>
          <a:prstGeom prst="rect">
            <a:avLst/>
          </a:prstGeom>
          <a:solidFill>
            <a:srgbClr val="FFFFFF">
              <a:alpha val="4000"/>
            </a:srgbClr>
          </a:solidFill>
          <a:ln/>
        </p:spPr>
        <p:txBody>
          <a:bodyPr/>
          <a:lstStyle/>
          <a:p>
            <a:pPr algn="just"/>
            <a:endParaRPr lang="en-US" sz="800">
              <a:latin typeface="Times New Roman" panose="02020603050405020304" pitchFamily="18" charset="0"/>
              <a:cs typeface="Times New Roman" panose="02020603050405020304" pitchFamily="18" charset="0"/>
            </a:endParaRPr>
          </a:p>
        </p:txBody>
      </p:sp>
      <p:sp>
        <p:nvSpPr>
          <p:cNvPr id="5" name="Text 3"/>
          <p:cNvSpPr/>
          <p:nvPr/>
        </p:nvSpPr>
        <p:spPr>
          <a:xfrm>
            <a:off x="315260" y="1143876"/>
            <a:ext cx="2706856" cy="238873"/>
          </a:xfrm>
          <a:prstGeom prst="rect">
            <a:avLst/>
          </a:prstGeom>
          <a:noFill/>
          <a:ln/>
        </p:spPr>
        <p:txBody>
          <a:bodyPr wrap="none" lIns="0" tIns="0" rIns="0" bIns="0" rtlCol="0" anchor="t"/>
          <a:lstStyle/>
          <a:p>
            <a:pPr marL="0" indent="0" algn="just">
              <a:buNone/>
            </a:pPr>
            <a:r>
              <a:rPr lang="en-US" sz="800" b="1" dirty="0">
                <a:solidFill>
                  <a:srgbClr val="DAD8E9"/>
                </a:solidFill>
                <a:latin typeface="Times New Roman" panose="02020603050405020304" pitchFamily="18" charset="0"/>
                <a:ea typeface="Mukta Light" pitchFamily="34" charset="-122"/>
                <a:cs typeface="Times New Roman" panose="02020603050405020304" pitchFamily="18" charset="0"/>
              </a:rPr>
              <a:t>Gaps Identified</a:t>
            </a:r>
            <a:endParaRPr lang="en-US" sz="800" dirty="0">
              <a:latin typeface="Times New Roman" panose="02020603050405020304" pitchFamily="18" charset="0"/>
              <a:cs typeface="Times New Roman" panose="02020603050405020304" pitchFamily="18" charset="0"/>
            </a:endParaRPr>
          </a:p>
        </p:txBody>
      </p:sp>
      <p:sp>
        <p:nvSpPr>
          <p:cNvPr id="6" name="Text 4"/>
          <p:cNvSpPr/>
          <p:nvPr/>
        </p:nvSpPr>
        <p:spPr>
          <a:xfrm>
            <a:off x="3228011" y="1169950"/>
            <a:ext cx="3198480" cy="238873"/>
          </a:xfrm>
          <a:prstGeom prst="rect">
            <a:avLst/>
          </a:prstGeom>
          <a:noFill/>
          <a:ln/>
        </p:spPr>
        <p:txBody>
          <a:bodyPr wrap="none" lIns="0" tIns="0" rIns="0" bIns="0" rtlCol="0" anchor="t"/>
          <a:lstStyle/>
          <a:p>
            <a:pPr marL="0" indent="0" algn="just">
              <a:buNone/>
            </a:pPr>
            <a:r>
              <a:rPr lang="en-US" sz="800" b="1" dirty="0">
                <a:solidFill>
                  <a:srgbClr val="DAD8E9"/>
                </a:solidFill>
                <a:latin typeface="Times New Roman" panose="02020603050405020304" pitchFamily="18" charset="0"/>
                <a:ea typeface="Mukta Light" pitchFamily="34" charset="-122"/>
                <a:cs typeface="Times New Roman" panose="02020603050405020304" pitchFamily="18" charset="0"/>
              </a:rPr>
              <a:t> Solution Addresses</a:t>
            </a:r>
            <a:endParaRPr lang="en-US" sz="800" dirty="0">
              <a:latin typeface="Times New Roman" panose="02020603050405020304" pitchFamily="18" charset="0"/>
              <a:cs typeface="Times New Roman" panose="02020603050405020304" pitchFamily="18" charset="0"/>
            </a:endParaRPr>
          </a:p>
        </p:txBody>
      </p:sp>
      <p:sp>
        <p:nvSpPr>
          <p:cNvPr id="7" name="Shape 5"/>
          <p:cNvSpPr/>
          <p:nvPr/>
        </p:nvSpPr>
        <p:spPr>
          <a:xfrm>
            <a:off x="165762" y="1467057"/>
            <a:ext cx="6384186" cy="900916"/>
          </a:xfrm>
          <a:prstGeom prst="rect">
            <a:avLst/>
          </a:prstGeom>
          <a:solidFill>
            <a:srgbClr val="000000">
              <a:alpha val="4000"/>
            </a:srgbClr>
          </a:solidFill>
          <a:ln/>
        </p:spPr>
        <p:txBody>
          <a:bodyPr/>
          <a:lstStyle/>
          <a:p>
            <a:pPr algn="just"/>
            <a:endParaRPr lang="en-US" sz="800">
              <a:latin typeface="Times New Roman" panose="02020603050405020304" pitchFamily="18" charset="0"/>
              <a:cs typeface="Times New Roman" panose="02020603050405020304" pitchFamily="18" charset="0"/>
            </a:endParaRPr>
          </a:p>
        </p:txBody>
      </p:sp>
      <p:sp>
        <p:nvSpPr>
          <p:cNvPr id="8" name="Text 6"/>
          <p:cNvSpPr/>
          <p:nvPr/>
        </p:nvSpPr>
        <p:spPr>
          <a:xfrm>
            <a:off x="315260" y="1557023"/>
            <a:ext cx="2706856" cy="716617"/>
          </a:xfrm>
          <a:prstGeom prst="rect">
            <a:avLst/>
          </a:prstGeom>
          <a:noFill/>
          <a:ln/>
        </p:spPr>
        <p:txBody>
          <a:bodyPr wrap="square" lIns="0" tIns="0" rIns="0" bIns="0" rtlCol="0" anchor="t"/>
          <a:lstStyle/>
          <a:p>
            <a:pPr algn="just"/>
            <a:r>
              <a:rPr lang="en-US" sz="800" b="1" dirty="0">
                <a:solidFill>
                  <a:srgbClr val="DAD8E9"/>
                </a:solidFill>
                <a:latin typeface="Times New Roman" panose="02020603050405020304" pitchFamily="18" charset="0"/>
                <a:ea typeface="Mukta Light" pitchFamily="34" charset="-122"/>
                <a:cs typeface="Times New Roman" panose="02020603050405020304" pitchFamily="18" charset="0"/>
              </a:rPr>
              <a:t>No Explainability -</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 Spam filters silently block or allow messages without telling the user WHY - users never develop security intuition and remain equally vulnerable to the next variant.</a:t>
            </a:r>
            <a:endParaRPr lang="en-US" sz="800" dirty="0">
              <a:latin typeface="Times New Roman" panose="02020603050405020304" pitchFamily="18" charset="0"/>
              <a:cs typeface="Times New Roman" panose="02020603050405020304" pitchFamily="18" charset="0"/>
            </a:endParaRPr>
          </a:p>
          <a:p>
            <a:pPr marL="0" indent="0" algn="just">
              <a:buNone/>
            </a:pPr>
            <a:endParaRPr lang="en-US" sz="800" dirty="0">
              <a:latin typeface="Times New Roman" panose="02020603050405020304" pitchFamily="18" charset="0"/>
              <a:cs typeface="Times New Roman" panose="02020603050405020304" pitchFamily="18" charset="0"/>
            </a:endParaRPr>
          </a:p>
        </p:txBody>
      </p:sp>
      <p:sp>
        <p:nvSpPr>
          <p:cNvPr id="9" name="Text 7"/>
          <p:cNvSpPr/>
          <p:nvPr/>
        </p:nvSpPr>
        <p:spPr>
          <a:xfrm>
            <a:off x="3228011" y="1587546"/>
            <a:ext cx="3198480" cy="477745"/>
          </a:xfrm>
          <a:prstGeom prst="rect">
            <a:avLst/>
          </a:prstGeom>
          <a:noFill/>
          <a:ln/>
        </p:spPr>
        <p:txBody>
          <a:bodyPr wrap="square" lIns="0" tIns="0" rIns="0" bIns="0" rtlCol="0" anchor="t"/>
          <a:lstStyle/>
          <a:p>
            <a:pPr algn="just"/>
            <a:r>
              <a:rPr lang="en-US" sz="800" b="1" dirty="0">
                <a:solidFill>
                  <a:srgbClr val="DAD8E9"/>
                </a:solidFill>
                <a:latin typeface="Times New Roman" panose="02020603050405020304" pitchFamily="18" charset="0"/>
                <a:ea typeface="Prompt Medium" pitchFamily="34" charset="-122"/>
                <a:cs typeface="Times New Roman" panose="02020603050405020304" pitchFamily="18" charset="0"/>
              </a:rPr>
              <a:t>Psychological Bias Explanation </a:t>
            </a:r>
            <a:r>
              <a:rPr lang="en-US" sz="800" dirty="0">
                <a:solidFill>
                  <a:srgbClr val="DAD8E9"/>
                </a:solidFill>
                <a:latin typeface="Times New Roman" panose="02020603050405020304" pitchFamily="18" charset="0"/>
                <a:ea typeface="Prompt Medium" pitchFamily="34" charset="-122"/>
                <a:cs typeface="Times New Roman" panose="02020603050405020304" pitchFamily="18" charset="0"/>
              </a:rPr>
              <a:t>- </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Every analysis names the exact cognitive bias being exploited (e.g. "This email creates Scarcity/Fear bias — artificial urgency to force fast decisions"). Users learn to recognize manipulation.</a:t>
            </a:r>
            <a:endParaRPr lang="en-US" sz="800" dirty="0">
              <a:latin typeface="Times New Roman" panose="02020603050405020304" pitchFamily="18" charset="0"/>
              <a:cs typeface="Times New Roman" panose="02020603050405020304" pitchFamily="18" charset="0"/>
            </a:endParaRPr>
          </a:p>
          <a:p>
            <a:pPr algn="just"/>
            <a:endParaRPr lang="en-US" sz="800" dirty="0">
              <a:latin typeface="Times New Roman" panose="02020603050405020304" pitchFamily="18" charset="0"/>
              <a:cs typeface="Times New Roman" panose="02020603050405020304" pitchFamily="18" charset="0"/>
            </a:endParaRPr>
          </a:p>
        </p:txBody>
      </p:sp>
      <p:sp>
        <p:nvSpPr>
          <p:cNvPr id="10" name="Shape 8"/>
          <p:cNvSpPr/>
          <p:nvPr/>
        </p:nvSpPr>
        <p:spPr>
          <a:xfrm>
            <a:off x="165762" y="2346631"/>
            <a:ext cx="6351344" cy="900916"/>
          </a:xfrm>
          <a:prstGeom prst="rect">
            <a:avLst/>
          </a:prstGeom>
          <a:solidFill>
            <a:srgbClr val="FFFFFF">
              <a:alpha val="4000"/>
            </a:srgbClr>
          </a:solidFill>
          <a:ln/>
        </p:spPr>
        <p:txBody>
          <a:bodyPr/>
          <a:lstStyle/>
          <a:p>
            <a:pPr algn="just"/>
            <a:endParaRPr lang="en-US" sz="800">
              <a:latin typeface="Times New Roman" panose="02020603050405020304" pitchFamily="18" charset="0"/>
              <a:cs typeface="Times New Roman" panose="02020603050405020304" pitchFamily="18" charset="0"/>
            </a:endParaRPr>
          </a:p>
        </p:txBody>
      </p:sp>
      <p:sp>
        <p:nvSpPr>
          <p:cNvPr id="11" name="Text 9"/>
          <p:cNvSpPr/>
          <p:nvPr/>
        </p:nvSpPr>
        <p:spPr>
          <a:xfrm>
            <a:off x="315260" y="2436597"/>
            <a:ext cx="2706856" cy="716617"/>
          </a:xfrm>
          <a:prstGeom prst="rect">
            <a:avLst/>
          </a:prstGeom>
          <a:noFill/>
          <a:ln/>
        </p:spPr>
        <p:txBody>
          <a:bodyPr wrap="square" lIns="0" tIns="0" rIns="0" bIns="0" rtlCol="0" anchor="t"/>
          <a:lstStyle/>
          <a:p>
            <a:pPr algn="just"/>
            <a:r>
              <a:rPr lang="en-US" sz="800" b="1" dirty="0">
                <a:solidFill>
                  <a:srgbClr val="DAD8E9"/>
                </a:solidFill>
                <a:latin typeface="Times New Roman" panose="02020603050405020304" pitchFamily="18" charset="0"/>
                <a:ea typeface="Prompt Medium" pitchFamily="34" charset="-122"/>
                <a:cs typeface="Times New Roman" panose="02020603050405020304" pitchFamily="18" charset="0"/>
              </a:rPr>
              <a:t>Generic, One-Size Warnings</a:t>
            </a:r>
            <a:r>
              <a:rPr lang="en-US" sz="800" b="1" dirty="0">
                <a:latin typeface="Times New Roman" panose="02020603050405020304" pitchFamily="18" charset="0"/>
                <a:cs typeface="Times New Roman" panose="02020603050405020304" pitchFamily="18" charset="0"/>
              </a:rPr>
              <a:t> </a:t>
            </a:r>
            <a:r>
              <a:rPr lang="en-US" sz="800" b="1" dirty="0">
                <a:solidFill>
                  <a:srgbClr val="DAD8E9"/>
                </a:solidFill>
                <a:latin typeface="Times New Roman" panose="02020603050405020304" pitchFamily="18" charset="0"/>
                <a:cs typeface="Times New Roman" panose="02020603050405020304" pitchFamily="18" charset="0"/>
              </a:rPr>
              <a:t>-</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 Every analysis names the exact cognitive bias being exploited (ex: This email creates Scarcity/Fear bias - artificial urgency to force fast decisions"). Users learn to recognize manipulation.</a:t>
            </a:r>
            <a:endParaRPr lang="en-US" sz="800" dirty="0">
              <a:latin typeface="Times New Roman" panose="02020603050405020304" pitchFamily="18" charset="0"/>
              <a:cs typeface="Times New Roman" panose="02020603050405020304" pitchFamily="18" charset="0"/>
            </a:endParaRPr>
          </a:p>
          <a:p>
            <a:pPr algn="just"/>
            <a:endParaRPr lang="en-US" sz="800" dirty="0">
              <a:latin typeface="Times New Roman" panose="02020603050405020304" pitchFamily="18" charset="0"/>
              <a:cs typeface="Times New Roman" panose="02020603050405020304" pitchFamily="18" charset="0"/>
            </a:endParaRPr>
          </a:p>
        </p:txBody>
      </p:sp>
      <p:sp>
        <p:nvSpPr>
          <p:cNvPr id="12" name="Text 10"/>
          <p:cNvSpPr/>
          <p:nvPr/>
        </p:nvSpPr>
        <p:spPr>
          <a:xfrm>
            <a:off x="3228011" y="2410524"/>
            <a:ext cx="3198480" cy="716617"/>
          </a:xfrm>
          <a:prstGeom prst="rect">
            <a:avLst/>
          </a:prstGeom>
          <a:noFill/>
          <a:ln/>
        </p:spPr>
        <p:txBody>
          <a:bodyPr wrap="square" lIns="0" tIns="0" rIns="0" bIns="0" rtlCol="0" anchor="t"/>
          <a:lstStyle/>
          <a:p>
            <a:pPr algn="just"/>
            <a:r>
              <a:rPr lang="en-US" sz="800" b="1" dirty="0">
                <a:solidFill>
                  <a:srgbClr val="DAD8E9"/>
                </a:solidFill>
                <a:latin typeface="Times New Roman" panose="02020603050405020304" pitchFamily="18" charset="0"/>
                <a:ea typeface="Prompt Medium" pitchFamily="34" charset="-122"/>
                <a:cs typeface="Times New Roman" panose="02020603050405020304" pitchFamily="18" charset="0"/>
              </a:rPr>
              <a:t>Behavioral Profiling &amp; Adaptive Warnings </a:t>
            </a:r>
            <a:r>
              <a:rPr lang="en-US" sz="800" dirty="0">
                <a:solidFill>
                  <a:schemeClr val="bg1"/>
                </a:solidFill>
                <a:latin typeface="Times New Roman" panose="02020603050405020304" pitchFamily="18" charset="0"/>
                <a:cs typeface="Times New Roman" panose="02020603050405020304" pitchFamily="18" charset="0"/>
              </a:rPr>
              <a:t>- </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ML model tracks each user's click history. 5-tier warning matrix (Risk × Vulnerability) produces differentiated alerts — a High/High user receives "SCAM BLOCKED" while a Low/Low user receives a gentle advisory.</a:t>
            </a:r>
            <a:endParaRPr lang="en-US" sz="800" dirty="0">
              <a:latin typeface="Times New Roman" panose="02020603050405020304" pitchFamily="18" charset="0"/>
              <a:cs typeface="Times New Roman" panose="02020603050405020304" pitchFamily="18" charset="0"/>
            </a:endParaRPr>
          </a:p>
          <a:p>
            <a:pPr algn="just"/>
            <a:endParaRPr lang="en-US" sz="800" dirty="0">
              <a:latin typeface="Times New Roman" panose="02020603050405020304" pitchFamily="18" charset="0"/>
              <a:cs typeface="Times New Roman" panose="02020603050405020304" pitchFamily="18" charset="0"/>
            </a:endParaRPr>
          </a:p>
        </p:txBody>
      </p:sp>
      <p:sp>
        <p:nvSpPr>
          <p:cNvPr id="13" name="Shape 11"/>
          <p:cNvSpPr/>
          <p:nvPr/>
        </p:nvSpPr>
        <p:spPr>
          <a:xfrm>
            <a:off x="165762" y="3226205"/>
            <a:ext cx="6384186" cy="900916"/>
          </a:xfrm>
          <a:prstGeom prst="rect">
            <a:avLst/>
          </a:prstGeom>
          <a:solidFill>
            <a:srgbClr val="000000">
              <a:alpha val="4000"/>
            </a:srgbClr>
          </a:solidFill>
          <a:ln/>
        </p:spPr>
        <p:txBody>
          <a:bodyPr/>
          <a:lstStyle/>
          <a:p>
            <a:pPr algn="just"/>
            <a:endParaRPr lang="en-US" sz="800">
              <a:latin typeface="Times New Roman" panose="02020603050405020304" pitchFamily="18" charset="0"/>
              <a:cs typeface="Times New Roman" panose="02020603050405020304" pitchFamily="18" charset="0"/>
            </a:endParaRPr>
          </a:p>
        </p:txBody>
      </p:sp>
      <p:sp>
        <p:nvSpPr>
          <p:cNvPr id="14" name="Text 12"/>
          <p:cNvSpPr/>
          <p:nvPr/>
        </p:nvSpPr>
        <p:spPr>
          <a:xfrm>
            <a:off x="315260" y="3316172"/>
            <a:ext cx="2706856" cy="716617"/>
          </a:xfrm>
          <a:prstGeom prst="rect">
            <a:avLst/>
          </a:prstGeom>
          <a:noFill/>
          <a:ln/>
        </p:spPr>
        <p:txBody>
          <a:bodyPr wrap="square" lIns="0" tIns="0" rIns="0" bIns="0" rtlCol="0" anchor="t"/>
          <a:lstStyle/>
          <a:p>
            <a:pPr algn="just"/>
            <a:r>
              <a:rPr lang="en-US" sz="800" b="1" dirty="0">
                <a:solidFill>
                  <a:srgbClr val="DAD8E9"/>
                </a:solidFill>
                <a:latin typeface="Times New Roman" panose="02020603050405020304" pitchFamily="18" charset="0"/>
                <a:ea typeface="Prompt Medium" pitchFamily="34" charset="-122"/>
                <a:cs typeface="Times New Roman" panose="02020603050405020304" pitchFamily="18" charset="0"/>
              </a:rPr>
              <a:t>Ignores Psychological Attack Vector </a:t>
            </a:r>
            <a:r>
              <a:rPr lang="en-US" sz="800" dirty="0">
                <a:solidFill>
                  <a:srgbClr val="DAD8E9"/>
                </a:solidFill>
                <a:latin typeface="Times New Roman" panose="02020603050405020304" pitchFamily="18" charset="0"/>
                <a:ea typeface="Prompt Medium" pitchFamily="34" charset="-122"/>
                <a:cs typeface="Times New Roman" panose="02020603050405020304" pitchFamily="18" charset="0"/>
              </a:rPr>
              <a:t>- </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Phishing exploits Scarcity, Authority, Fear &amp; Reciprocity cognitive biases. No existing system identifies and names these biases to educate users about manipulation tactics.</a:t>
            </a:r>
            <a:endParaRPr lang="en-US" sz="800" dirty="0">
              <a:latin typeface="Times New Roman" panose="02020603050405020304" pitchFamily="18" charset="0"/>
              <a:cs typeface="Times New Roman" panose="02020603050405020304" pitchFamily="18" charset="0"/>
            </a:endParaRPr>
          </a:p>
          <a:p>
            <a:pPr marL="0" indent="0" algn="just">
              <a:buNone/>
            </a:pPr>
            <a:endParaRPr lang="en-US" sz="800" dirty="0">
              <a:latin typeface="Times New Roman" panose="02020603050405020304" pitchFamily="18" charset="0"/>
              <a:cs typeface="Times New Roman" panose="02020603050405020304" pitchFamily="18" charset="0"/>
            </a:endParaRPr>
          </a:p>
        </p:txBody>
      </p:sp>
      <p:sp>
        <p:nvSpPr>
          <p:cNvPr id="15" name="Text 13"/>
          <p:cNvSpPr/>
          <p:nvPr/>
        </p:nvSpPr>
        <p:spPr>
          <a:xfrm>
            <a:off x="3228011" y="3325593"/>
            <a:ext cx="3198480" cy="716617"/>
          </a:xfrm>
          <a:prstGeom prst="rect">
            <a:avLst/>
          </a:prstGeom>
          <a:noFill/>
          <a:ln/>
        </p:spPr>
        <p:txBody>
          <a:bodyPr wrap="square" lIns="0" tIns="0" rIns="0" bIns="0" rtlCol="0" anchor="t"/>
          <a:lstStyle/>
          <a:p>
            <a:pPr algn="just"/>
            <a:r>
              <a:rPr lang="en-US" sz="800" b="1" dirty="0">
                <a:solidFill>
                  <a:srgbClr val="DAD8E9"/>
                </a:solidFill>
                <a:latin typeface="Times New Roman" panose="02020603050405020304" pitchFamily="18" charset="0"/>
                <a:ea typeface="Prompt Medium" pitchFamily="34" charset="-122"/>
                <a:cs typeface="Times New Roman" panose="02020603050405020304" pitchFamily="18" charset="0"/>
              </a:rPr>
              <a:t>Cialdini + Kahneman Framework</a:t>
            </a:r>
            <a:r>
              <a:rPr lang="en-US" sz="800" b="1" dirty="0">
                <a:latin typeface="Times New Roman" panose="02020603050405020304" pitchFamily="18" charset="0"/>
                <a:cs typeface="Times New Roman" panose="02020603050405020304" pitchFamily="18" charset="0"/>
              </a:rPr>
              <a:t>-</a:t>
            </a:r>
            <a:r>
              <a:rPr lang="en-US" sz="800" dirty="0">
                <a:solidFill>
                  <a:schemeClr val="bg1"/>
                </a:solidFill>
                <a:latin typeface="Times New Roman" panose="02020603050405020304" pitchFamily="18" charset="0"/>
                <a:cs typeface="Times New Roman" panose="02020603050405020304" pitchFamily="18" charset="0"/>
              </a:rPr>
              <a:t>- </a:t>
            </a: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4 of Cialdini's 6 influence principles detected: Scarcity, Authority, Reciprocity, Loss Aversion. System forces Kahneman's System 2 (deliberate) thinking by intercepting and naming System 1 emotional triggers.</a:t>
            </a:r>
            <a:endParaRPr lang="en-US" sz="8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65CAB92D-76AD-4249-9389-DBE616ACD08B}"/>
              </a:ext>
            </a:extLst>
          </p:cNvPr>
          <p:cNvSpPr txBox="1"/>
          <p:nvPr/>
        </p:nvSpPr>
        <p:spPr>
          <a:xfrm>
            <a:off x="7896497" y="4738527"/>
            <a:ext cx="1182189" cy="369332"/>
          </a:xfrm>
          <a:prstGeom prst="rect">
            <a:avLst/>
          </a:prstGeom>
          <a:solidFill>
            <a:srgbClr val="0A0B21"/>
          </a:solidFill>
        </p:spPr>
        <p:txBody>
          <a:bodyPr wrap="square" rtlCol="0">
            <a:spAutoFit/>
          </a:bodyPr>
          <a:lstStyle/>
          <a:p>
            <a:endParaRPr lang="en-US" dirty="0"/>
          </a:p>
        </p:txBody>
      </p:sp>
      <p:sp>
        <p:nvSpPr>
          <p:cNvPr id="17" name="TextBox 16">
            <a:extLst>
              <a:ext uri="{FF2B5EF4-FFF2-40B4-BE49-F238E27FC236}">
                <a16:creationId xmlns:a16="http://schemas.microsoft.com/office/drawing/2014/main" id="{152671BD-5485-34EA-A14B-F5B273C650B4}"/>
              </a:ext>
            </a:extLst>
          </p:cNvPr>
          <p:cNvSpPr txBox="1"/>
          <p:nvPr/>
        </p:nvSpPr>
        <p:spPr>
          <a:xfrm>
            <a:off x="456964" y="4722479"/>
            <a:ext cx="8863385" cy="336118"/>
          </a:xfrm>
          <a:prstGeom prst="rect">
            <a:avLst/>
          </a:prstGeom>
          <a:noFill/>
        </p:spPr>
        <p:txBody>
          <a:bodyPr wrap="square">
            <a:spAutoFit/>
          </a:bodyPr>
          <a:lstStyle/>
          <a:p>
            <a:pPr algn="just">
              <a:lnSpc>
                <a:spcPct val="150000"/>
              </a:lnSpc>
            </a:pPr>
            <a:r>
              <a:rPr lang="en-US" sz="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Vidara S V |  IT22299048  |  </a:t>
            </a:r>
            <a:r>
              <a:rPr lang="en-US" sz="1200" kern="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R26-CS-011</a:t>
            </a:r>
            <a:endParaRPr lang="en-US" sz="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Shape 3">
            <a:extLst>
              <a:ext uri="{FF2B5EF4-FFF2-40B4-BE49-F238E27FC236}">
                <a16:creationId xmlns:a16="http://schemas.microsoft.com/office/drawing/2014/main" id="{DA01E48C-50F4-C21F-6532-2B943B9FABC2}"/>
              </a:ext>
            </a:extLst>
          </p:cNvPr>
          <p:cNvSpPr/>
          <p:nvPr/>
        </p:nvSpPr>
        <p:spPr>
          <a:xfrm>
            <a:off x="6760851" y="612679"/>
            <a:ext cx="2224877" cy="881985"/>
          </a:xfrm>
          <a:prstGeom prst="roundRect">
            <a:avLst>
              <a:gd name="adj" fmla="val 4042"/>
            </a:avLst>
          </a:prstGeom>
          <a:solidFill>
            <a:srgbClr val="542C49"/>
          </a:solidFill>
          <a:ln w="4763">
            <a:solidFill>
              <a:srgbClr val="6D4562"/>
            </a:solidFill>
            <a:prstDash val="solid"/>
          </a:ln>
        </p:spPr>
        <p:txBody>
          <a:bodyPr/>
          <a:lstStyle/>
          <a:p>
            <a:endParaRPr lang="en-US" sz="800">
              <a:latin typeface="Times New Roman" panose="02020603050405020304" pitchFamily="18" charset="0"/>
              <a:cs typeface="Times New Roman" panose="02020603050405020304" pitchFamily="18" charset="0"/>
            </a:endParaRPr>
          </a:p>
        </p:txBody>
      </p:sp>
      <p:sp>
        <p:nvSpPr>
          <p:cNvPr id="19" name="Text 4">
            <a:extLst>
              <a:ext uri="{FF2B5EF4-FFF2-40B4-BE49-F238E27FC236}">
                <a16:creationId xmlns:a16="http://schemas.microsoft.com/office/drawing/2014/main" id="{7ACA55E2-CDAA-F77C-B57B-4E1F4528B53C}"/>
              </a:ext>
            </a:extLst>
          </p:cNvPr>
          <p:cNvSpPr/>
          <p:nvPr/>
        </p:nvSpPr>
        <p:spPr>
          <a:xfrm>
            <a:off x="6839117" y="682875"/>
            <a:ext cx="1136132" cy="121264"/>
          </a:xfrm>
          <a:prstGeom prst="rect">
            <a:avLst/>
          </a:prstGeom>
          <a:noFill/>
          <a:ln/>
        </p:spPr>
        <p:txBody>
          <a:bodyPr wrap="none" lIns="0" tIns="0" rIns="0" bIns="0" rtlCol="0" anchor="t"/>
          <a:lstStyle/>
          <a:p>
            <a:pPr marL="0" indent="0" algn="l">
              <a:buNone/>
            </a:pPr>
            <a:r>
              <a:rPr lang="en-US" sz="800" dirty="0">
                <a:solidFill>
                  <a:srgbClr val="DAD8E9"/>
                </a:solidFill>
                <a:latin typeface="Times New Roman" panose="02020603050405020304" pitchFamily="18" charset="0"/>
                <a:ea typeface="Prompt Medium" pitchFamily="34" charset="-122"/>
                <a:cs typeface="Times New Roman" panose="02020603050405020304" pitchFamily="18" charset="0"/>
              </a:rPr>
              <a:t>Behavioral User Profiling</a:t>
            </a:r>
            <a:endParaRPr lang="en-US" sz="800" dirty="0">
              <a:latin typeface="Times New Roman" panose="02020603050405020304" pitchFamily="18" charset="0"/>
              <a:cs typeface="Times New Roman" panose="02020603050405020304" pitchFamily="18" charset="0"/>
            </a:endParaRPr>
          </a:p>
        </p:txBody>
      </p:sp>
      <p:sp>
        <p:nvSpPr>
          <p:cNvPr id="20" name="Text 5">
            <a:extLst>
              <a:ext uri="{FF2B5EF4-FFF2-40B4-BE49-F238E27FC236}">
                <a16:creationId xmlns:a16="http://schemas.microsoft.com/office/drawing/2014/main" id="{60C4A120-7080-56AD-9D25-AA5AD57BDAD0}"/>
              </a:ext>
            </a:extLst>
          </p:cNvPr>
          <p:cNvSpPr/>
          <p:nvPr/>
        </p:nvSpPr>
        <p:spPr>
          <a:xfrm>
            <a:off x="6839116" y="906139"/>
            <a:ext cx="2049112" cy="415763"/>
          </a:xfrm>
          <a:prstGeom prst="rect">
            <a:avLst/>
          </a:prstGeom>
          <a:noFill/>
          <a:ln/>
        </p:spPr>
        <p:txBody>
          <a:bodyPr wrap="square" lIns="0" tIns="0" rIns="0" bIns="0" rtlCol="0" anchor="t"/>
          <a:lstStyle/>
          <a:p>
            <a:pPr marL="0" indent="0" algn="l">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Per-user SQLite log tracks click/ignore/delete history. User click rate + warning count feed directly into ML model as features — creating a truly personalized security system.</a:t>
            </a:r>
            <a:endParaRPr lang="en-US" sz="800" dirty="0">
              <a:latin typeface="Times New Roman" panose="02020603050405020304" pitchFamily="18" charset="0"/>
              <a:cs typeface="Times New Roman" panose="02020603050405020304" pitchFamily="18" charset="0"/>
            </a:endParaRPr>
          </a:p>
        </p:txBody>
      </p:sp>
      <p:sp>
        <p:nvSpPr>
          <p:cNvPr id="21" name="Shape 6">
            <a:extLst>
              <a:ext uri="{FF2B5EF4-FFF2-40B4-BE49-F238E27FC236}">
                <a16:creationId xmlns:a16="http://schemas.microsoft.com/office/drawing/2014/main" id="{688B2589-F424-FA37-715E-B13740215B38}"/>
              </a:ext>
            </a:extLst>
          </p:cNvPr>
          <p:cNvSpPr/>
          <p:nvPr/>
        </p:nvSpPr>
        <p:spPr>
          <a:xfrm>
            <a:off x="6753320" y="3341976"/>
            <a:ext cx="2224918" cy="832958"/>
          </a:xfrm>
          <a:prstGeom prst="roundRect">
            <a:avLst>
              <a:gd name="adj" fmla="val 4042"/>
            </a:avLst>
          </a:prstGeom>
          <a:solidFill>
            <a:srgbClr val="542C49"/>
          </a:solidFill>
          <a:ln w="4763">
            <a:solidFill>
              <a:srgbClr val="6D4562"/>
            </a:solidFill>
            <a:prstDash val="solid"/>
          </a:ln>
        </p:spPr>
        <p:txBody>
          <a:bodyPr/>
          <a:lstStyle/>
          <a:p>
            <a:endParaRPr lang="en-US" sz="800">
              <a:latin typeface="Times New Roman" panose="02020603050405020304" pitchFamily="18" charset="0"/>
              <a:cs typeface="Times New Roman" panose="02020603050405020304" pitchFamily="18" charset="0"/>
            </a:endParaRPr>
          </a:p>
        </p:txBody>
      </p:sp>
      <p:sp>
        <p:nvSpPr>
          <p:cNvPr id="22" name="Text 7">
            <a:extLst>
              <a:ext uri="{FF2B5EF4-FFF2-40B4-BE49-F238E27FC236}">
                <a16:creationId xmlns:a16="http://schemas.microsoft.com/office/drawing/2014/main" id="{66016FEE-D74F-AE34-E84D-BB2C45DE55D3}"/>
              </a:ext>
            </a:extLst>
          </p:cNvPr>
          <p:cNvSpPr/>
          <p:nvPr/>
        </p:nvSpPr>
        <p:spPr>
          <a:xfrm>
            <a:off x="6839117" y="3423105"/>
            <a:ext cx="1462780" cy="121264"/>
          </a:xfrm>
          <a:prstGeom prst="rect">
            <a:avLst/>
          </a:prstGeom>
          <a:noFill/>
          <a:ln/>
        </p:spPr>
        <p:txBody>
          <a:bodyPr wrap="none" lIns="0" tIns="0" rIns="0" bIns="0" rtlCol="0" anchor="t"/>
          <a:lstStyle/>
          <a:p>
            <a:pPr marL="0" indent="0" algn="l">
              <a:buNone/>
            </a:pPr>
            <a:r>
              <a:rPr lang="en-US" sz="800" dirty="0">
                <a:solidFill>
                  <a:srgbClr val="DAD8E9"/>
                </a:solidFill>
                <a:latin typeface="Times New Roman" panose="02020603050405020304" pitchFamily="18" charset="0"/>
                <a:ea typeface="Prompt Medium" pitchFamily="34" charset="-122"/>
                <a:cs typeface="Times New Roman" panose="02020603050405020304" pitchFamily="18" charset="0"/>
              </a:rPr>
              <a:t>Cialdini + Kahneman Framework</a:t>
            </a:r>
            <a:endParaRPr lang="en-US" sz="800" dirty="0">
              <a:latin typeface="Times New Roman" panose="02020603050405020304" pitchFamily="18" charset="0"/>
              <a:cs typeface="Times New Roman" panose="02020603050405020304" pitchFamily="18" charset="0"/>
            </a:endParaRPr>
          </a:p>
        </p:txBody>
      </p:sp>
      <p:sp>
        <p:nvSpPr>
          <p:cNvPr id="23" name="Text 8">
            <a:extLst>
              <a:ext uri="{FF2B5EF4-FFF2-40B4-BE49-F238E27FC236}">
                <a16:creationId xmlns:a16="http://schemas.microsoft.com/office/drawing/2014/main" id="{DC978F8B-F347-9868-2A11-5D723C600370}"/>
              </a:ext>
            </a:extLst>
          </p:cNvPr>
          <p:cNvSpPr/>
          <p:nvPr/>
        </p:nvSpPr>
        <p:spPr>
          <a:xfrm>
            <a:off x="6839117" y="3593631"/>
            <a:ext cx="2049154" cy="554350"/>
          </a:xfrm>
          <a:prstGeom prst="rect">
            <a:avLst/>
          </a:prstGeom>
          <a:noFill/>
          <a:ln/>
        </p:spPr>
        <p:txBody>
          <a:bodyPr wrap="square" lIns="0" tIns="0" rIns="0" bIns="0" rtlCol="0" anchor="t"/>
          <a:lstStyle/>
          <a:p>
            <a:pPr marL="0" indent="0" algn="l">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System detects 4 of Cialdini's influence principles. Adaptive warnings force Kahneman's System 2 thinking by intercepting emotional System 1 triggers before the user acts.</a:t>
            </a:r>
            <a:endParaRPr lang="en-US" sz="800" dirty="0">
              <a:latin typeface="Times New Roman" panose="02020603050405020304" pitchFamily="18" charset="0"/>
              <a:cs typeface="Times New Roman" panose="02020603050405020304" pitchFamily="18" charset="0"/>
            </a:endParaRPr>
          </a:p>
        </p:txBody>
      </p:sp>
      <p:sp>
        <p:nvSpPr>
          <p:cNvPr id="24" name="Shape 9">
            <a:extLst>
              <a:ext uri="{FF2B5EF4-FFF2-40B4-BE49-F238E27FC236}">
                <a16:creationId xmlns:a16="http://schemas.microsoft.com/office/drawing/2014/main" id="{C98CF7A5-A3DB-E409-F815-AE15175DB74E}"/>
              </a:ext>
            </a:extLst>
          </p:cNvPr>
          <p:cNvSpPr/>
          <p:nvPr/>
        </p:nvSpPr>
        <p:spPr>
          <a:xfrm>
            <a:off x="6753361" y="1548710"/>
            <a:ext cx="2224877" cy="832957"/>
          </a:xfrm>
          <a:prstGeom prst="roundRect">
            <a:avLst>
              <a:gd name="adj" fmla="val 4042"/>
            </a:avLst>
          </a:prstGeom>
          <a:solidFill>
            <a:srgbClr val="542C49"/>
          </a:solidFill>
          <a:ln w="4763">
            <a:solidFill>
              <a:srgbClr val="6D4562"/>
            </a:solidFill>
            <a:prstDash val="solid"/>
          </a:ln>
        </p:spPr>
        <p:txBody>
          <a:bodyPr/>
          <a:lstStyle/>
          <a:p>
            <a:endParaRPr lang="en-US" sz="800">
              <a:latin typeface="Times New Roman" panose="02020603050405020304" pitchFamily="18" charset="0"/>
              <a:cs typeface="Times New Roman" panose="02020603050405020304" pitchFamily="18" charset="0"/>
            </a:endParaRPr>
          </a:p>
        </p:txBody>
      </p:sp>
      <p:sp>
        <p:nvSpPr>
          <p:cNvPr id="25" name="Text 10">
            <a:extLst>
              <a:ext uri="{FF2B5EF4-FFF2-40B4-BE49-F238E27FC236}">
                <a16:creationId xmlns:a16="http://schemas.microsoft.com/office/drawing/2014/main" id="{86B795E8-9CB1-B374-C052-3A2FBC7767D2}"/>
              </a:ext>
            </a:extLst>
          </p:cNvPr>
          <p:cNvSpPr/>
          <p:nvPr/>
        </p:nvSpPr>
        <p:spPr>
          <a:xfrm>
            <a:off x="6822256" y="1615362"/>
            <a:ext cx="1460108" cy="121264"/>
          </a:xfrm>
          <a:prstGeom prst="rect">
            <a:avLst/>
          </a:prstGeom>
          <a:noFill/>
          <a:ln/>
        </p:spPr>
        <p:txBody>
          <a:bodyPr wrap="none" lIns="0" tIns="0" rIns="0" bIns="0" rtlCol="0" anchor="t"/>
          <a:lstStyle/>
          <a:p>
            <a:pPr marL="0" indent="0" algn="l">
              <a:buNone/>
            </a:pPr>
            <a:r>
              <a:rPr lang="en-US" sz="800" dirty="0">
                <a:solidFill>
                  <a:srgbClr val="DAD8E9"/>
                </a:solidFill>
                <a:latin typeface="Times New Roman" panose="02020603050405020304" pitchFamily="18" charset="0"/>
                <a:ea typeface="Prompt Medium" pitchFamily="34" charset="-122"/>
                <a:cs typeface="Times New Roman" panose="02020603050405020304" pitchFamily="18" charset="0"/>
              </a:rPr>
              <a:t>5-Tier Adaptive Warning Matrix</a:t>
            </a:r>
            <a:endParaRPr lang="en-US" sz="800" dirty="0">
              <a:latin typeface="Times New Roman" panose="02020603050405020304" pitchFamily="18" charset="0"/>
              <a:cs typeface="Times New Roman" panose="02020603050405020304" pitchFamily="18" charset="0"/>
            </a:endParaRPr>
          </a:p>
        </p:txBody>
      </p:sp>
      <p:sp>
        <p:nvSpPr>
          <p:cNvPr id="26" name="Text 11">
            <a:extLst>
              <a:ext uri="{FF2B5EF4-FFF2-40B4-BE49-F238E27FC236}">
                <a16:creationId xmlns:a16="http://schemas.microsoft.com/office/drawing/2014/main" id="{3A43B309-E5A9-6539-A857-5707A46CD5C3}"/>
              </a:ext>
            </a:extLst>
          </p:cNvPr>
          <p:cNvSpPr/>
          <p:nvPr/>
        </p:nvSpPr>
        <p:spPr>
          <a:xfrm>
            <a:off x="6822256" y="1774797"/>
            <a:ext cx="2049112" cy="554350"/>
          </a:xfrm>
          <a:prstGeom prst="rect">
            <a:avLst/>
          </a:prstGeom>
          <a:noFill/>
          <a:ln/>
        </p:spPr>
        <p:txBody>
          <a:bodyPr wrap="square" lIns="0" tIns="0" rIns="0" bIns="0" rtlCol="0" anchor="t"/>
          <a:lstStyle/>
          <a:p>
            <a:pPr marL="0" indent="0">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Risk (High/Med/Low) × Vulnerability (High/Low) produces 5 distinct warning tones - from "SCAM BLOCKED — do not proceed" down to "Minor spam note". No two users get the same warning.</a:t>
            </a:r>
            <a:endParaRPr lang="en-US" sz="800" dirty="0">
              <a:latin typeface="Times New Roman" panose="02020603050405020304" pitchFamily="18" charset="0"/>
              <a:cs typeface="Times New Roman" panose="02020603050405020304" pitchFamily="18" charset="0"/>
            </a:endParaRPr>
          </a:p>
        </p:txBody>
      </p:sp>
      <p:sp>
        <p:nvSpPr>
          <p:cNvPr id="27" name="Shape 12">
            <a:extLst>
              <a:ext uri="{FF2B5EF4-FFF2-40B4-BE49-F238E27FC236}">
                <a16:creationId xmlns:a16="http://schemas.microsoft.com/office/drawing/2014/main" id="{BF389F1C-B0D9-CEFA-6C62-B3393C965984}"/>
              </a:ext>
            </a:extLst>
          </p:cNvPr>
          <p:cNvSpPr/>
          <p:nvPr/>
        </p:nvSpPr>
        <p:spPr>
          <a:xfrm>
            <a:off x="6753320" y="2448655"/>
            <a:ext cx="2224918" cy="832957"/>
          </a:xfrm>
          <a:prstGeom prst="roundRect">
            <a:avLst>
              <a:gd name="adj" fmla="val 4042"/>
            </a:avLst>
          </a:prstGeom>
          <a:solidFill>
            <a:srgbClr val="542C49"/>
          </a:solidFill>
          <a:ln w="4763">
            <a:solidFill>
              <a:srgbClr val="6D4562"/>
            </a:solidFill>
            <a:prstDash val="solid"/>
          </a:ln>
        </p:spPr>
        <p:txBody>
          <a:bodyPr/>
          <a:lstStyle/>
          <a:p>
            <a:endParaRPr lang="en-US" sz="800">
              <a:latin typeface="Times New Roman" panose="02020603050405020304" pitchFamily="18" charset="0"/>
              <a:cs typeface="Times New Roman" panose="02020603050405020304" pitchFamily="18" charset="0"/>
            </a:endParaRPr>
          </a:p>
        </p:txBody>
      </p:sp>
      <p:sp>
        <p:nvSpPr>
          <p:cNvPr id="28" name="Text 13">
            <a:extLst>
              <a:ext uri="{FF2B5EF4-FFF2-40B4-BE49-F238E27FC236}">
                <a16:creationId xmlns:a16="http://schemas.microsoft.com/office/drawing/2014/main" id="{7C094F48-B4D7-7529-5C50-84B7760A2BBA}"/>
              </a:ext>
            </a:extLst>
          </p:cNvPr>
          <p:cNvSpPr/>
          <p:nvPr/>
        </p:nvSpPr>
        <p:spPr>
          <a:xfrm>
            <a:off x="6845811" y="2520661"/>
            <a:ext cx="1435893" cy="121264"/>
          </a:xfrm>
          <a:prstGeom prst="rect">
            <a:avLst/>
          </a:prstGeom>
          <a:noFill/>
          <a:ln/>
        </p:spPr>
        <p:txBody>
          <a:bodyPr wrap="none" lIns="0" tIns="0" rIns="0" bIns="0" rtlCol="0" anchor="t"/>
          <a:lstStyle/>
          <a:p>
            <a:pPr marL="0" indent="0" algn="l">
              <a:buNone/>
            </a:pPr>
            <a:r>
              <a:rPr lang="en-US" sz="800" dirty="0">
                <a:solidFill>
                  <a:srgbClr val="DAD8E9"/>
                </a:solidFill>
                <a:latin typeface="Times New Roman" panose="02020603050405020304" pitchFamily="18" charset="0"/>
                <a:ea typeface="Prompt Medium" pitchFamily="34" charset="-122"/>
                <a:cs typeface="Times New Roman" panose="02020603050405020304" pitchFamily="18" charset="0"/>
              </a:rPr>
              <a:t>Self-Improving Retraining Loop</a:t>
            </a:r>
            <a:endParaRPr lang="en-US" sz="800" dirty="0">
              <a:latin typeface="Times New Roman" panose="02020603050405020304" pitchFamily="18" charset="0"/>
              <a:cs typeface="Times New Roman" panose="02020603050405020304" pitchFamily="18" charset="0"/>
            </a:endParaRPr>
          </a:p>
        </p:txBody>
      </p:sp>
      <p:sp>
        <p:nvSpPr>
          <p:cNvPr id="29" name="Text 14">
            <a:extLst>
              <a:ext uri="{FF2B5EF4-FFF2-40B4-BE49-F238E27FC236}">
                <a16:creationId xmlns:a16="http://schemas.microsoft.com/office/drawing/2014/main" id="{E5765445-7341-5394-48E4-71DDE0F9419E}"/>
              </a:ext>
            </a:extLst>
          </p:cNvPr>
          <p:cNvSpPr/>
          <p:nvPr/>
        </p:nvSpPr>
        <p:spPr>
          <a:xfrm>
            <a:off x="6845811" y="2700891"/>
            <a:ext cx="2049154" cy="415763"/>
          </a:xfrm>
          <a:prstGeom prst="rect">
            <a:avLst/>
          </a:prstGeom>
          <a:noFill/>
          <a:ln/>
        </p:spPr>
        <p:txBody>
          <a:bodyPr wrap="square" lIns="0" tIns="0" rIns="0" bIns="0" rtlCol="0" anchor="t"/>
          <a:lstStyle/>
          <a:p>
            <a:pPr marL="0" indent="0" algn="l">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Every user action (clicked/ignored/deleted) is logged. When 50 interactions accumulate, system auto-triggers full ML retraining pipeline — GridSearchCV across 4 classifiers.</a:t>
            </a:r>
            <a:endParaRPr lang="en-US" sz="800" dirty="0">
              <a:latin typeface="Times New Roman" panose="02020603050405020304" pitchFamily="18" charset="0"/>
              <a:cs typeface="Times New Roman" panose="02020603050405020304" pitchFamily="18" charset="0"/>
            </a:endParaRPr>
          </a:p>
        </p:txBody>
      </p:sp>
      <p:sp>
        <p:nvSpPr>
          <p:cNvPr id="30" name="Text 2">
            <a:extLst>
              <a:ext uri="{FF2B5EF4-FFF2-40B4-BE49-F238E27FC236}">
                <a16:creationId xmlns:a16="http://schemas.microsoft.com/office/drawing/2014/main" id="{A171CFAC-BAD7-02AC-530E-A259C43C5BDE}"/>
              </a:ext>
            </a:extLst>
          </p:cNvPr>
          <p:cNvSpPr/>
          <p:nvPr/>
        </p:nvSpPr>
        <p:spPr>
          <a:xfrm>
            <a:off x="6614186" y="127943"/>
            <a:ext cx="3375422" cy="421928"/>
          </a:xfrm>
          <a:prstGeom prst="rect">
            <a:avLst/>
          </a:prstGeom>
          <a:noFill/>
          <a:ln/>
        </p:spPr>
        <p:txBody>
          <a:bodyPr wrap="none" lIns="0" tIns="0" rIns="0" bIns="0" rtlCol="0" anchor="t"/>
          <a:lstStyle/>
          <a:p>
            <a:pPr marL="0" indent="0" algn="l">
              <a:lnSpc>
                <a:spcPts val="330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Core Design Pillars</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3479" y="210352"/>
            <a:ext cx="6810003" cy="375047"/>
          </a:xfrm>
          <a:prstGeom prst="rect">
            <a:avLst/>
          </a:prstGeom>
          <a:noFill/>
          <a:ln/>
        </p:spPr>
        <p:txBody>
          <a:bodyPr wrap="none" lIns="0" tIns="0" rIns="0" bIns="0" rtlCol="0" anchor="t"/>
          <a:lstStyle/>
          <a:p>
            <a:pPr marL="0" indent="0" algn="l">
              <a:lnSpc>
                <a:spcPts val="295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User Requirements Addressed by the Solution</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hape 1"/>
          <p:cNvSpPr/>
          <p:nvPr/>
        </p:nvSpPr>
        <p:spPr>
          <a:xfrm>
            <a:off x="434429" y="646157"/>
            <a:ext cx="2356323" cy="943838"/>
          </a:xfrm>
          <a:prstGeom prst="roundRect">
            <a:avLst>
              <a:gd name="adj" fmla="val 7790"/>
            </a:avLst>
          </a:prstGeom>
          <a:solidFill>
            <a:srgbClr val="0B0C23">
              <a:alpha val="95000"/>
            </a:srgbClr>
          </a:solidFill>
          <a:ln w="19050">
            <a:solidFill>
              <a:srgbClr val="6D4562"/>
            </a:solidFill>
            <a:prstDash val="solid"/>
          </a:ln>
        </p:spPr>
        <p:txBody>
          <a:bodyPr/>
          <a:lstStyle/>
          <a:p>
            <a:endParaRPr lang="en-US" sz="900">
              <a:latin typeface="Times New Roman" panose="02020603050405020304" pitchFamily="18" charset="0"/>
              <a:cs typeface="Times New Roman" panose="02020603050405020304" pitchFamily="18" charset="0"/>
            </a:endParaRPr>
          </a:p>
        </p:txBody>
      </p:sp>
      <p:sp>
        <p:nvSpPr>
          <p:cNvPr id="4" name="Shape 2"/>
          <p:cNvSpPr/>
          <p:nvPr/>
        </p:nvSpPr>
        <p:spPr>
          <a:xfrm>
            <a:off x="415379" y="646157"/>
            <a:ext cx="45719" cy="943838"/>
          </a:xfrm>
          <a:prstGeom prst="roundRect">
            <a:avLst>
              <a:gd name="adj" fmla="val 74419"/>
            </a:avLst>
          </a:prstGeom>
          <a:solidFill>
            <a:srgbClr val="A95B95"/>
          </a:solidFill>
          <a:ln/>
        </p:spPr>
        <p:txBody>
          <a:bodyPr/>
          <a:lstStyle/>
          <a:p>
            <a:endParaRPr lang="en-US" sz="900">
              <a:latin typeface="Times New Roman" panose="02020603050405020304" pitchFamily="18" charset="0"/>
              <a:cs typeface="Times New Roman" panose="02020603050405020304" pitchFamily="18" charset="0"/>
            </a:endParaRPr>
          </a:p>
        </p:txBody>
      </p:sp>
      <p:sp>
        <p:nvSpPr>
          <p:cNvPr id="5" name="Text 3"/>
          <p:cNvSpPr/>
          <p:nvPr/>
        </p:nvSpPr>
        <p:spPr>
          <a:xfrm>
            <a:off x="541114" y="694108"/>
            <a:ext cx="1080256" cy="150775"/>
          </a:xfrm>
          <a:prstGeom prst="rect">
            <a:avLst/>
          </a:prstGeom>
          <a:noFill/>
          <a:ln/>
        </p:spPr>
        <p:txBody>
          <a:bodyPr wrap="none" lIns="0" tIns="0" rIns="0" bIns="0" rtlCol="0" anchor="t"/>
          <a:lstStyle/>
          <a:p>
            <a:pPr marL="0" indent="0" algn="l">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Explainable Threat Alerts</a:t>
            </a:r>
            <a:endParaRPr lang="en-US" sz="900" dirty="0">
              <a:latin typeface="Times New Roman" panose="02020603050405020304" pitchFamily="18" charset="0"/>
              <a:cs typeface="Times New Roman" panose="02020603050405020304" pitchFamily="18" charset="0"/>
            </a:endParaRPr>
          </a:p>
        </p:txBody>
      </p:sp>
      <p:sp>
        <p:nvSpPr>
          <p:cNvPr id="6" name="Text 4"/>
          <p:cNvSpPr/>
          <p:nvPr/>
        </p:nvSpPr>
        <p:spPr>
          <a:xfrm>
            <a:off x="554261" y="875683"/>
            <a:ext cx="2143327" cy="488402"/>
          </a:xfrm>
          <a:prstGeom prst="rect">
            <a:avLst/>
          </a:prstGeom>
          <a:noFill/>
          <a:ln/>
        </p:spPr>
        <p:txBody>
          <a:bodyPr wrap="square" lIns="0" tIns="0" rIns="0" bIns="0" rtlCol="0" anchor="t"/>
          <a:lstStyle/>
          <a:p>
            <a:pPr marL="0" indent="0" algn="l">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SMB users must understand WHY a message is dangerous — plain-language explanation with named cognitive biases, not just a risk label.</a:t>
            </a:r>
            <a:endParaRPr lang="en-US" sz="900" dirty="0">
              <a:latin typeface="Times New Roman" panose="02020603050405020304" pitchFamily="18" charset="0"/>
              <a:cs typeface="Times New Roman" panose="02020603050405020304" pitchFamily="18" charset="0"/>
            </a:endParaRPr>
          </a:p>
        </p:txBody>
      </p:sp>
      <p:sp>
        <p:nvSpPr>
          <p:cNvPr id="7" name="Shape 5"/>
          <p:cNvSpPr/>
          <p:nvPr/>
        </p:nvSpPr>
        <p:spPr>
          <a:xfrm>
            <a:off x="415380" y="3820745"/>
            <a:ext cx="2356366" cy="943838"/>
          </a:xfrm>
          <a:prstGeom prst="roundRect">
            <a:avLst>
              <a:gd name="adj" fmla="val 7790"/>
            </a:avLst>
          </a:prstGeom>
          <a:solidFill>
            <a:srgbClr val="0B0C23">
              <a:alpha val="95000"/>
            </a:srgbClr>
          </a:solidFill>
          <a:ln w="19050">
            <a:solidFill>
              <a:srgbClr val="6D4562"/>
            </a:solidFill>
            <a:prstDash val="solid"/>
          </a:ln>
        </p:spPr>
        <p:txBody>
          <a:bodyPr/>
          <a:lstStyle/>
          <a:p>
            <a:endParaRPr lang="en-US" sz="900">
              <a:latin typeface="Times New Roman" panose="02020603050405020304" pitchFamily="18" charset="0"/>
              <a:cs typeface="Times New Roman" panose="02020603050405020304" pitchFamily="18" charset="0"/>
            </a:endParaRPr>
          </a:p>
        </p:txBody>
      </p:sp>
      <p:sp>
        <p:nvSpPr>
          <p:cNvPr id="8" name="Shape 6"/>
          <p:cNvSpPr/>
          <p:nvPr/>
        </p:nvSpPr>
        <p:spPr>
          <a:xfrm>
            <a:off x="396329" y="3820745"/>
            <a:ext cx="45719" cy="943838"/>
          </a:xfrm>
          <a:prstGeom prst="roundRect">
            <a:avLst>
              <a:gd name="adj" fmla="val 74419"/>
            </a:avLst>
          </a:prstGeom>
          <a:solidFill>
            <a:srgbClr val="A95B95"/>
          </a:solidFill>
          <a:ln/>
        </p:spPr>
        <p:txBody>
          <a:bodyPr/>
          <a:lstStyle/>
          <a:p>
            <a:endParaRPr lang="en-US" sz="900">
              <a:latin typeface="Times New Roman" panose="02020603050405020304" pitchFamily="18" charset="0"/>
              <a:cs typeface="Times New Roman" panose="02020603050405020304" pitchFamily="18" charset="0"/>
            </a:endParaRPr>
          </a:p>
        </p:txBody>
      </p:sp>
      <p:sp>
        <p:nvSpPr>
          <p:cNvPr id="9" name="Text 7"/>
          <p:cNvSpPr/>
          <p:nvPr/>
        </p:nvSpPr>
        <p:spPr>
          <a:xfrm>
            <a:off x="554261" y="3928636"/>
            <a:ext cx="1530030" cy="150775"/>
          </a:xfrm>
          <a:prstGeom prst="rect">
            <a:avLst/>
          </a:prstGeom>
          <a:noFill/>
          <a:ln/>
        </p:spPr>
        <p:txBody>
          <a:bodyPr wrap="none" lIns="0" tIns="0" rIns="0" bIns="0" rtlCol="0" anchor="t"/>
          <a:lstStyle/>
          <a:p>
            <a:pPr marL="0" indent="0" algn="l">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Personalized Vulnerability Warnings</a:t>
            </a:r>
            <a:endParaRPr lang="en-US" sz="900" dirty="0">
              <a:latin typeface="Times New Roman" panose="02020603050405020304" pitchFamily="18" charset="0"/>
              <a:cs typeface="Times New Roman" panose="02020603050405020304" pitchFamily="18" charset="0"/>
            </a:endParaRPr>
          </a:p>
        </p:txBody>
      </p:sp>
      <p:sp>
        <p:nvSpPr>
          <p:cNvPr id="10" name="Text 8"/>
          <p:cNvSpPr/>
          <p:nvPr/>
        </p:nvSpPr>
        <p:spPr>
          <a:xfrm>
            <a:off x="554261" y="4160622"/>
            <a:ext cx="2143370" cy="488402"/>
          </a:xfrm>
          <a:prstGeom prst="rect">
            <a:avLst/>
          </a:prstGeom>
          <a:noFill/>
          <a:ln/>
        </p:spPr>
        <p:txBody>
          <a:bodyPr wrap="square" lIns="0" tIns="0" rIns="0" bIns="0" rtlCol="0" anchor="t"/>
          <a:lstStyle/>
          <a:p>
            <a:pPr marL="0" indent="0" algn="l">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Warnings must adapt to each user's behavioral history. High click-rate users receive stronger, more directive alerts than cautious users.</a:t>
            </a:r>
            <a:endParaRPr lang="en-US" sz="900" dirty="0">
              <a:latin typeface="Times New Roman" panose="02020603050405020304" pitchFamily="18" charset="0"/>
              <a:cs typeface="Times New Roman" panose="02020603050405020304" pitchFamily="18" charset="0"/>
            </a:endParaRPr>
          </a:p>
        </p:txBody>
      </p:sp>
      <p:sp>
        <p:nvSpPr>
          <p:cNvPr id="11" name="Shape 9"/>
          <p:cNvSpPr/>
          <p:nvPr/>
        </p:nvSpPr>
        <p:spPr>
          <a:xfrm>
            <a:off x="415379" y="1695639"/>
            <a:ext cx="2356323" cy="943838"/>
          </a:xfrm>
          <a:prstGeom prst="roundRect">
            <a:avLst>
              <a:gd name="adj" fmla="val 7790"/>
            </a:avLst>
          </a:prstGeom>
          <a:solidFill>
            <a:srgbClr val="0B0C23">
              <a:alpha val="95000"/>
            </a:srgbClr>
          </a:solidFill>
          <a:ln w="19050">
            <a:solidFill>
              <a:srgbClr val="6D4562"/>
            </a:solidFill>
            <a:prstDash val="solid"/>
          </a:ln>
        </p:spPr>
        <p:txBody>
          <a:bodyPr/>
          <a:lstStyle/>
          <a:p>
            <a:endParaRPr lang="en-US" sz="900">
              <a:latin typeface="Times New Roman" panose="02020603050405020304" pitchFamily="18" charset="0"/>
              <a:cs typeface="Times New Roman" panose="02020603050405020304" pitchFamily="18" charset="0"/>
            </a:endParaRPr>
          </a:p>
        </p:txBody>
      </p:sp>
      <p:sp>
        <p:nvSpPr>
          <p:cNvPr id="12" name="Shape 10"/>
          <p:cNvSpPr/>
          <p:nvPr/>
        </p:nvSpPr>
        <p:spPr>
          <a:xfrm>
            <a:off x="396329" y="1695639"/>
            <a:ext cx="45719" cy="943838"/>
          </a:xfrm>
          <a:prstGeom prst="roundRect">
            <a:avLst>
              <a:gd name="adj" fmla="val 74419"/>
            </a:avLst>
          </a:prstGeom>
          <a:solidFill>
            <a:srgbClr val="A95B95"/>
          </a:solidFill>
          <a:ln/>
        </p:spPr>
        <p:txBody>
          <a:bodyPr/>
          <a:lstStyle/>
          <a:p>
            <a:endParaRPr lang="en-US" sz="900">
              <a:latin typeface="Times New Roman" panose="02020603050405020304" pitchFamily="18" charset="0"/>
              <a:cs typeface="Times New Roman" panose="02020603050405020304" pitchFamily="18" charset="0"/>
            </a:endParaRPr>
          </a:p>
        </p:txBody>
      </p:sp>
      <p:sp>
        <p:nvSpPr>
          <p:cNvPr id="13" name="Text 11"/>
          <p:cNvSpPr/>
          <p:nvPr/>
        </p:nvSpPr>
        <p:spPr>
          <a:xfrm>
            <a:off x="537902" y="1750872"/>
            <a:ext cx="1179377" cy="150775"/>
          </a:xfrm>
          <a:prstGeom prst="rect">
            <a:avLst/>
          </a:prstGeom>
          <a:noFill/>
          <a:ln/>
        </p:spPr>
        <p:txBody>
          <a:bodyPr wrap="none" lIns="0" tIns="0" rIns="0" bIns="0" rtlCol="0" anchor="t"/>
          <a:lstStyle/>
          <a:p>
            <a:pPr marL="0" indent="0" algn="l">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Visual Content Highlighting</a:t>
            </a:r>
            <a:endParaRPr lang="en-US" sz="900" dirty="0">
              <a:latin typeface="Times New Roman" panose="02020603050405020304" pitchFamily="18" charset="0"/>
              <a:cs typeface="Times New Roman" panose="02020603050405020304" pitchFamily="18" charset="0"/>
            </a:endParaRPr>
          </a:p>
        </p:txBody>
      </p:sp>
      <p:sp>
        <p:nvSpPr>
          <p:cNvPr id="14" name="Text 12"/>
          <p:cNvSpPr/>
          <p:nvPr/>
        </p:nvSpPr>
        <p:spPr>
          <a:xfrm>
            <a:off x="541114" y="1960670"/>
            <a:ext cx="2143327" cy="488402"/>
          </a:xfrm>
          <a:prstGeom prst="rect">
            <a:avLst/>
          </a:prstGeom>
          <a:noFill/>
          <a:ln/>
        </p:spPr>
        <p:txBody>
          <a:bodyPr wrap="square" lIns="0" tIns="0" rIns="0" bIns="0" rtlCol="0" anchor="t"/>
          <a:lstStyle/>
          <a:p>
            <a:pPr marL="0" indent="0" algn="l">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Suspicious elements (urgency phrases, authority impersonation, links, monetary triggers) must be visually marked in the message text.</a:t>
            </a:r>
            <a:endParaRPr lang="en-US" sz="900" dirty="0">
              <a:latin typeface="Times New Roman" panose="02020603050405020304" pitchFamily="18" charset="0"/>
              <a:cs typeface="Times New Roman" panose="02020603050405020304" pitchFamily="18" charset="0"/>
            </a:endParaRPr>
          </a:p>
        </p:txBody>
      </p:sp>
      <p:sp>
        <p:nvSpPr>
          <p:cNvPr id="19" name="Shape 17"/>
          <p:cNvSpPr/>
          <p:nvPr/>
        </p:nvSpPr>
        <p:spPr>
          <a:xfrm>
            <a:off x="415379" y="2758192"/>
            <a:ext cx="2356323" cy="943838"/>
          </a:xfrm>
          <a:prstGeom prst="roundRect">
            <a:avLst>
              <a:gd name="adj" fmla="val 7790"/>
            </a:avLst>
          </a:prstGeom>
          <a:solidFill>
            <a:srgbClr val="0B0C23">
              <a:alpha val="95000"/>
            </a:srgbClr>
          </a:solidFill>
          <a:ln w="19050">
            <a:solidFill>
              <a:srgbClr val="6D4562"/>
            </a:solidFill>
            <a:prstDash val="solid"/>
          </a:ln>
        </p:spPr>
        <p:txBody>
          <a:bodyPr/>
          <a:lstStyle/>
          <a:p>
            <a:endParaRPr lang="en-US" sz="900">
              <a:latin typeface="Times New Roman" panose="02020603050405020304" pitchFamily="18" charset="0"/>
              <a:cs typeface="Times New Roman" panose="02020603050405020304" pitchFamily="18" charset="0"/>
            </a:endParaRPr>
          </a:p>
        </p:txBody>
      </p:sp>
      <p:sp>
        <p:nvSpPr>
          <p:cNvPr id="20" name="Shape 18"/>
          <p:cNvSpPr/>
          <p:nvPr/>
        </p:nvSpPr>
        <p:spPr>
          <a:xfrm>
            <a:off x="396329" y="2758192"/>
            <a:ext cx="45719" cy="943838"/>
          </a:xfrm>
          <a:prstGeom prst="roundRect">
            <a:avLst>
              <a:gd name="adj" fmla="val 74419"/>
            </a:avLst>
          </a:prstGeom>
          <a:solidFill>
            <a:srgbClr val="A95B95"/>
          </a:solidFill>
          <a:ln/>
        </p:spPr>
        <p:txBody>
          <a:bodyPr/>
          <a:lstStyle/>
          <a:p>
            <a:endParaRPr lang="en-US" sz="900">
              <a:latin typeface="Times New Roman" panose="02020603050405020304" pitchFamily="18" charset="0"/>
              <a:cs typeface="Times New Roman" panose="02020603050405020304" pitchFamily="18" charset="0"/>
            </a:endParaRPr>
          </a:p>
        </p:txBody>
      </p:sp>
      <p:sp>
        <p:nvSpPr>
          <p:cNvPr id="21" name="Text 19"/>
          <p:cNvSpPr/>
          <p:nvPr/>
        </p:nvSpPr>
        <p:spPr>
          <a:xfrm>
            <a:off x="554261" y="2806584"/>
            <a:ext cx="1486459" cy="150775"/>
          </a:xfrm>
          <a:prstGeom prst="rect">
            <a:avLst/>
          </a:prstGeom>
          <a:noFill/>
          <a:ln/>
        </p:spPr>
        <p:txBody>
          <a:bodyPr wrap="none" lIns="0" tIns="0" rIns="0" bIns="0" rtlCol="0" anchor="t"/>
          <a:lstStyle/>
          <a:p>
            <a:pPr marL="0" indent="0" algn="l">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Accessible Non-Technical Interface</a:t>
            </a:r>
            <a:endParaRPr lang="en-US" sz="900" dirty="0">
              <a:latin typeface="Times New Roman" panose="02020603050405020304" pitchFamily="18" charset="0"/>
              <a:cs typeface="Times New Roman" panose="02020603050405020304" pitchFamily="18" charset="0"/>
            </a:endParaRPr>
          </a:p>
        </p:txBody>
      </p:sp>
      <p:sp>
        <p:nvSpPr>
          <p:cNvPr id="22" name="Text 20"/>
          <p:cNvSpPr/>
          <p:nvPr/>
        </p:nvSpPr>
        <p:spPr>
          <a:xfrm>
            <a:off x="541114" y="3027831"/>
            <a:ext cx="2143327" cy="488402"/>
          </a:xfrm>
          <a:prstGeom prst="rect">
            <a:avLst/>
          </a:prstGeom>
          <a:noFill/>
          <a:ln/>
        </p:spPr>
        <p:txBody>
          <a:bodyPr wrap="square" lIns="0" tIns="0" rIns="0" bIns="0" rtlCol="0" anchor="t"/>
          <a:lstStyle/>
          <a:p>
            <a:pPr marL="0" indent="0" algn="l">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Flask web dashboard must allow SMB employees to submit any suspicious message and receive full analysis within seconds — no technical knowledge required.</a:t>
            </a:r>
            <a:endParaRPr lang="en-US" sz="900" dirty="0">
              <a:latin typeface="Times New Roman" panose="02020603050405020304" pitchFamily="18" charset="0"/>
              <a:cs typeface="Times New Roman" panose="02020603050405020304" pitchFamily="18" charset="0"/>
            </a:endParaRPr>
          </a:p>
        </p:txBody>
      </p:sp>
      <p:sp>
        <p:nvSpPr>
          <p:cNvPr id="46" name="Shape 1">
            <a:extLst>
              <a:ext uri="{FF2B5EF4-FFF2-40B4-BE49-F238E27FC236}">
                <a16:creationId xmlns:a16="http://schemas.microsoft.com/office/drawing/2014/main" id="{F2080739-DF5A-1365-1127-5213B7E8C403}"/>
              </a:ext>
            </a:extLst>
          </p:cNvPr>
          <p:cNvSpPr/>
          <p:nvPr/>
        </p:nvSpPr>
        <p:spPr>
          <a:xfrm>
            <a:off x="3664129" y="1332633"/>
            <a:ext cx="4938757" cy="2913534"/>
          </a:xfrm>
          <a:prstGeom prst="roundRect">
            <a:avLst>
              <a:gd name="adj" fmla="val 2386"/>
            </a:avLst>
          </a:prstGeom>
          <a:noFill/>
          <a:ln w="9525">
            <a:solidFill>
              <a:srgbClr val="FFFFFF">
                <a:alpha val="24000"/>
              </a:srgbClr>
            </a:solidFill>
            <a:prstDash val="solid"/>
          </a:ln>
        </p:spPr>
        <p:txBody>
          <a:bodyPr/>
          <a:lstStyle/>
          <a:p>
            <a:endParaRPr lang="en-US" sz="800">
              <a:latin typeface="Times New Roman" panose="02020603050405020304" pitchFamily="18" charset="0"/>
              <a:cs typeface="Times New Roman" panose="02020603050405020304" pitchFamily="18" charset="0"/>
            </a:endParaRPr>
          </a:p>
        </p:txBody>
      </p:sp>
      <p:sp>
        <p:nvSpPr>
          <p:cNvPr id="47" name="Text 2">
            <a:extLst>
              <a:ext uri="{FF2B5EF4-FFF2-40B4-BE49-F238E27FC236}">
                <a16:creationId xmlns:a16="http://schemas.microsoft.com/office/drawing/2014/main" id="{CFC5E660-73B3-B19C-F6C8-35A314E47D35}"/>
              </a:ext>
            </a:extLst>
          </p:cNvPr>
          <p:cNvSpPr/>
          <p:nvPr/>
        </p:nvSpPr>
        <p:spPr>
          <a:xfrm>
            <a:off x="3827914" y="1439492"/>
            <a:ext cx="1538297" cy="264852"/>
          </a:xfrm>
          <a:prstGeom prst="rect">
            <a:avLst/>
          </a:prstGeom>
          <a:noFill/>
          <a:ln/>
        </p:spPr>
        <p:txBody>
          <a:bodyPr wrap="none" lIns="0" tIns="0" rIns="0" bIns="0" rtlCol="0" anchor="t"/>
          <a:lstStyle/>
          <a:p>
            <a:pPr marL="0" indent="0" algn="l">
              <a:lnSpc>
                <a:spcPts val="1900"/>
              </a:lnSpc>
              <a:buNone/>
            </a:pPr>
            <a:r>
              <a:rPr lang="en-US" sz="900" b="1"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itchFamily="34" charset="-122"/>
                <a:cs typeface="Times New Roman" panose="02020603050405020304" pitchFamily="18" charset="0"/>
              </a:rPr>
              <a:t>Feedback Area</a:t>
            </a:r>
            <a:endParaRPr lang="en-US" sz="9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8" name="Text 3">
            <a:extLst>
              <a:ext uri="{FF2B5EF4-FFF2-40B4-BE49-F238E27FC236}">
                <a16:creationId xmlns:a16="http://schemas.microsoft.com/office/drawing/2014/main" id="{D8DAB563-568C-EFEA-2A76-0A47B0D8C086}"/>
              </a:ext>
            </a:extLst>
          </p:cNvPr>
          <p:cNvSpPr/>
          <p:nvPr/>
        </p:nvSpPr>
        <p:spPr>
          <a:xfrm>
            <a:off x="5148869" y="1440861"/>
            <a:ext cx="3895315" cy="264852"/>
          </a:xfrm>
          <a:prstGeom prst="rect">
            <a:avLst/>
          </a:prstGeom>
          <a:noFill/>
          <a:ln/>
        </p:spPr>
        <p:txBody>
          <a:bodyPr wrap="none" lIns="0" tIns="0" rIns="0" bIns="0" rtlCol="0" anchor="t"/>
          <a:lstStyle/>
          <a:p>
            <a:pPr marL="0" indent="0" algn="l">
              <a:lnSpc>
                <a:spcPts val="1900"/>
              </a:lnSpc>
              <a:buNone/>
            </a:pPr>
            <a:r>
              <a:rPr lang="en-US" sz="900" b="1" dirty="0">
                <a:solidFill>
                  <a:srgbClr val="DAD8E9"/>
                </a:solidFill>
                <a:latin typeface="Times New Roman" panose="02020603050405020304" pitchFamily="18" charset="0"/>
                <a:ea typeface="Mukta Light" pitchFamily="34" charset="-122"/>
                <a:cs typeface="Times New Roman" panose="02020603050405020304" pitchFamily="18" charset="0"/>
              </a:rPr>
              <a:t>Findings / Observations</a:t>
            </a:r>
            <a:endParaRPr lang="en-US" sz="900" dirty="0">
              <a:latin typeface="Times New Roman" panose="02020603050405020304" pitchFamily="18" charset="0"/>
              <a:cs typeface="Times New Roman" panose="02020603050405020304" pitchFamily="18" charset="0"/>
            </a:endParaRPr>
          </a:p>
        </p:txBody>
      </p:sp>
      <p:sp>
        <p:nvSpPr>
          <p:cNvPr id="49" name="Text 4">
            <a:extLst>
              <a:ext uri="{FF2B5EF4-FFF2-40B4-BE49-F238E27FC236}">
                <a16:creationId xmlns:a16="http://schemas.microsoft.com/office/drawing/2014/main" id="{D4AAD3FF-EF8E-FFFB-8442-39076EE6F65D}"/>
              </a:ext>
            </a:extLst>
          </p:cNvPr>
          <p:cNvSpPr/>
          <p:nvPr/>
        </p:nvSpPr>
        <p:spPr>
          <a:xfrm>
            <a:off x="3827914" y="1890590"/>
            <a:ext cx="1538297" cy="264852"/>
          </a:xfrm>
          <a:prstGeom prst="rect">
            <a:avLst/>
          </a:prstGeom>
          <a:noFill/>
          <a:ln/>
        </p:spPr>
        <p:txBody>
          <a:bodyPr wrap="none" lIns="0" tIns="0" rIns="0" bIns="0" rtlCol="0" anchor="t"/>
          <a:lstStyle/>
          <a:p>
            <a:pPr marL="0" indent="0" algn="l">
              <a:lnSpc>
                <a:spcPts val="19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Alert Clarity</a:t>
            </a:r>
            <a:endParaRPr lang="en-US" sz="800" dirty="0">
              <a:latin typeface="Times New Roman" panose="02020603050405020304" pitchFamily="18" charset="0"/>
              <a:cs typeface="Times New Roman" panose="02020603050405020304" pitchFamily="18" charset="0"/>
            </a:endParaRPr>
          </a:p>
        </p:txBody>
      </p:sp>
      <p:sp>
        <p:nvSpPr>
          <p:cNvPr id="50" name="Text 5">
            <a:extLst>
              <a:ext uri="{FF2B5EF4-FFF2-40B4-BE49-F238E27FC236}">
                <a16:creationId xmlns:a16="http://schemas.microsoft.com/office/drawing/2014/main" id="{9EEFA39F-E6AC-7952-852D-5CF5EB6925DB}"/>
              </a:ext>
            </a:extLst>
          </p:cNvPr>
          <p:cNvSpPr/>
          <p:nvPr/>
        </p:nvSpPr>
        <p:spPr>
          <a:xfrm>
            <a:off x="5148867" y="1875100"/>
            <a:ext cx="3065399" cy="264852"/>
          </a:xfrm>
          <a:prstGeom prst="rect">
            <a:avLst/>
          </a:prstGeom>
          <a:noFill/>
          <a:ln/>
        </p:spPr>
        <p:txBody>
          <a:bodyPr wrap="none" lIns="0" tIns="0" rIns="0" bIns="0" rtlCol="0" anchor="t"/>
          <a:lstStyle/>
          <a:p>
            <a:pPr marL="0" indent="0" algn="l">
              <a:lnSpc>
                <a:spcPts val="19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Users preferred plain-language explanations over technical jargon</a:t>
            </a:r>
            <a:endParaRPr lang="en-US" sz="800" dirty="0">
              <a:latin typeface="Times New Roman" panose="02020603050405020304" pitchFamily="18" charset="0"/>
              <a:cs typeface="Times New Roman" panose="02020603050405020304" pitchFamily="18" charset="0"/>
            </a:endParaRPr>
          </a:p>
        </p:txBody>
      </p:sp>
      <p:sp>
        <p:nvSpPr>
          <p:cNvPr id="51" name="Text 6">
            <a:extLst>
              <a:ext uri="{FF2B5EF4-FFF2-40B4-BE49-F238E27FC236}">
                <a16:creationId xmlns:a16="http://schemas.microsoft.com/office/drawing/2014/main" id="{3F65F9A5-2B1D-8C29-7448-C33F796472E8}"/>
              </a:ext>
            </a:extLst>
          </p:cNvPr>
          <p:cNvSpPr/>
          <p:nvPr/>
        </p:nvSpPr>
        <p:spPr>
          <a:xfrm>
            <a:off x="3827914" y="2341688"/>
            <a:ext cx="1538297" cy="264852"/>
          </a:xfrm>
          <a:prstGeom prst="rect">
            <a:avLst/>
          </a:prstGeom>
          <a:noFill/>
          <a:ln/>
        </p:spPr>
        <p:txBody>
          <a:bodyPr wrap="none" lIns="0" tIns="0" rIns="0" bIns="0" rtlCol="0" anchor="t"/>
          <a:lstStyle/>
          <a:p>
            <a:pPr marL="0" indent="0" algn="l">
              <a:lnSpc>
                <a:spcPts val="19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Warning Tone</a:t>
            </a:r>
            <a:endParaRPr lang="en-US" sz="800" dirty="0">
              <a:latin typeface="Times New Roman" panose="02020603050405020304" pitchFamily="18" charset="0"/>
              <a:cs typeface="Times New Roman" panose="02020603050405020304" pitchFamily="18" charset="0"/>
            </a:endParaRPr>
          </a:p>
        </p:txBody>
      </p:sp>
      <p:sp>
        <p:nvSpPr>
          <p:cNvPr id="52" name="Text 7">
            <a:extLst>
              <a:ext uri="{FF2B5EF4-FFF2-40B4-BE49-F238E27FC236}">
                <a16:creationId xmlns:a16="http://schemas.microsoft.com/office/drawing/2014/main" id="{B0D91D91-0854-6236-16F1-80656159E68F}"/>
              </a:ext>
            </a:extLst>
          </p:cNvPr>
          <p:cNvSpPr/>
          <p:nvPr/>
        </p:nvSpPr>
        <p:spPr>
          <a:xfrm>
            <a:off x="5148867" y="2349400"/>
            <a:ext cx="3332100" cy="264852"/>
          </a:xfrm>
          <a:prstGeom prst="rect">
            <a:avLst/>
          </a:prstGeom>
          <a:noFill/>
          <a:ln/>
        </p:spPr>
        <p:txBody>
          <a:bodyPr wrap="none" lIns="0" tIns="0" rIns="0" bIns="0" rtlCol="0" anchor="t"/>
          <a:lstStyle/>
          <a:p>
            <a:pPr marL="0" indent="0" algn="l">
              <a:lnSpc>
                <a:spcPts val="19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Adaptive warnings were perceived as more trustworthy than static alerts</a:t>
            </a:r>
            <a:endParaRPr lang="en-US" sz="800" dirty="0">
              <a:latin typeface="Times New Roman" panose="02020603050405020304" pitchFamily="18" charset="0"/>
              <a:cs typeface="Times New Roman" panose="02020603050405020304" pitchFamily="18" charset="0"/>
            </a:endParaRPr>
          </a:p>
        </p:txBody>
      </p:sp>
      <p:sp>
        <p:nvSpPr>
          <p:cNvPr id="53" name="Text 8">
            <a:extLst>
              <a:ext uri="{FF2B5EF4-FFF2-40B4-BE49-F238E27FC236}">
                <a16:creationId xmlns:a16="http://schemas.microsoft.com/office/drawing/2014/main" id="{939A5C10-47F3-00DE-C65B-31ED512CDBF6}"/>
              </a:ext>
            </a:extLst>
          </p:cNvPr>
          <p:cNvSpPr/>
          <p:nvPr/>
        </p:nvSpPr>
        <p:spPr>
          <a:xfrm>
            <a:off x="3827914" y="2792786"/>
            <a:ext cx="1538297" cy="264852"/>
          </a:xfrm>
          <a:prstGeom prst="rect">
            <a:avLst/>
          </a:prstGeom>
          <a:noFill/>
          <a:ln/>
        </p:spPr>
        <p:txBody>
          <a:bodyPr wrap="none" lIns="0" tIns="0" rIns="0" bIns="0" rtlCol="0" anchor="t"/>
          <a:lstStyle/>
          <a:p>
            <a:pPr marL="0" indent="0" algn="l">
              <a:lnSpc>
                <a:spcPts val="19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Dashboard Usability</a:t>
            </a:r>
            <a:endParaRPr lang="en-US" sz="800" dirty="0">
              <a:latin typeface="Times New Roman" panose="02020603050405020304" pitchFamily="18" charset="0"/>
              <a:cs typeface="Times New Roman" panose="02020603050405020304" pitchFamily="18" charset="0"/>
            </a:endParaRPr>
          </a:p>
        </p:txBody>
      </p:sp>
      <p:sp>
        <p:nvSpPr>
          <p:cNvPr id="54" name="Text 9">
            <a:extLst>
              <a:ext uri="{FF2B5EF4-FFF2-40B4-BE49-F238E27FC236}">
                <a16:creationId xmlns:a16="http://schemas.microsoft.com/office/drawing/2014/main" id="{3A04E14F-63C3-A432-615E-D80C72D493F9}"/>
              </a:ext>
            </a:extLst>
          </p:cNvPr>
          <p:cNvSpPr/>
          <p:nvPr/>
        </p:nvSpPr>
        <p:spPr>
          <a:xfrm>
            <a:off x="5148865" y="2800498"/>
            <a:ext cx="3332101" cy="264852"/>
          </a:xfrm>
          <a:prstGeom prst="rect">
            <a:avLst/>
          </a:prstGeom>
          <a:noFill/>
          <a:ln/>
        </p:spPr>
        <p:txBody>
          <a:bodyPr wrap="none" lIns="0" tIns="0" rIns="0" bIns="0" rtlCol="0" anchor="t"/>
          <a:lstStyle/>
          <a:p>
            <a:pPr marL="0" indent="0" algn="l">
              <a:lnSpc>
                <a:spcPts val="19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Non-technical users completed message submission without assistance</a:t>
            </a:r>
            <a:endParaRPr lang="en-US" sz="800" dirty="0">
              <a:latin typeface="Times New Roman" panose="02020603050405020304" pitchFamily="18" charset="0"/>
              <a:cs typeface="Times New Roman" panose="02020603050405020304" pitchFamily="18" charset="0"/>
            </a:endParaRPr>
          </a:p>
        </p:txBody>
      </p:sp>
      <p:sp>
        <p:nvSpPr>
          <p:cNvPr id="55" name="Text 10">
            <a:extLst>
              <a:ext uri="{FF2B5EF4-FFF2-40B4-BE49-F238E27FC236}">
                <a16:creationId xmlns:a16="http://schemas.microsoft.com/office/drawing/2014/main" id="{C55096E2-4106-100A-A3D0-3CD570EE64C0}"/>
              </a:ext>
            </a:extLst>
          </p:cNvPr>
          <p:cNvSpPr/>
          <p:nvPr/>
        </p:nvSpPr>
        <p:spPr>
          <a:xfrm>
            <a:off x="3827914" y="3243884"/>
            <a:ext cx="1538297" cy="264852"/>
          </a:xfrm>
          <a:prstGeom prst="rect">
            <a:avLst/>
          </a:prstGeom>
          <a:noFill/>
          <a:ln/>
        </p:spPr>
        <p:txBody>
          <a:bodyPr wrap="none" lIns="0" tIns="0" rIns="0" bIns="0" rtlCol="0" anchor="t"/>
          <a:lstStyle/>
          <a:p>
            <a:pPr marL="0" indent="0" algn="l">
              <a:lnSpc>
                <a:spcPts val="19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Auto-Blocking</a:t>
            </a:r>
            <a:endParaRPr lang="en-US" sz="800" dirty="0">
              <a:latin typeface="Times New Roman" panose="02020603050405020304" pitchFamily="18" charset="0"/>
              <a:cs typeface="Times New Roman" panose="02020603050405020304" pitchFamily="18" charset="0"/>
            </a:endParaRPr>
          </a:p>
        </p:txBody>
      </p:sp>
      <p:sp>
        <p:nvSpPr>
          <p:cNvPr id="56" name="Text 11">
            <a:extLst>
              <a:ext uri="{FF2B5EF4-FFF2-40B4-BE49-F238E27FC236}">
                <a16:creationId xmlns:a16="http://schemas.microsoft.com/office/drawing/2014/main" id="{B03232A9-03E1-701E-879D-54567F8B0EAE}"/>
              </a:ext>
            </a:extLst>
          </p:cNvPr>
          <p:cNvSpPr/>
          <p:nvPr/>
        </p:nvSpPr>
        <p:spPr>
          <a:xfrm>
            <a:off x="5148864" y="3243884"/>
            <a:ext cx="3332101" cy="264852"/>
          </a:xfrm>
          <a:prstGeom prst="rect">
            <a:avLst/>
          </a:prstGeom>
          <a:noFill/>
          <a:ln/>
        </p:spPr>
        <p:txBody>
          <a:bodyPr wrap="none" lIns="0" tIns="0" rIns="0" bIns="0" rtlCol="0" anchor="t"/>
          <a:lstStyle/>
          <a:p>
            <a:pPr marL="0" indent="0" algn="l">
              <a:lnSpc>
                <a:spcPts val="19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Users appreciated automatic high-risk blocking with clear rationale</a:t>
            </a:r>
            <a:endParaRPr lang="en-US" sz="800" dirty="0">
              <a:latin typeface="Times New Roman" panose="02020603050405020304" pitchFamily="18" charset="0"/>
              <a:cs typeface="Times New Roman" panose="02020603050405020304" pitchFamily="18" charset="0"/>
            </a:endParaRPr>
          </a:p>
        </p:txBody>
      </p:sp>
      <p:sp>
        <p:nvSpPr>
          <p:cNvPr id="57" name="Text 12">
            <a:extLst>
              <a:ext uri="{FF2B5EF4-FFF2-40B4-BE49-F238E27FC236}">
                <a16:creationId xmlns:a16="http://schemas.microsoft.com/office/drawing/2014/main" id="{97E1380D-65E7-4F83-F19F-5C66C3CB9FD9}"/>
              </a:ext>
            </a:extLst>
          </p:cNvPr>
          <p:cNvSpPr/>
          <p:nvPr/>
        </p:nvSpPr>
        <p:spPr>
          <a:xfrm>
            <a:off x="3827914" y="3694982"/>
            <a:ext cx="1538297" cy="264852"/>
          </a:xfrm>
          <a:prstGeom prst="rect">
            <a:avLst/>
          </a:prstGeom>
          <a:noFill/>
          <a:ln/>
        </p:spPr>
        <p:txBody>
          <a:bodyPr wrap="none" lIns="0" tIns="0" rIns="0" bIns="0" rtlCol="0" anchor="t"/>
          <a:lstStyle/>
          <a:p>
            <a:pPr marL="0" indent="0" algn="l">
              <a:lnSpc>
                <a:spcPts val="19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Visual Highlighting</a:t>
            </a:r>
            <a:endParaRPr lang="en-US" sz="800" dirty="0">
              <a:latin typeface="Times New Roman" panose="02020603050405020304" pitchFamily="18" charset="0"/>
              <a:cs typeface="Times New Roman" panose="02020603050405020304" pitchFamily="18" charset="0"/>
            </a:endParaRPr>
          </a:p>
        </p:txBody>
      </p:sp>
      <p:sp>
        <p:nvSpPr>
          <p:cNvPr id="58" name="Text 13">
            <a:extLst>
              <a:ext uri="{FF2B5EF4-FFF2-40B4-BE49-F238E27FC236}">
                <a16:creationId xmlns:a16="http://schemas.microsoft.com/office/drawing/2014/main" id="{37333446-6679-6346-E203-D41EFBA888F4}"/>
              </a:ext>
            </a:extLst>
          </p:cNvPr>
          <p:cNvSpPr/>
          <p:nvPr/>
        </p:nvSpPr>
        <p:spPr>
          <a:xfrm>
            <a:off x="5148869" y="3687270"/>
            <a:ext cx="3187318" cy="264852"/>
          </a:xfrm>
          <a:prstGeom prst="rect">
            <a:avLst/>
          </a:prstGeom>
          <a:noFill/>
          <a:ln/>
        </p:spPr>
        <p:txBody>
          <a:bodyPr wrap="none" lIns="0" tIns="0" rIns="0" bIns="0" rtlCol="0" anchor="t"/>
          <a:lstStyle/>
          <a:p>
            <a:pPr marL="0" indent="0" algn="l">
              <a:lnSpc>
                <a:spcPts val="1900"/>
              </a:lnSpc>
              <a:buNone/>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Marked suspicious elements helped users identify threats faster</a:t>
            </a:r>
            <a:endParaRPr lang="en-US" sz="800" dirty="0">
              <a:latin typeface="Times New Roman" panose="02020603050405020304" pitchFamily="18" charset="0"/>
              <a:cs typeface="Times New Roman" panose="02020603050405020304" pitchFamily="18" charset="0"/>
            </a:endParaRPr>
          </a:p>
        </p:txBody>
      </p:sp>
      <p:sp>
        <p:nvSpPr>
          <p:cNvPr id="59" name="Text 0"/>
          <p:cNvSpPr/>
          <p:nvPr/>
        </p:nvSpPr>
        <p:spPr>
          <a:xfrm>
            <a:off x="5051965" y="844709"/>
            <a:ext cx="3429000" cy="428625"/>
          </a:xfrm>
          <a:prstGeom prst="rect">
            <a:avLst/>
          </a:prstGeom>
          <a:noFill/>
          <a:ln/>
        </p:spPr>
        <p:txBody>
          <a:bodyPr wrap="none" lIns="0" tIns="0" rIns="0" bIns="0" rtlCol="0" anchor="t"/>
          <a:lstStyle/>
          <a:p>
            <a:pPr marL="0" indent="0" algn="l">
              <a:lnSpc>
                <a:spcPts val="335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User Feedback</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29E7199D-D5F0-95A0-6BF5-773C7C3E05A0}"/>
              </a:ext>
            </a:extLst>
          </p:cNvPr>
          <p:cNvSpPr txBox="1"/>
          <p:nvPr/>
        </p:nvSpPr>
        <p:spPr>
          <a:xfrm>
            <a:off x="396329" y="4786404"/>
            <a:ext cx="8863385" cy="336118"/>
          </a:xfrm>
          <a:prstGeom prst="rect">
            <a:avLst/>
          </a:prstGeom>
          <a:noFill/>
        </p:spPr>
        <p:txBody>
          <a:bodyPr wrap="square">
            <a:spAutoFit/>
          </a:bodyPr>
          <a:lstStyle/>
          <a:p>
            <a:pPr algn="just">
              <a:lnSpc>
                <a:spcPct val="150000"/>
              </a:lnSpc>
            </a:pPr>
            <a:r>
              <a:rPr lang="en-US" sz="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Vidara S V |  IT22299048  |  </a:t>
            </a:r>
            <a:r>
              <a:rPr lang="en-US" sz="1200" kern="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R26-CS-011</a:t>
            </a:r>
            <a:endParaRPr lang="en-US" sz="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0E1196E3-E77C-CAFD-BB1B-C4B4BFC6E783}"/>
              </a:ext>
            </a:extLst>
          </p:cNvPr>
          <p:cNvSpPr txBox="1"/>
          <p:nvPr/>
        </p:nvSpPr>
        <p:spPr>
          <a:xfrm>
            <a:off x="8001000" y="4753190"/>
            <a:ext cx="1096524" cy="369332"/>
          </a:xfrm>
          <a:prstGeom prst="rect">
            <a:avLst/>
          </a:prstGeom>
          <a:solidFill>
            <a:srgbClr val="0A0B21"/>
          </a:solidFill>
        </p:spPr>
        <p:txBody>
          <a:bodyPr wrap="square" rtlCol="0">
            <a:spAutoFit/>
          </a:bodyPr>
          <a:lstStyle/>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655320" y="1724011"/>
            <a:ext cx="7833360" cy="1714500"/>
          </a:xfrm>
          <a:prstGeom prst="rect">
            <a:avLst/>
          </a:prstGeom>
          <a:noFill/>
          <a:ln/>
        </p:spPr>
        <p:txBody>
          <a:bodyPr wrap="square" lIns="0" tIns="0" rIns="0" bIns="0" rtlCol="0" anchor="t"/>
          <a:lstStyle/>
          <a:p>
            <a:pPr marL="0" indent="0" algn="ctr">
              <a:lnSpc>
                <a:spcPts val="3350"/>
              </a:lnSpc>
              <a:buNone/>
            </a:pPr>
            <a:r>
              <a:rPr lang="en-US" sz="320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Explainable AI-Based Steganographic Image Detection in Email Attachments</a:t>
            </a:r>
            <a:endParaRPr lang="en-US" sz="32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Text 3"/>
          <p:cNvSpPr/>
          <p:nvPr/>
        </p:nvSpPr>
        <p:spPr>
          <a:xfrm>
            <a:off x="1934483" y="2954075"/>
            <a:ext cx="4634954" cy="246906"/>
          </a:xfrm>
          <a:prstGeom prst="rect">
            <a:avLst/>
          </a:prstGeom>
          <a:noFill/>
          <a:ln/>
        </p:spPr>
        <p:txBody>
          <a:bodyPr wrap="none" lIns="0" tIns="0" rIns="0" bIns="0" rtlCol="0" anchor="t"/>
          <a:lstStyle/>
          <a:p>
            <a:pPr>
              <a:lnSpc>
                <a:spcPts val="1900"/>
              </a:lnSpc>
            </a:pP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Name:</a:t>
            </a: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 Priyadewa P D J C  |  </a:t>
            </a: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Student ID:</a:t>
            </a: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 IT22628718 |   </a:t>
            </a: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Specialization:</a:t>
            </a: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 Cybersecurity  </a:t>
            </a:r>
            <a:endParaRPr lang="en-US" sz="1200" dirty="0">
              <a:latin typeface="Times New Roman" panose="02020603050405020304" pitchFamily="18" charset="0"/>
              <a:cs typeface="Times New Roman" panose="02020603050405020304" pitchFamily="18" charset="0"/>
            </a:endParaRPr>
          </a:p>
        </p:txBody>
      </p:sp>
      <p:sp>
        <p:nvSpPr>
          <p:cNvPr id="8" name="Text 4">
            <a:extLst>
              <a:ext uri="{FF2B5EF4-FFF2-40B4-BE49-F238E27FC236}">
                <a16:creationId xmlns:a16="http://schemas.microsoft.com/office/drawing/2014/main" id="{5463FA6A-E40C-7C48-A470-35FEC19BEE3E}"/>
              </a:ext>
            </a:extLst>
          </p:cNvPr>
          <p:cNvSpPr/>
          <p:nvPr/>
        </p:nvSpPr>
        <p:spPr>
          <a:xfrm>
            <a:off x="2660315" y="3412957"/>
            <a:ext cx="4613672" cy="251817"/>
          </a:xfrm>
          <a:prstGeom prst="rect">
            <a:avLst/>
          </a:prstGeom>
          <a:noFill/>
          <a:ln/>
        </p:spPr>
        <p:txBody>
          <a:bodyPr wrap="none" lIns="0" tIns="0" rIns="0" bIns="0" rtlCol="0" anchor="t"/>
          <a:lstStyle/>
          <a:p>
            <a:pPr marL="0" indent="0" algn="l">
              <a:lnSpc>
                <a:spcPts val="1950"/>
              </a:lnSpc>
              <a:buNone/>
            </a:pPr>
            <a:r>
              <a:rPr lang="en-US" sz="1200" b="1" dirty="0">
                <a:solidFill>
                  <a:srgbClr val="DAD8E9"/>
                </a:solidFill>
                <a:latin typeface="Times New Roman" panose="02020603050405020304" pitchFamily="18" charset="0"/>
                <a:ea typeface="Mukta Light" pitchFamily="34" charset="-122"/>
                <a:cs typeface="Times New Roman" panose="02020603050405020304" pitchFamily="18" charset="0"/>
              </a:rPr>
              <a:t>Project ID:</a:t>
            </a:r>
            <a:r>
              <a:rPr lang="en-US" sz="1200" dirty="0">
                <a:solidFill>
                  <a:srgbClr val="DAD8E9"/>
                </a:solidFill>
                <a:latin typeface="Times New Roman" panose="02020603050405020304" pitchFamily="18" charset="0"/>
                <a:ea typeface="Mukta Light" pitchFamily="34" charset="-122"/>
                <a:cs typeface="Times New Roman" panose="02020603050405020304" pitchFamily="18" charset="0"/>
              </a:rPr>
              <a:t> R26-CS-011  |  SLIIT — Faculty of Computing</a:t>
            </a:r>
            <a:endParaRPr lang="en-US" sz="1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F7B23A5-4EEE-2B5E-37FB-33361E858190}"/>
              </a:ext>
            </a:extLst>
          </p:cNvPr>
          <p:cNvSpPr txBox="1"/>
          <p:nvPr/>
        </p:nvSpPr>
        <p:spPr>
          <a:xfrm>
            <a:off x="8001000" y="4753190"/>
            <a:ext cx="1096524" cy="369332"/>
          </a:xfrm>
          <a:prstGeom prst="rect">
            <a:avLst/>
          </a:prstGeom>
          <a:solidFill>
            <a:srgbClr val="0A0B21"/>
          </a:solidFill>
        </p:spPr>
        <p:txBody>
          <a:bodyPr wrap="square" rtlCol="0">
            <a:spAutoFit/>
          </a:bodyPr>
          <a:lstStyle/>
          <a:p>
            <a:endParaRPr lang="en-US" dirty="0"/>
          </a:p>
        </p:txBody>
      </p:sp>
      <p:pic>
        <p:nvPicPr>
          <p:cNvPr id="10" name="Picture 9">
            <a:extLst>
              <a:ext uri="{FF2B5EF4-FFF2-40B4-BE49-F238E27FC236}">
                <a16:creationId xmlns:a16="http://schemas.microsoft.com/office/drawing/2014/main" id="{26587E4B-7F2B-A4A3-9269-4E0470376D1F}"/>
              </a:ext>
            </a:extLst>
          </p:cNvPr>
          <p:cNvPicPr>
            <a:picLocks noChangeAspect="1"/>
          </p:cNvPicPr>
          <p:nvPr/>
        </p:nvPicPr>
        <p:blipFill>
          <a:blip r:embed="rId3"/>
          <a:stretch>
            <a:fillRect/>
          </a:stretch>
        </p:blipFill>
        <p:spPr>
          <a:xfrm>
            <a:off x="7922811" y="285855"/>
            <a:ext cx="784570" cy="1009546"/>
          </a:xfrm>
          <a:prstGeom prst="ellipse">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569" y="294158"/>
            <a:ext cx="8169176" cy="375047"/>
          </a:xfrm>
          <a:prstGeom prst="rect">
            <a:avLst/>
          </a:prstGeom>
          <a:noFill/>
          <a:ln/>
        </p:spPr>
        <p:txBody>
          <a:bodyPr wrap="none" lIns="0" tIns="0" rIns="0" bIns="0" rtlCol="0" anchor="t"/>
          <a:lstStyle/>
          <a:p>
            <a:pPr marL="0" indent="0" algn="l">
              <a:lnSpc>
                <a:spcPts val="295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Problem Statement, Research Gap &amp; Proposed Solution</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1"/>
          <p:cNvSpPr/>
          <p:nvPr/>
        </p:nvSpPr>
        <p:spPr>
          <a:xfrm>
            <a:off x="472529" y="1023565"/>
            <a:ext cx="1500188" cy="187523"/>
          </a:xfrm>
          <a:prstGeom prst="rect">
            <a:avLst/>
          </a:prstGeom>
          <a:noFill/>
          <a:ln/>
        </p:spPr>
        <p:txBody>
          <a:bodyPr wrap="none" lIns="0" tIns="0" rIns="0" bIns="0" rtlCol="0" anchor="t"/>
          <a:lstStyle/>
          <a:p>
            <a:pPr marL="0" indent="0" algn="l">
              <a:lnSpc>
                <a:spcPts val="1450"/>
              </a:lnSpc>
              <a:buNone/>
            </a:pPr>
            <a:r>
              <a:rPr lang="en-US" sz="1150" dirty="0">
                <a:solidFill>
                  <a:srgbClr val="C6BFEE"/>
                </a:solidFill>
                <a:latin typeface="Times New Roman" panose="02020603050405020304" pitchFamily="18" charset="0"/>
                <a:ea typeface="Prompt Medium" pitchFamily="34" charset="-122"/>
                <a:cs typeface="Times New Roman" panose="02020603050405020304" pitchFamily="18" charset="0"/>
              </a:rPr>
              <a:t>Problem Statement</a:t>
            </a:r>
            <a:endParaRPr lang="en-US" sz="1150" dirty="0">
              <a:latin typeface="Times New Roman" panose="02020603050405020304" pitchFamily="18" charset="0"/>
              <a:cs typeface="Times New Roman" panose="02020603050405020304" pitchFamily="18" charset="0"/>
            </a:endParaRPr>
          </a:p>
        </p:txBody>
      </p:sp>
      <p:sp>
        <p:nvSpPr>
          <p:cNvPr id="4" name="Text 2"/>
          <p:cNvSpPr/>
          <p:nvPr/>
        </p:nvSpPr>
        <p:spPr>
          <a:xfrm>
            <a:off x="472529" y="1388269"/>
            <a:ext cx="8198941" cy="690042"/>
          </a:xfrm>
          <a:prstGeom prst="rect">
            <a:avLst/>
          </a:prstGeom>
          <a:noFill/>
          <a:ln/>
        </p:spPr>
        <p:txBody>
          <a:bodyPr wrap="square" lIns="0" tIns="0" rIns="0" bIns="0" rtlCol="0" anchor="t"/>
          <a:lstStyle/>
          <a:p>
            <a:pPr marL="342900" indent="-342900" algn="l">
              <a:lnSpc>
                <a:spcPts val="1550"/>
              </a:lnSpc>
              <a:buSzPct val="100000"/>
              <a:buChar char="•"/>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Steganographic images can hide unauthorized or malicious data inside email attachments</a:t>
            </a:r>
            <a:endParaRPr lang="en-US" sz="1050" dirty="0">
              <a:latin typeface="Times New Roman" panose="02020603050405020304" pitchFamily="18" charset="0"/>
              <a:cs typeface="Times New Roman" panose="02020603050405020304" pitchFamily="18" charset="0"/>
            </a:endParaRPr>
          </a:p>
          <a:p>
            <a:pPr marL="342900" indent="-342900" algn="l">
              <a:lnSpc>
                <a:spcPts val="1550"/>
              </a:lnSpc>
              <a:buSzPct val="100000"/>
              <a:buChar char="•"/>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Existing steganalysis research focuses on controlled experimental environments</a:t>
            </a:r>
            <a:endParaRPr lang="en-US" sz="1050" dirty="0">
              <a:latin typeface="Times New Roman" panose="02020603050405020304" pitchFamily="18" charset="0"/>
              <a:cs typeface="Times New Roman" panose="02020603050405020304" pitchFamily="18" charset="0"/>
            </a:endParaRPr>
          </a:p>
          <a:p>
            <a:pPr marL="342900" indent="-342900" algn="l">
              <a:lnSpc>
                <a:spcPts val="1550"/>
              </a:lnSpc>
              <a:buSzPct val="100000"/>
              <a:buChar char="•"/>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Limited focus on practical deployment, XAI integration, and analyst-oriented visualization</a:t>
            </a:r>
            <a:endParaRPr lang="en-US" sz="1050" dirty="0">
              <a:latin typeface="Times New Roman" panose="02020603050405020304" pitchFamily="18" charset="0"/>
              <a:cs typeface="Times New Roman" panose="02020603050405020304" pitchFamily="18" charset="0"/>
            </a:endParaRPr>
          </a:p>
        </p:txBody>
      </p:sp>
      <p:sp>
        <p:nvSpPr>
          <p:cNvPr id="5" name="Text 3"/>
          <p:cNvSpPr/>
          <p:nvPr/>
        </p:nvSpPr>
        <p:spPr>
          <a:xfrm>
            <a:off x="472529" y="2255490"/>
            <a:ext cx="1500188" cy="187523"/>
          </a:xfrm>
          <a:prstGeom prst="rect">
            <a:avLst/>
          </a:prstGeom>
          <a:noFill/>
          <a:ln/>
        </p:spPr>
        <p:txBody>
          <a:bodyPr wrap="none" lIns="0" tIns="0" rIns="0" bIns="0" rtlCol="0" anchor="t"/>
          <a:lstStyle/>
          <a:p>
            <a:pPr marL="0" indent="0" algn="l">
              <a:lnSpc>
                <a:spcPts val="1450"/>
              </a:lnSpc>
              <a:buNone/>
            </a:pPr>
            <a:r>
              <a:rPr lang="en-US" sz="1150" dirty="0">
                <a:solidFill>
                  <a:srgbClr val="C6BFEE"/>
                </a:solidFill>
                <a:latin typeface="Times New Roman" panose="02020603050405020304" pitchFamily="18" charset="0"/>
                <a:ea typeface="Prompt Medium" pitchFamily="34" charset="-122"/>
                <a:cs typeface="Times New Roman" panose="02020603050405020304" pitchFamily="18" charset="0"/>
              </a:rPr>
              <a:t>Research Gap</a:t>
            </a:r>
            <a:endParaRPr lang="en-US" sz="1150" dirty="0">
              <a:latin typeface="Times New Roman" panose="02020603050405020304" pitchFamily="18" charset="0"/>
              <a:cs typeface="Times New Roman" panose="02020603050405020304" pitchFamily="18" charset="0"/>
            </a:endParaRPr>
          </a:p>
        </p:txBody>
      </p:sp>
      <p:sp>
        <p:nvSpPr>
          <p:cNvPr id="6" name="Text 4"/>
          <p:cNvSpPr/>
          <p:nvPr/>
        </p:nvSpPr>
        <p:spPr>
          <a:xfrm>
            <a:off x="472529" y="2620194"/>
            <a:ext cx="8198941" cy="690042"/>
          </a:xfrm>
          <a:prstGeom prst="rect">
            <a:avLst/>
          </a:prstGeom>
          <a:noFill/>
          <a:ln/>
        </p:spPr>
        <p:txBody>
          <a:bodyPr wrap="square" lIns="0" tIns="0" rIns="0" bIns="0" rtlCol="0" anchor="t"/>
          <a:lstStyle/>
          <a:p>
            <a:pPr marL="342900" indent="-342900" algn="l">
              <a:lnSpc>
                <a:spcPts val="1550"/>
              </a:lnSpc>
              <a:buSzPct val="100000"/>
              <a:buChar char="•"/>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Email security solutions and steganalysis techniques exist independently</a:t>
            </a:r>
            <a:endParaRPr lang="en-US" sz="1050" dirty="0">
              <a:latin typeface="Times New Roman" panose="02020603050405020304" pitchFamily="18" charset="0"/>
              <a:cs typeface="Times New Roman" panose="02020603050405020304" pitchFamily="18" charset="0"/>
            </a:endParaRPr>
          </a:p>
          <a:p>
            <a:pPr marL="342900" indent="-342900" algn="l">
              <a:lnSpc>
                <a:spcPts val="1550"/>
              </a:lnSpc>
              <a:buSzPct val="100000"/>
              <a:buChar char="•"/>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No integration of Explainable AI-driven detection in email inspection workflows</a:t>
            </a:r>
            <a:endParaRPr lang="en-US" sz="1050" dirty="0">
              <a:latin typeface="Times New Roman" panose="02020603050405020304" pitchFamily="18" charset="0"/>
              <a:cs typeface="Times New Roman" panose="02020603050405020304" pitchFamily="18" charset="0"/>
            </a:endParaRPr>
          </a:p>
          <a:p>
            <a:pPr marL="342900" indent="-342900" algn="l">
              <a:lnSpc>
                <a:spcPts val="1550"/>
              </a:lnSpc>
              <a:buSzPct val="100000"/>
              <a:buChar char="•"/>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Lack of analyst-friendly visualization &amp; privacy-preserving selective analysis</a:t>
            </a:r>
            <a:endParaRPr lang="en-US" sz="1050" dirty="0">
              <a:latin typeface="Times New Roman" panose="02020603050405020304" pitchFamily="18" charset="0"/>
              <a:cs typeface="Times New Roman" panose="02020603050405020304" pitchFamily="18" charset="0"/>
            </a:endParaRPr>
          </a:p>
        </p:txBody>
      </p:sp>
      <p:sp>
        <p:nvSpPr>
          <p:cNvPr id="7" name="Text 5"/>
          <p:cNvSpPr/>
          <p:nvPr/>
        </p:nvSpPr>
        <p:spPr>
          <a:xfrm>
            <a:off x="472529" y="3487415"/>
            <a:ext cx="1500188" cy="187523"/>
          </a:xfrm>
          <a:prstGeom prst="rect">
            <a:avLst/>
          </a:prstGeom>
          <a:noFill/>
          <a:ln/>
        </p:spPr>
        <p:txBody>
          <a:bodyPr wrap="none" lIns="0" tIns="0" rIns="0" bIns="0" rtlCol="0" anchor="t"/>
          <a:lstStyle/>
          <a:p>
            <a:pPr marL="0" indent="0" algn="l">
              <a:lnSpc>
                <a:spcPts val="1450"/>
              </a:lnSpc>
              <a:buNone/>
            </a:pPr>
            <a:r>
              <a:rPr lang="en-US" sz="1150" dirty="0">
                <a:solidFill>
                  <a:srgbClr val="C6BFEE"/>
                </a:solidFill>
                <a:latin typeface="Times New Roman" panose="02020603050405020304" pitchFamily="18" charset="0"/>
                <a:ea typeface="Prompt Medium" pitchFamily="34" charset="-122"/>
                <a:cs typeface="Times New Roman" panose="02020603050405020304" pitchFamily="18" charset="0"/>
              </a:rPr>
              <a:t>Proposed Solution</a:t>
            </a:r>
            <a:endParaRPr lang="en-US" sz="1150" dirty="0">
              <a:latin typeface="Times New Roman" panose="02020603050405020304" pitchFamily="18" charset="0"/>
              <a:cs typeface="Times New Roman" panose="02020603050405020304" pitchFamily="18" charset="0"/>
            </a:endParaRPr>
          </a:p>
        </p:txBody>
      </p:sp>
      <p:sp>
        <p:nvSpPr>
          <p:cNvPr id="8" name="Text 6"/>
          <p:cNvSpPr/>
          <p:nvPr/>
        </p:nvSpPr>
        <p:spPr>
          <a:xfrm>
            <a:off x="472529" y="3852118"/>
            <a:ext cx="8198941" cy="690042"/>
          </a:xfrm>
          <a:prstGeom prst="rect">
            <a:avLst/>
          </a:prstGeom>
          <a:noFill/>
          <a:ln/>
        </p:spPr>
        <p:txBody>
          <a:bodyPr wrap="square" lIns="0" tIns="0" rIns="0" bIns="0" rtlCol="0" anchor="t"/>
          <a:lstStyle/>
          <a:p>
            <a:pPr marL="342900" indent="-342900" algn="l">
              <a:lnSpc>
                <a:spcPts val="1550"/>
              </a:lnSpc>
              <a:buSzPct val="100000"/>
              <a:buChar char="•"/>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AI-driven system accepts .eml files, extracts image attachments</a:t>
            </a:r>
            <a:endParaRPr lang="en-US" sz="1050" dirty="0">
              <a:latin typeface="Times New Roman" panose="02020603050405020304" pitchFamily="18" charset="0"/>
              <a:cs typeface="Times New Roman" panose="02020603050405020304" pitchFamily="18" charset="0"/>
            </a:endParaRPr>
          </a:p>
          <a:p>
            <a:pPr marL="342900" indent="-342900" algn="l">
              <a:lnSpc>
                <a:spcPts val="1550"/>
              </a:lnSpc>
              <a:buSzPct val="100000"/>
              <a:buChar char="•"/>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Detects steganographic content &amp; classifies steganography techniques</a:t>
            </a:r>
            <a:endParaRPr lang="en-US" sz="1050" dirty="0">
              <a:latin typeface="Times New Roman" panose="02020603050405020304" pitchFamily="18" charset="0"/>
              <a:cs typeface="Times New Roman" panose="02020603050405020304" pitchFamily="18" charset="0"/>
            </a:endParaRPr>
          </a:p>
          <a:p>
            <a:pPr marL="342900" indent="-342900" algn="l">
              <a:lnSpc>
                <a:spcPts val="1550"/>
              </a:lnSpc>
              <a:buSzPct val="100000"/>
              <a:buChar char="•"/>
            </a:pPr>
            <a:r>
              <a:rPr lang="en-US" sz="1050" dirty="0">
                <a:solidFill>
                  <a:srgbClr val="DAD8E9"/>
                </a:solidFill>
                <a:latin typeface="Times New Roman" panose="02020603050405020304" pitchFamily="18" charset="0"/>
                <a:ea typeface="Mukta Light" pitchFamily="34" charset="-122"/>
                <a:cs typeface="Times New Roman" panose="02020603050405020304" pitchFamily="18" charset="0"/>
              </a:rPr>
              <a:t>Generates SHAP explainability visualizations via interactive cybersecurity dashboard</a:t>
            </a:r>
            <a:endParaRPr lang="en-US" sz="105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8442A47-01C1-40D9-09DD-90A29B314925}"/>
              </a:ext>
            </a:extLst>
          </p:cNvPr>
          <p:cNvSpPr txBox="1"/>
          <p:nvPr/>
        </p:nvSpPr>
        <p:spPr>
          <a:xfrm>
            <a:off x="8001000" y="4753190"/>
            <a:ext cx="1096524" cy="369332"/>
          </a:xfrm>
          <a:prstGeom prst="rect">
            <a:avLst/>
          </a:prstGeom>
          <a:solidFill>
            <a:srgbClr val="0A0B21"/>
          </a:solidFill>
        </p:spPr>
        <p:txBody>
          <a:bodyPr wrap="square" rtlCol="0">
            <a:spAutoFit/>
          </a:bodyPr>
          <a:lstStyle/>
          <a:p>
            <a:endParaRPr lang="en-US" dirty="0"/>
          </a:p>
        </p:txBody>
      </p:sp>
      <p:sp>
        <p:nvSpPr>
          <p:cNvPr id="10" name="TextBox 9">
            <a:extLst>
              <a:ext uri="{FF2B5EF4-FFF2-40B4-BE49-F238E27FC236}">
                <a16:creationId xmlns:a16="http://schemas.microsoft.com/office/drawing/2014/main" id="{960FEB39-1041-A344-B5DD-DDB3505C9816}"/>
              </a:ext>
            </a:extLst>
          </p:cNvPr>
          <p:cNvSpPr txBox="1"/>
          <p:nvPr/>
        </p:nvSpPr>
        <p:spPr>
          <a:xfrm>
            <a:off x="396329" y="4786404"/>
            <a:ext cx="8863385" cy="336118"/>
          </a:xfrm>
          <a:prstGeom prst="rect">
            <a:avLst/>
          </a:prstGeom>
          <a:noFill/>
        </p:spPr>
        <p:txBody>
          <a:bodyPr wrap="square">
            <a:spAutoFit/>
          </a:bodyPr>
          <a:lstStyle/>
          <a:p>
            <a:pPr algn="just">
              <a:lnSpc>
                <a:spcPct val="150000"/>
              </a:lnSpc>
            </a:pPr>
            <a:r>
              <a:rPr lang="en-US" sz="1200" dirty="0">
                <a:solidFill>
                  <a:schemeClr val="bg1"/>
                </a:solidFill>
                <a:latin typeface="Times New Roman" panose="02020603050405020304" pitchFamily="18" charset="0"/>
                <a:cs typeface="Times New Roman" panose="02020603050405020304" pitchFamily="18" charset="0"/>
              </a:rPr>
              <a:t>Priyadewa P D J C   </a:t>
            </a:r>
            <a:r>
              <a:rPr lang="en-US" sz="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  </a:t>
            </a:r>
            <a:r>
              <a:rPr lang="en-US" sz="1200" dirty="0">
                <a:solidFill>
                  <a:schemeClr val="bg1"/>
                </a:solidFill>
                <a:latin typeface="Times New Roman" panose="02020603050405020304" pitchFamily="18" charset="0"/>
                <a:cs typeface="Times New Roman" panose="02020603050405020304" pitchFamily="18" charset="0"/>
              </a:rPr>
              <a:t>IT22628718</a:t>
            </a:r>
            <a:r>
              <a:rPr lang="en-US" sz="1200" dirty="0">
                <a:solidFill>
                  <a:schemeClr val="bg1"/>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 </a:t>
            </a:r>
            <a:r>
              <a:rPr lang="en-US" sz="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 |  </a:t>
            </a:r>
            <a:r>
              <a:rPr lang="en-US" sz="1200" kern="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R26-CS-011</a:t>
            </a:r>
            <a:endParaRPr lang="en-US" sz="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0916" y="190897"/>
            <a:ext cx="3482132" cy="247799"/>
          </a:xfrm>
          <a:prstGeom prst="rect">
            <a:avLst/>
          </a:prstGeom>
          <a:noFill/>
          <a:ln/>
        </p:spPr>
        <p:txBody>
          <a:bodyPr wrap="none" lIns="0" tIns="0" rIns="0" bIns="0" rtlCol="0" anchor="t"/>
          <a:lstStyle/>
          <a:p>
            <a:pPr marL="0" indent="0" algn="l">
              <a:lnSpc>
                <a:spcPts val="195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System Architecture &amp; Components</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1578420" y="484202"/>
            <a:ext cx="5401500" cy="2333137"/>
          </a:xfrm>
          <a:prstGeom prst="rect">
            <a:avLst/>
          </a:prstGeom>
        </p:spPr>
      </p:pic>
      <p:sp>
        <p:nvSpPr>
          <p:cNvPr id="4" name="Text 1"/>
          <p:cNvSpPr/>
          <p:nvPr/>
        </p:nvSpPr>
        <p:spPr>
          <a:xfrm>
            <a:off x="2896988" y="1987478"/>
            <a:ext cx="802023" cy="126706"/>
          </a:xfrm>
          <a:prstGeom prst="rect">
            <a:avLst/>
          </a:prstGeom>
          <a:noFill/>
          <a:ln/>
        </p:spPr>
        <p:txBody>
          <a:bodyPr wrap="none" lIns="0" tIns="0" rIns="0" bIns="0" rtlCol="0" anchor="t"/>
          <a:lstStyle/>
          <a:p>
            <a:pPr marL="0" indent="0" algn="ctr">
              <a:lnSpc>
                <a:spcPts val="100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Parse &amp; Extract</a:t>
            </a:r>
            <a:endParaRPr lang="en-US" sz="900" dirty="0">
              <a:latin typeface="Times New Roman" panose="02020603050405020304" pitchFamily="18" charset="0"/>
              <a:cs typeface="Times New Roman" panose="02020603050405020304" pitchFamily="18" charset="0"/>
            </a:endParaRPr>
          </a:p>
        </p:txBody>
      </p:sp>
      <p:sp>
        <p:nvSpPr>
          <p:cNvPr id="5" name="Text 2"/>
          <p:cNvSpPr/>
          <p:nvPr/>
        </p:nvSpPr>
        <p:spPr>
          <a:xfrm>
            <a:off x="2868042" y="2228280"/>
            <a:ext cx="802023" cy="179924"/>
          </a:xfrm>
          <a:prstGeom prst="rect">
            <a:avLst/>
          </a:prstGeom>
          <a:noFill/>
          <a:ln/>
        </p:spPr>
        <p:txBody>
          <a:bodyPr wrap="square" lIns="0" tIns="0" rIns="0" bIns="0" rtlCol="0" anchor="t"/>
          <a:lstStyle/>
          <a:p>
            <a:pPr marL="0" indent="0" algn="ctr">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Parse email and extract</a:t>
            </a:r>
          </a:p>
          <a:p>
            <a:pPr marL="0" indent="0" algn="ctr">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 attachments</a:t>
            </a:r>
            <a:endParaRPr lang="en-US" sz="900" dirty="0">
              <a:latin typeface="Times New Roman" panose="02020603050405020304" pitchFamily="18" charset="0"/>
              <a:cs typeface="Times New Roman" panose="02020603050405020304" pitchFamily="18" charset="0"/>
            </a:endParaRPr>
          </a:p>
        </p:txBody>
      </p:sp>
      <p:sp>
        <p:nvSpPr>
          <p:cNvPr id="6" name="Text 3"/>
          <p:cNvSpPr/>
          <p:nvPr/>
        </p:nvSpPr>
        <p:spPr>
          <a:xfrm>
            <a:off x="4923981" y="2049651"/>
            <a:ext cx="802023" cy="253414"/>
          </a:xfrm>
          <a:prstGeom prst="rect">
            <a:avLst/>
          </a:prstGeom>
          <a:noFill/>
          <a:ln/>
        </p:spPr>
        <p:txBody>
          <a:bodyPr wrap="square" lIns="0" tIns="0" rIns="0" bIns="0" rtlCol="0" anchor="t"/>
          <a:lstStyle/>
          <a:p>
            <a:pPr marL="0" indent="0" algn="ctr">
              <a:lnSpc>
                <a:spcPts val="1000"/>
              </a:lnSpc>
              <a:buNone/>
            </a:pPr>
            <a:r>
              <a:rPr lang="en-US" sz="900" dirty="0">
                <a:solidFill>
                  <a:srgbClr val="C6BFEE"/>
                </a:solidFill>
                <a:latin typeface="Times New Roman" panose="02020603050405020304" pitchFamily="18" charset="0"/>
                <a:ea typeface="Prompt Medium" pitchFamily="34" charset="-122"/>
                <a:cs typeface="Times New Roman" panose="02020603050405020304" pitchFamily="18" charset="0"/>
              </a:rPr>
              <a:t>Binary Detection</a:t>
            </a:r>
            <a:endParaRPr lang="en-US" sz="900" dirty="0">
              <a:latin typeface="Times New Roman" panose="02020603050405020304" pitchFamily="18" charset="0"/>
              <a:cs typeface="Times New Roman" panose="02020603050405020304" pitchFamily="18" charset="0"/>
            </a:endParaRPr>
          </a:p>
        </p:txBody>
      </p:sp>
      <p:sp>
        <p:nvSpPr>
          <p:cNvPr id="7" name="Text 4"/>
          <p:cNvSpPr/>
          <p:nvPr/>
        </p:nvSpPr>
        <p:spPr>
          <a:xfrm>
            <a:off x="4909508" y="2307013"/>
            <a:ext cx="802023" cy="179924"/>
          </a:xfrm>
          <a:prstGeom prst="rect">
            <a:avLst/>
          </a:prstGeom>
          <a:noFill/>
          <a:ln/>
        </p:spPr>
        <p:txBody>
          <a:bodyPr wrap="square" lIns="0" tIns="0" rIns="0" bIns="0" rtlCol="0" anchor="t"/>
          <a:lstStyle/>
          <a:p>
            <a:pPr marL="0" indent="0" algn="ctr">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EfficientNet-B2 binary model</a:t>
            </a:r>
            <a:endParaRPr lang="en-US" sz="900" dirty="0">
              <a:latin typeface="Times New Roman" panose="02020603050405020304" pitchFamily="18" charset="0"/>
              <a:cs typeface="Times New Roman" panose="02020603050405020304" pitchFamily="18" charset="0"/>
            </a:endParaRPr>
          </a:p>
        </p:txBody>
      </p:sp>
      <p:sp>
        <p:nvSpPr>
          <p:cNvPr id="8" name="Text 5"/>
          <p:cNvSpPr/>
          <p:nvPr/>
        </p:nvSpPr>
        <p:spPr>
          <a:xfrm>
            <a:off x="1843612" y="636429"/>
            <a:ext cx="802023" cy="126706"/>
          </a:xfrm>
          <a:prstGeom prst="rect">
            <a:avLst/>
          </a:prstGeom>
          <a:noFill/>
          <a:ln/>
        </p:spPr>
        <p:txBody>
          <a:bodyPr wrap="none" lIns="0" tIns="0" rIns="0" bIns="0" rtlCol="0" anchor="t"/>
          <a:lstStyle/>
          <a:p>
            <a:pPr marL="0" indent="0" algn="ctr">
              <a:lnSpc>
                <a:spcPts val="100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User Upload</a:t>
            </a:r>
            <a:endParaRPr lang="en-US" sz="900" dirty="0">
              <a:latin typeface="Times New Roman" panose="02020603050405020304" pitchFamily="18" charset="0"/>
              <a:cs typeface="Times New Roman" panose="02020603050405020304" pitchFamily="18" charset="0"/>
            </a:endParaRPr>
          </a:p>
        </p:txBody>
      </p:sp>
      <p:sp>
        <p:nvSpPr>
          <p:cNvPr id="9" name="Text 6"/>
          <p:cNvSpPr/>
          <p:nvPr/>
        </p:nvSpPr>
        <p:spPr>
          <a:xfrm>
            <a:off x="1843612" y="810039"/>
            <a:ext cx="802023" cy="179924"/>
          </a:xfrm>
          <a:prstGeom prst="rect">
            <a:avLst/>
          </a:prstGeom>
          <a:noFill/>
          <a:ln/>
        </p:spPr>
        <p:txBody>
          <a:bodyPr wrap="square" lIns="0" tIns="0" rIns="0" bIns="0" rtlCol="0" anchor="t"/>
          <a:lstStyle/>
          <a:p>
            <a:pPr marL="0" indent="0" algn="ctr">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Upload .eml email file</a:t>
            </a:r>
            <a:endParaRPr lang="en-US" sz="900" dirty="0">
              <a:latin typeface="Times New Roman" panose="02020603050405020304" pitchFamily="18" charset="0"/>
              <a:cs typeface="Times New Roman" panose="02020603050405020304" pitchFamily="18" charset="0"/>
            </a:endParaRPr>
          </a:p>
        </p:txBody>
      </p:sp>
      <p:sp>
        <p:nvSpPr>
          <p:cNvPr id="10" name="Text 7"/>
          <p:cNvSpPr/>
          <p:nvPr/>
        </p:nvSpPr>
        <p:spPr>
          <a:xfrm>
            <a:off x="5956348" y="672493"/>
            <a:ext cx="802023" cy="253414"/>
          </a:xfrm>
          <a:prstGeom prst="rect">
            <a:avLst/>
          </a:prstGeom>
          <a:noFill/>
          <a:ln/>
        </p:spPr>
        <p:txBody>
          <a:bodyPr wrap="square" lIns="0" tIns="0" rIns="0" bIns="0" rtlCol="0" anchor="t"/>
          <a:lstStyle/>
          <a:p>
            <a:pPr marL="0" indent="0" algn="ctr">
              <a:lnSpc>
                <a:spcPts val="100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Multi-Class Classify</a:t>
            </a:r>
            <a:endParaRPr lang="en-US" sz="900" dirty="0">
              <a:latin typeface="Times New Roman" panose="02020603050405020304" pitchFamily="18" charset="0"/>
              <a:cs typeface="Times New Roman" panose="02020603050405020304" pitchFamily="18" charset="0"/>
            </a:endParaRPr>
          </a:p>
        </p:txBody>
      </p:sp>
      <p:sp>
        <p:nvSpPr>
          <p:cNvPr id="11" name="Text 8"/>
          <p:cNvSpPr/>
          <p:nvPr/>
        </p:nvSpPr>
        <p:spPr>
          <a:xfrm>
            <a:off x="5924017" y="1003056"/>
            <a:ext cx="802023" cy="269885"/>
          </a:xfrm>
          <a:prstGeom prst="rect">
            <a:avLst/>
          </a:prstGeom>
          <a:noFill/>
          <a:ln/>
        </p:spPr>
        <p:txBody>
          <a:bodyPr wrap="square" lIns="0" tIns="0" rIns="0" bIns="0" rtlCol="0" anchor="t"/>
          <a:lstStyle/>
          <a:p>
            <a:pPr marL="0" indent="0" algn="ctr">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EfficientNet-B2 technique classification</a:t>
            </a:r>
            <a:endParaRPr lang="en-US" sz="900" dirty="0">
              <a:latin typeface="Times New Roman" panose="02020603050405020304" pitchFamily="18" charset="0"/>
              <a:cs typeface="Times New Roman" panose="02020603050405020304" pitchFamily="18" charset="0"/>
            </a:endParaRPr>
          </a:p>
        </p:txBody>
      </p:sp>
      <p:sp>
        <p:nvSpPr>
          <p:cNvPr id="12" name="Text 9"/>
          <p:cNvSpPr/>
          <p:nvPr/>
        </p:nvSpPr>
        <p:spPr>
          <a:xfrm>
            <a:off x="3939995" y="636430"/>
            <a:ext cx="802023" cy="253414"/>
          </a:xfrm>
          <a:prstGeom prst="rect">
            <a:avLst/>
          </a:prstGeom>
          <a:noFill/>
          <a:ln/>
        </p:spPr>
        <p:txBody>
          <a:bodyPr wrap="square" lIns="0" tIns="0" rIns="0" bIns="0" rtlCol="0" anchor="t"/>
          <a:lstStyle/>
          <a:p>
            <a:pPr marL="0" indent="0" algn="ctr">
              <a:lnSpc>
                <a:spcPts val="1000"/>
              </a:lnSpc>
              <a:buNone/>
            </a:pPr>
            <a:r>
              <a:rPr lang="en-US" sz="900" dirty="0">
                <a:solidFill>
                  <a:srgbClr val="C6BFEE"/>
                </a:solidFill>
                <a:latin typeface="Times New Roman" panose="02020603050405020304" pitchFamily="18" charset="0"/>
                <a:ea typeface="Prompt Medium" pitchFamily="34" charset="-122"/>
                <a:cs typeface="Times New Roman" panose="02020603050405020304" pitchFamily="18" charset="0"/>
              </a:rPr>
              <a:t>Preprocess Images</a:t>
            </a:r>
            <a:endParaRPr lang="en-US" sz="900" dirty="0">
              <a:latin typeface="Times New Roman" panose="02020603050405020304" pitchFamily="18" charset="0"/>
              <a:cs typeface="Times New Roman" panose="02020603050405020304" pitchFamily="18" charset="0"/>
            </a:endParaRPr>
          </a:p>
        </p:txBody>
      </p:sp>
      <p:sp>
        <p:nvSpPr>
          <p:cNvPr id="13" name="Text 10"/>
          <p:cNvSpPr/>
          <p:nvPr/>
        </p:nvSpPr>
        <p:spPr>
          <a:xfrm>
            <a:off x="3939995" y="941561"/>
            <a:ext cx="802023" cy="179924"/>
          </a:xfrm>
          <a:prstGeom prst="rect">
            <a:avLst/>
          </a:prstGeom>
          <a:noFill/>
          <a:ln/>
        </p:spPr>
        <p:txBody>
          <a:bodyPr wrap="square" lIns="0" tIns="0" rIns="0" bIns="0" rtlCol="0" anchor="t"/>
          <a:lstStyle/>
          <a:p>
            <a:pPr marL="0" indent="0" algn="ctr">
              <a:buNone/>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Normalize and prepare images</a:t>
            </a:r>
            <a:endParaRPr lang="en-US" sz="900" dirty="0">
              <a:latin typeface="Times New Roman" panose="02020603050405020304" pitchFamily="18" charset="0"/>
              <a:cs typeface="Times New Roman" panose="02020603050405020304" pitchFamily="18" charset="0"/>
            </a:endParaRPr>
          </a:p>
        </p:txBody>
      </p:sp>
      <p:sp>
        <p:nvSpPr>
          <p:cNvPr id="14" name="Text 11"/>
          <p:cNvSpPr/>
          <p:nvPr/>
        </p:nvSpPr>
        <p:spPr>
          <a:xfrm>
            <a:off x="508126" y="2869103"/>
            <a:ext cx="8209154" cy="225177"/>
          </a:xfrm>
          <a:prstGeom prst="rect">
            <a:avLst/>
          </a:prstGeom>
          <a:noFill/>
          <a:ln/>
        </p:spPr>
        <p:txBody>
          <a:bodyPr wrap="square" lIns="0" tIns="0" rIns="0" bIns="0" rtlCol="0" anchor="t"/>
          <a:lstStyle/>
          <a:p>
            <a:pPr marL="0" indent="0" algn="l">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The end-to-end pipeline processes uploaded email files, detects steganographic content, classifies the technique used, and presents explainable results on an interactive dashboard.</a:t>
            </a:r>
            <a:endParaRPr lang="en-US" sz="1000" dirty="0">
              <a:latin typeface="Times New Roman" panose="02020603050405020304" pitchFamily="18" charset="0"/>
              <a:cs typeface="Times New Roman" panose="02020603050405020304" pitchFamily="18" charset="0"/>
            </a:endParaRPr>
          </a:p>
        </p:txBody>
      </p:sp>
      <p:sp>
        <p:nvSpPr>
          <p:cNvPr id="15" name="Shape 12"/>
          <p:cNvSpPr/>
          <p:nvPr/>
        </p:nvSpPr>
        <p:spPr>
          <a:xfrm>
            <a:off x="1394808" y="3263355"/>
            <a:ext cx="2709863" cy="716384"/>
          </a:xfrm>
          <a:prstGeom prst="roundRect">
            <a:avLst>
              <a:gd name="adj" fmla="val 5230"/>
            </a:avLst>
          </a:prstGeom>
          <a:solidFill>
            <a:srgbClr val="542C49"/>
          </a:solidFill>
          <a:ln w="4763">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6" name="Text 13"/>
          <p:cNvSpPr/>
          <p:nvPr/>
        </p:nvSpPr>
        <p:spPr>
          <a:xfrm>
            <a:off x="1488718" y="3357265"/>
            <a:ext cx="1200448" cy="123899"/>
          </a:xfrm>
          <a:prstGeom prst="rect">
            <a:avLst/>
          </a:prstGeom>
          <a:noFill/>
          <a:ln/>
        </p:spPr>
        <p:txBody>
          <a:bodyPr wrap="none" lIns="0" tIns="0" rIns="0" bIns="0" rtlCol="0" anchor="t"/>
          <a:lstStyle/>
          <a:p>
            <a:pPr marL="0" indent="0" algn="l">
              <a:lnSpc>
                <a:spcPts val="95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Email Processing Module</a:t>
            </a:r>
            <a:endParaRPr lang="en-US" sz="900" dirty="0">
              <a:latin typeface="Times New Roman" panose="02020603050405020304" pitchFamily="18" charset="0"/>
              <a:cs typeface="Times New Roman" panose="02020603050405020304" pitchFamily="18" charset="0"/>
            </a:endParaRPr>
          </a:p>
        </p:txBody>
      </p:sp>
      <p:sp>
        <p:nvSpPr>
          <p:cNvPr id="17" name="Text 14"/>
          <p:cNvSpPr/>
          <p:nvPr/>
        </p:nvSpPr>
        <p:spPr>
          <a:xfrm>
            <a:off x="1488718" y="3564823"/>
            <a:ext cx="2522041" cy="243185"/>
          </a:xfrm>
          <a:prstGeom prst="rect">
            <a:avLst/>
          </a:prstGeom>
          <a:noFill/>
          <a:ln/>
        </p:spPr>
        <p:txBody>
          <a:bodyPr wrap="square" lIns="0" tIns="0" rIns="0" bIns="0" rtlCol="0" anchor="t"/>
          <a:lstStyle/>
          <a:p>
            <a:pPr marL="342900" indent="-342900" algn="l">
              <a:lnSpc>
                <a:spcPts val="8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Parses uploaded .eml files</a:t>
            </a:r>
            <a:endParaRPr lang="en-US" sz="900" dirty="0">
              <a:latin typeface="Times New Roman" panose="02020603050405020304" pitchFamily="18" charset="0"/>
              <a:cs typeface="Times New Roman" panose="02020603050405020304" pitchFamily="18" charset="0"/>
            </a:endParaRPr>
          </a:p>
          <a:p>
            <a:pPr marL="342900" indent="-342900" algn="l">
              <a:lnSpc>
                <a:spcPts val="8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Extracts image attachments only</a:t>
            </a:r>
            <a:endParaRPr lang="en-US" sz="900" dirty="0">
              <a:latin typeface="Times New Roman" panose="02020603050405020304" pitchFamily="18" charset="0"/>
              <a:cs typeface="Times New Roman" panose="02020603050405020304" pitchFamily="18" charset="0"/>
            </a:endParaRPr>
          </a:p>
        </p:txBody>
      </p:sp>
      <p:sp>
        <p:nvSpPr>
          <p:cNvPr id="18" name="Shape 15"/>
          <p:cNvSpPr/>
          <p:nvPr/>
        </p:nvSpPr>
        <p:spPr>
          <a:xfrm>
            <a:off x="4970061" y="3268455"/>
            <a:ext cx="2709937" cy="716384"/>
          </a:xfrm>
          <a:prstGeom prst="roundRect">
            <a:avLst>
              <a:gd name="adj" fmla="val 5230"/>
            </a:avLst>
          </a:prstGeom>
          <a:solidFill>
            <a:srgbClr val="542C49"/>
          </a:solidFill>
          <a:ln w="4763">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19" name="Text 16"/>
          <p:cNvSpPr/>
          <p:nvPr/>
        </p:nvSpPr>
        <p:spPr>
          <a:xfrm>
            <a:off x="5063972" y="3362365"/>
            <a:ext cx="998934" cy="123899"/>
          </a:xfrm>
          <a:prstGeom prst="rect">
            <a:avLst/>
          </a:prstGeom>
          <a:noFill/>
          <a:ln/>
        </p:spPr>
        <p:txBody>
          <a:bodyPr wrap="none" lIns="0" tIns="0" rIns="0" bIns="0" rtlCol="0" anchor="t"/>
          <a:lstStyle/>
          <a:p>
            <a:pPr marL="0" indent="0" algn="l">
              <a:lnSpc>
                <a:spcPts val="95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AI Detection Module</a:t>
            </a:r>
            <a:endParaRPr lang="en-US" sz="900" dirty="0">
              <a:latin typeface="Times New Roman" panose="02020603050405020304" pitchFamily="18" charset="0"/>
              <a:cs typeface="Times New Roman" panose="02020603050405020304" pitchFamily="18" charset="0"/>
            </a:endParaRPr>
          </a:p>
        </p:txBody>
      </p:sp>
      <p:sp>
        <p:nvSpPr>
          <p:cNvPr id="20" name="Text 17"/>
          <p:cNvSpPr/>
          <p:nvPr/>
        </p:nvSpPr>
        <p:spPr>
          <a:xfrm>
            <a:off x="5063972" y="3517147"/>
            <a:ext cx="2522116" cy="373782"/>
          </a:xfrm>
          <a:prstGeom prst="rect">
            <a:avLst/>
          </a:prstGeom>
          <a:noFill/>
          <a:ln/>
        </p:spPr>
        <p:txBody>
          <a:bodyPr wrap="square" lIns="0" tIns="0" rIns="0" bIns="0" rtlCol="0" anchor="t"/>
          <a:lstStyle/>
          <a:p>
            <a:pPr marL="342900" indent="-342900" algn="l">
              <a:lnSpc>
                <a:spcPts val="850"/>
              </a:lnSpc>
              <a:buSzPct val="100000"/>
              <a:buChar char="•"/>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EfficientNet-B2 architecture</a:t>
            </a:r>
            <a:endParaRPr lang="en-US" sz="800" dirty="0">
              <a:latin typeface="Times New Roman" panose="02020603050405020304" pitchFamily="18" charset="0"/>
              <a:cs typeface="Times New Roman" panose="02020603050405020304" pitchFamily="18" charset="0"/>
            </a:endParaRPr>
          </a:p>
          <a:p>
            <a:pPr marL="342900" indent="-342900" algn="l">
              <a:lnSpc>
                <a:spcPts val="850"/>
              </a:lnSpc>
              <a:buSzPct val="100000"/>
              <a:buChar char="•"/>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Binary: Clean / Stego</a:t>
            </a:r>
            <a:endParaRPr lang="en-US" sz="800" dirty="0">
              <a:latin typeface="Times New Roman" panose="02020603050405020304" pitchFamily="18" charset="0"/>
              <a:cs typeface="Times New Roman" panose="02020603050405020304" pitchFamily="18" charset="0"/>
            </a:endParaRPr>
          </a:p>
          <a:p>
            <a:pPr marL="342900" indent="-342900" algn="l">
              <a:lnSpc>
                <a:spcPts val="850"/>
              </a:lnSpc>
              <a:buSzPct val="100000"/>
              <a:buChar char="•"/>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Multi-class: DCT · FFT · LSB · LSB-Gray · SSB4 · SSBN</a:t>
            </a:r>
            <a:endParaRPr lang="en-US" sz="800" dirty="0">
              <a:latin typeface="Times New Roman" panose="02020603050405020304" pitchFamily="18" charset="0"/>
              <a:cs typeface="Times New Roman" panose="02020603050405020304" pitchFamily="18" charset="0"/>
            </a:endParaRPr>
          </a:p>
        </p:txBody>
      </p:sp>
      <p:sp>
        <p:nvSpPr>
          <p:cNvPr id="21" name="Shape 18"/>
          <p:cNvSpPr/>
          <p:nvPr/>
        </p:nvSpPr>
        <p:spPr>
          <a:xfrm>
            <a:off x="1399919" y="4108358"/>
            <a:ext cx="2709863" cy="716384"/>
          </a:xfrm>
          <a:prstGeom prst="roundRect">
            <a:avLst>
              <a:gd name="adj" fmla="val 5230"/>
            </a:avLst>
          </a:prstGeom>
          <a:solidFill>
            <a:srgbClr val="542C49"/>
          </a:solidFill>
          <a:ln w="4763">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2" name="Text 19"/>
          <p:cNvSpPr/>
          <p:nvPr/>
        </p:nvSpPr>
        <p:spPr>
          <a:xfrm>
            <a:off x="1493829" y="4202269"/>
            <a:ext cx="1082873" cy="123899"/>
          </a:xfrm>
          <a:prstGeom prst="rect">
            <a:avLst/>
          </a:prstGeom>
          <a:noFill/>
          <a:ln/>
        </p:spPr>
        <p:txBody>
          <a:bodyPr wrap="none" lIns="0" tIns="0" rIns="0" bIns="0" rtlCol="0" anchor="t"/>
          <a:lstStyle/>
          <a:p>
            <a:pPr marL="0" indent="0" algn="l">
              <a:lnSpc>
                <a:spcPts val="95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Explainable AI Module</a:t>
            </a:r>
            <a:endParaRPr lang="en-US" sz="900" dirty="0">
              <a:latin typeface="Times New Roman" panose="02020603050405020304" pitchFamily="18" charset="0"/>
              <a:cs typeface="Times New Roman" panose="02020603050405020304" pitchFamily="18" charset="0"/>
            </a:endParaRPr>
          </a:p>
        </p:txBody>
      </p:sp>
      <p:sp>
        <p:nvSpPr>
          <p:cNvPr id="23" name="Text 20"/>
          <p:cNvSpPr/>
          <p:nvPr/>
        </p:nvSpPr>
        <p:spPr>
          <a:xfrm>
            <a:off x="1493829" y="4357050"/>
            <a:ext cx="2522041" cy="373782"/>
          </a:xfrm>
          <a:prstGeom prst="rect">
            <a:avLst/>
          </a:prstGeom>
          <a:noFill/>
          <a:ln/>
        </p:spPr>
        <p:txBody>
          <a:bodyPr wrap="square" lIns="0" tIns="0" rIns="0" bIns="0" rtlCol="0" anchor="t"/>
          <a:lstStyle/>
          <a:p>
            <a:pPr marL="342900" indent="-342900" algn="l">
              <a:lnSpc>
                <a:spcPts val="850"/>
              </a:lnSpc>
              <a:buSzPct val="100000"/>
              <a:buChar char="•"/>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SHAP explainability</a:t>
            </a:r>
            <a:endParaRPr lang="en-US" sz="800" dirty="0">
              <a:latin typeface="Times New Roman" panose="02020603050405020304" pitchFamily="18" charset="0"/>
              <a:cs typeface="Times New Roman" panose="02020603050405020304" pitchFamily="18" charset="0"/>
            </a:endParaRPr>
          </a:p>
          <a:p>
            <a:pPr marL="342900" indent="-342900" algn="l">
              <a:lnSpc>
                <a:spcPts val="850"/>
              </a:lnSpc>
              <a:buSzPct val="100000"/>
              <a:buChar char="•"/>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Highlights suspicious image regions</a:t>
            </a:r>
            <a:endParaRPr lang="en-US" sz="800" dirty="0">
              <a:latin typeface="Times New Roman" panose="02020603050405020304" pitchFamily="18" charset="0"/>
              <a:cs typeface="Times New Roman" panose="02020603050405020304" pitchFamily="18" charset="0"/>
            </a:endParaRPr>
          </a:p>
          <a:p>
            <a:pPr marL="342900" indent="-342900" algn="l">
              <a:lnSpc>
                <a:spcPts val="850"/>
              </a:lnSpc>
              <a:buSzPct val="100000"/>
              <a:buChar char="•"/>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Improves analyst trust &amp; interpretability</a:t>
            </a:r>
            <a:endParaRPr lang="en-US" sz="800" dirty="0">
              <a:latin typeface="Times New Roman" panose="02020603050405020304" pitchFamily="18" charset="0"/>
              <a:cs typeface="Times New Roman" panose="02020603050405020304" pitchFamily="18" charset="0"/>
            </a:endParaRPr>
          </a:p>
        </p:txBody>
      </p:sp>
      <p:sp>
        <p:nvSpPr>
          <p:cNvPr id="24" name="Shape 21"/>
          <p:cNvSpPr/>
          <p:nvPr/>
        </p:nvSpPr>
        <p:spPr>
          <a:xfrm>
            <a:off x="4970061" y="4098051"/>
            <a:ext cx="2709937" cy="716384"/>
          </a:xfrm>
          <a:prstGeom prst="roundRect">
            <a:avLst>
              <a:gd name="adj" fmla="val 5230"/>
            </a:avLst>
          </a:prstGeom>
          <a:solidFill>
            <a:srgbClr val="542C49"/>
          </a:solidFill>
          <a:ln w="4763">
            <a:solidFill>
              <a:srgbClr val="6D4562"/>
            </a:solidFill>
            <a:prstDash val="solid"/>
          </a:ln>
        </p:spPr>
        <p:txBody>
          <a:bodyPr/>
          <a:lstStyle/>
          <a:p>
            <a:endParaRPr lang="en-US">
              <a:latin typeface="Times New Roman" panose="02020603050405020304" pitchFamily="18" charset="0"/>
              <a:cs typeface="Times New Roman" panose="02020603050405020304" pitchFamily="18" charset="0"/>
            </a:endParaRPr>
          </a:p>
        </p:txBody>
      </p:sp>
      <p:sp>
        <p:nvSpPr>
          <p:cNvPr id="25" name="Text 22"/>
          <p:cNvSpPr/>
          <p:nvPr/>
        </p:nvSpPr>
        <p:spPr>
          <a:xfrm>
            <a:off x="5063972" y="4191962"/>
            <a:ext cx="1155799" cy="123899"/>
          </a:xfrm>
          <a:prstGeom prst="rect">
            <a:avLst/>
          </a:prstGeom>
          <a:noFill/>
          <a:ln/>
        </p:spPr>
        <p:txBody>
          <a:bodyPr wrap="none" lIns="0" tIns="0" rIns="0" bIns="0" rtlCol="0" anchor="t"/>
          <a:lstStyle/>
          <a:p>
            <a:pPr marL="0" indent="0" algn="l">
              <a:lnSpc>
                <a:spcPts val="950"/>
              </a:lnSpc>
              <a:buNone/>
            </a:pPr>
            <a:r>
              <a:rPr lang="en-US" sz="900" dirty="0">
                <a:solidFill>
                  <a:srgbClr val="DAD8E9"/>
                </a:solidFill>
                <a:latin typeface="Times New Roman" panose="02020603050405020304" pitchFamily="18" charset="0"/>
                <a:ea typeface="Prompt Medium" pitchFamily="34" charset="-122"/>
                <a:cs typeface="Times New Roman" panose="02020603050405020304" pitchFamily="18" charset="0"/>
              </a:rPr>
              <a:t>Visualization Dashboard</a:t>
            </a:r>
            <a:endParaRPr lang="en-US" sz="900" dirty="0">
              <a:latin typeface="Times New Roman" panose="02020603050405020304" pitchFamily="18" charset="0"/>
              <a:cs typeface="Times New Roman" panose="02020603050405020304" pitchFamily="18" charset="0"/>
            </a:endParaRPr>
          </a:p>
        </p:txBody>
      </p:sp>
      <p:sp>
        <p:nvSpPr>
          <p:cNvPr id="26" name="Text 23"/>
          <p:cNvSpPr/>
          <p:nvPr/>
        </p:nvSpPr>
        <p:spPr>
          <a:xfrm>
            <a:off x="5063972" y="4346743"/>
            <a:ext cx="2522116" cy="373782"/>
          </a:xfrm>
          <a:prstGeom prst="rect">
            <a:avLst/>
          </a:prstGeom>
          <a:noFill/>
          <a:ln/>
        </p:spPr>
        <p:txBody>
          <a:bodyPr wrap="square" lIns="0" tIns="0" rIns="0" bIns="0" rtlCol="0" anchor="t"/>
          <a:lstStyle/>
          <a:p>
            <a:pPr marL="342900" indent="-342900" algn="l">
              <a:lnSpc>
                <a:spcPts val="850"/>
              </a:lnSpc>
              <a:buSzPct val="100000"/>
              <a:buChar char="•"/>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Threat score &amp; confidence levels</a:t>
            </a:r>
            <a:endParaRPr lang="en-US" sz="800" dirty="0">
              <a:latin typeface="Times New Roman" panose="02020603050405020304" pitchFamily="18" charset="0"/>
              <a:cs typeface="Times New Roman" panose="02020603050405020304" pitchFamily="18" charset="0"/>
            </a:endParaRPr>
          </a:p>
          <a:p>
            <a:pPr marL="342900" indent="-342900" algn="l">
              <a:lnSpc>
                <a:spcPts val="850"/>
              </a:lnSpc>
              <a:buSzPct val="100000"/>
              <a:buChar char="•"/>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SHAP heatmaps</a:t>
            </a:r>
            <a:endParaRPr lang="en-US" sz="800" dirty="0">
              <a:latin typeface="Times New Roman" panose="02020603050405020304" pitchFamily="18" charset="0"/>
              <a:cs typeface="Times New Roman" panose="02020603050405020304" pitchFamily="18" charset="0"/>
            </a:endParaRPr>
          </a:p>
          <a:p>
            <a:pPr marL="342900" indent="-342900" algn="l">
              <a:lnSpc>
                <a:spcPts val="850"/>
              </a:lnSpc>
              <a:buSzPct val="100000"/>
              <a:buChar char="•"/>
            </a:pPr>
            <a:r>
              <a:rPr lang="en-US" sz="800" dirty="0">
                <a:solidFill>
                  <a:srgbClr val="DAD8E9"/>
                </a:solidFill>
                <a:latin typeface="Times New Roman" panose="02020603050405020304" pitchFamily="18" charset="0"/>
                <a:ea typeface="Mukta Light" pitchFamily="34" charset="-122"/>
                <a:cs typeface="Times New Roman" panose="02020603050405020304" pitchFamily="18" charset="0"/>
              </a:rPr>
              <a:t>Detection summaries &amp; technique results</a:t>
            </a:r>
            <a:endParaRPr lang="en-US" sz="800"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550416CF-749E-0C48-9D32-A3386B5861B3}"/>
              </a:ext>
            </a:extLst>
          </p:cNvPr>
          <p:cNvSpPr txBox="1"/>
          <p:nvPr/>
        </p:nvSpPr>
        <p:spPr>
          <a:xfrm>
            <a:off x="7962900" y="4726740"/>
            <a:ext cx="1181100" cy="369332"/>
          </a:xfrm>
          <a:prstGeom prst="rect">
            <a:avLst/>
          </a:prstGeom>
          <a:solidFill>
            <a:srgbClr val="0A0B21"/>
          </a:solidFill>
        </p:spPr>
        <p:txBody>
          <a:bodyPr wrap="square" rtlCol="0">
            <a:spAutoFit/>
          </a:bodyPr>
          <a:lstStyle/>
          <a:p>
            <a:endParaRPr lang="en-US" dirty="0"/>
          </a:p>
        </p:txBody>
      </p:sp>
      <p:sp>
        <p:nvSpPr>
          <p:cNvPr id="28" name="TextBox 27">
            <a:extLst>
              <a:ext uri="{FF2B5EF4-FFF2-40B4-BE49-F238E27FC236}">
                <a16:creationId xmlns:a16="http://schemas.microsoft.com/office/drawing/2014/main" id="{95CAE571-48FD-9F84-B3DA-4E1C131B3819}"/>
              </a:ext>
            </a:extLst>
          </p:cNvPr>
          <p:cNvSpPr txBox="1"/>
          <p:nvPr/>
        </p:nvSpPr>
        <p:spPr>
          <a:xfrm>
            <a:off x="540916" y="4786404"/>
            <a:ext cx="8863385" cy="336118"/>
          </a:xfrm>
          <a:prstGeom prst="rect">
            <a:avLst/>
          </a:prstGeom>
          <a:noFill/>
        </p:spPr>
        <p:txBody>
          <a:bodyPr wrap="square">
            <a:spAutoFit/>
          </a:bodyPr>
          <a:lstStyle/>
          <a:p>
            <a:pPr algn="just">
              <a:lnSpc>
                <a:spcPct val="150000"/>
              </a:lnSpc>
            </a:pPr>
            <a:r>
              <a:rPr lang="en-US" sz="1200" dirty="0">
                <a:solidFill>
                  <a:schemeClr val="bg1"/>
                </a:solidFill>
                <a:latin typeface="Times New Roman" panose="02020603050405020304" pitchFamily="18" charset="0"/>
                <a:cs typeface="Times New Roman" panose="02020603050405020304" pitchFamily="18" charset="0"/>
              </a:rPr>
              <a:t>Priyadewa P D J C   </a:t>
            </a:r>
            <a:r>
              <a:rPr lang="en-US" sz="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  </a:t>
            </a:r>
            <a:r>
              <a:rPr lang="en-US" sz="1200" dirty="0">
                <a:solidFill>
                  <a:schemeClr val="bg1"/>
                </a:solidFill>
                <a:latin typeface="Times New Roman" panose="02020603050405020304" pitchFamily="18" charset="0"/>
                <a:cs typeface="Times New Roman" panose="02020603050405020304" pitchFamily="18" charset="0"/>
              </a:rPr>
              <a:t>IT22628718</a:t>
            </a:r>
            <a:r>
              <a:rPr lang="en-US" sz="1200" dirty="0">
                <a:solidFill>
                  <a:schemeClr val="bg1"/>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 </a:t>
            </a:r>
            <a:r>
              <a:rPr lang="en-US" sz="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 |  </a:t>
            </a:r>
            <a:r>
              <a:rPr lang="en-US" sz="1200" kern="1200" dirty="0">
                <a:solidFill>
                  <a:srgbClr val="DAD8E9"/>
                </a:solidFill>
                <a:effectLst>
                  <a:outerShdw blurRad="38100" dist="38100" dir="2700000" algn="tl">
                    <a:srgbClr val="000000">
                      <a:alpha val="43137"/>
                    </a:srgbClr>
                  </a:outerShdw>
                </a:effectLst>
                <a:latin typeface="Times New Roman" panose="02020603050405020304" pitchFamily="18" charset="0"/>
                <a:ea typeface="Mukta Light" panose="020B0604020202020204" charset="0"/>
                <a:cs typeface="Times New Roman" panose="02020603050405020304" pitchFamily="18" charset="0"/>
              </a:rPr>
              <a:t>R26-CS-011</a:t>
            </a:r>
            <a:endParaRPr lang="en-US" sz="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75109" y="333598"/>
            <a:ext cx="6505798" cy="334863"/>
          </a:xfrm>
          <a:prstGeom prst="rect">
            <a:avLst/>
          </a:prstGeom>
          <a:noFill/>
          <a:ln/>
        </p:spPr>
        <p:txBody>
          <a:bodyPr wrap="none" lIns="0" tIns="0" rIns="0" bIns="0" rtlCol="0" anchor="t"/>
          <a:lstStyle/>
          <a:p>
            <a:pPr marL="0" indent="0" algn="l">
              <a:lnSpc>
                <a:spcPts val="260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Customer Persona, Market Size &amp; Business Model</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1"/>
          <p:cNvSpPr/>
          <p:nvPr/>
        </p:nvSpPr>
        <p:spPr>
          <a:xfrm>
            <a:off x="875109" y="903833"/>
            <a:ext cx="1339453" cy="167432"/>
          </a:xfrm>
          <a:prstGeom prst="rect">
            <a:avLst/>
          </a:prstGeom>
          <a:noFill/>
          <a:ln/>
        </p:spPr>
        <p:txBody>
          <a:bodyPr wrap="none" lIns="0" tIns="0" rIns="0" bIns="0" rtlCol="0" anchor="t"/>
          <a:lstStyle/>
          <a:p>
            <a:pPr marL="0" indent="0" algn="l">
              <a:lnSpc>
                <a:spcPts val="1300"/>
              </a:lnSpc>
              <a:buNone/>
            </a:pPr>
            <a:r>
              <a:rPr lang="en-US" sz="1050" dirty="0">
                <a:solidFill>
                  <a:srgbClr val="C6BFEE"/>
                </a:solidFill>
                <a:latin typeface="Times New Roman" panose="02020603050405020304" pitchFamily="18" charset="0"/>
                <a:ea typeface="Prompt Medium" pitchFamily="34" charset="-122"/>
                <a:cs typeface="Times New Roman" panose="02020603050405020304" pitchFamily="18" charset="0"/>
              </a:rPr>
              <a:t>Customer Personas</a:t>
            </a:r>
            <a:endParaRPr lang="en-US" sz="1050" dirty="0">
              <a:latin typeface="Times New Roman" panose="02020603050405020304" pitchFamily="18" charset="0"/>
              <a:cs typeface="Times New Roman" panose="02020603050405020304" pitchFamily="18" charset="0"/>
            </a:endParaRPr>
          </a:p>
        </p:txBody>
      </p:sp>
      <p:sp>
        <p:nvSpPr>
          <p:cNvPr id="4" name="Text 2"/>
          <p:cNvSpPr/>
          <p:nvPr/>
        </p:nvSpPr>
        <p:spPr>
          <a:xfrm>
            <a:off x="875109" y="1165399"/>
            <a:ext cx="3549848" cy="1472654"/>
          </a:xfrm>
          <a:prstGeom prst="rect">
            <a:avLst/>
          </a:prstGeom>
          <a:noFill/>
          <a:ln/>
        </p:spPr>
        <p:txBody>
          <a:bodyPr wrap="square" lIns="0" tIns="0" rIns="0" bIns="0" rtlCol="0" anchor="t"/>
          <a:lstStyle/>
          <a:p>
            <a:pPr marL="342900" indent="-342900" algn="l">
              <a:lnSpc>
                <a:spcPts val="13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IT Administrator at a 20–50 person SMB who needs affordable, low-maintenance email security without enterprise licensing costs</a:t>
            </a:r>
            <a:endParaRPr lang="en-US" sz="900" dirty="0">
              <a:latin typeface="Times New Roman" panose="02020603050405020304" pitchFamily="18" charset="0"/>
              <a:cs typeface="Times New Roman" panose="02020603050405020304" pitchFamily="18" charset="0"/>
            </a:endParaRPr>
          </a:p>
          <a:p>
            <a:pPr marL="342900" indent="-342900" algn="l">
              <a:lnSpc>
                <a:spcPts val="13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Remote professional who regularly receives client emails with attachments and cannot always verify sender authenticity</a:t>
            </a:r>
            <a:endParaRPr lang="en-US" sz="900" dirty="0">
              <a:latin typeface="Times New Roman" panose="02020603050405020304" pitchFamily="18" charset="0"/>
              <a:cs typeface="Times New Roman" panose="02020603050405020304" pitchFamily="18" charset="0"/>
            </a:endParaRPr>
          </a:p>
          <a:p>
            <a:pPr marL="342900" indent="-342900" algn="l">
              <a:lnSpc>
                <a:spcPts val="13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Non-technical individual user — educator, healthcare worker, government employee — who needs plain-language threat alerts</a:t>
            </a:r>
            <a:endParaRPr lang="en-US" sz="900" dirty="0">
              <a:latin typeface="Times New Roman" panose="02020603050405020304" pitchFamily="18" charset="0"/>
              <a:cs typeface="Times New Roman" panose="02020603050405020304" pitchFamily="18" charset="0"/>
            </a:endParaRPr>
          </a:p>
          <a:p>
            <a:pPr marL="342900" indent="-342900" algn="l">
              <a:lnSpc>
                <a:spcPts val="13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University student or academic researcher who is a frequent target of credential harvesting phishing campaigns</a:t>
            </a:r>
            <a:endParaRPr lang="en-US" sz="900" dirty="0">
              <a:latin typeface="Times New Roman" panose="02020603050405020304" pitchFamily="18" charset="0"/>
              <a:cs typeface="Times New Roman" panose="02020603050405020304" pitchFamily="18" charset="0"/>
            </a:endParaRPr>
          </a:p>
        </p:txBody>
      </p:sp>
      <p:sp>
        <p:nvSpPr>
          <p:cNvPr id="5" name="Text 3"/>
          <p:cNvSpPr/>
          <p:nvPr/>
        </p:nvSpPr>
        <p:spPr>
          <a:xfrm>
            <a:off x="875109" y="2732187"/>
            <a:ext cx="1339453" cy="167432"/>
          </a:xfrm>
          <a:prstGeom prst="rect">
            <a:avLst/>
          </a:prstGeom>
          <a:noFill/>
          <a:ln/>
        </p:spPr>
        <p:txBody>
          <a:bodyPr wrap="none" lIns="0" tIns="0" rIns="0" bIns="0" rtlCol="0" anchor="t"/>
          <a:lstStyle/>
          <a:p>
            <a:pPr marL="0" indent="0" algn="l">
              <a:lnSpc>
                <a:spcPts val="1300"/>
              </a:lnSpc>
              <a:buNone/>
            </a:pPr>
            <a:r>
              <a:rPr lang="en-US" sz="1050" dirty="0">
                <a:solidFill>
                  <a:srgbClr val="C6BFEE"/>
                </a:solidFill>
                <a:latin typeface="Times New Roman" panose="02020603050405020304" pitchFamily="18" charset="0"/>
                <a:ea typeface="Prompt Medium" pitchFamily="34" charset="-122"/>
                <a:cs typeface="Times New Roman" panose="02020603050405020304" pitchFamily="18" charset="0"/>
              </a:rPr>
              <a:t>What Is Unique</a:t>
            </a:r>
            <a:endParaRPr lang="en-US" sz="1050" dirty="0">
              <a:latin typeface="Times New Roman" panose="02020603050405020304" pitchFamily="18" charset="0"/>
              <a:cs typeface="Times New Roman" panose="02020603050405020304" pitchFamily="18" charset="0"/>
            </a:endParaRPr>
          </a:p>
        </p:txBody>
      </p:sp>
      <p:sp>
        <p:nvSpPr>
          <p:cNvPr id="6" name="Text 4"/>
          <p:cNvSpPr/>
          <p:nvPr/>
        </p:nvSpPr>
        <p:spPr>
          <a:xfrm>
            <a:off x="875109" y="2993752"/>
            <a:ext cx="3549848" cy="1472654"/>
          </a:xfrm>
          <a:prstGeom prst="rect">
            <a:avLst/>
          </a:prstGeom>
          <a:noFill/>
          <a:ln/>
        </p:spPr>
        <p:txBody>
          <a:bodyPr wrap="square" lIns="0" tIns="0" rIns="0" bIns="0" rtlCol="0" anchor="t"/>
          <a:lstStyle/>
          <a:p>
            <a:pPr marL="342900" indent="-342900" algn="l">
              <a:lnSpc>
                <a:spcPts val="13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Only solution combining AI detection + adaptive awareness + pre-download image analysis in one lightweight system</a:t>
            </a:r>
            <a:endParaRPr lang="en-US" sz="900" dirty="0">
              <a:latin typeface="Times New Roman" panose="02020603050405020304" pitchFamily="18" charset="0"/>
              <a:cs typeface="Times New Roman" panose="02020603050405020304" pitchFamily="18" charset="0"/>
            </a:endParaRPr>
          </a:p>
          <a:p>
            <a:pPr marL="342900" indent="-342900" algn="l">
              <a:lnSpc>
                <a:spcPts val="13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Adaptive awareness engine is not available in any comparable lightweight tool today</a:t>
            </a:r>
            <a:endParaRPr lang="en-US" sz="900" dirty="0">
              <a:latin typeface="Times New Roman" panose="02020603050405020304" pitchFamily="18" charset="0"/>
              <a:cs typeface="Times New Roman" panose="02020603050405020304" pitchFamily="18" charset="0"/>
            </a:endParaRPr>
          </a:p>
          <a:p>
            <a:pPr marL="342900" indent="-342900" algn="l">
              <a:lnSpc>
                <a:spcPts val="13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Designed from the ground up for resource-constrained environments — SMBs and individuals</a:t>
            </a:r>
            <a:endParaRPr lang="en-US" sz="900" dirty="0">
              <a:latin typeface="Times New Roman" panose="02020603050405020304" pitchFamily="18" charset="0"/>
              <a:cs typeface="Times New Roman" panose="02020603050405020304" pitchFamily="18" charset="0"/>
            </a:endParaRPr>
          </a:p>
          <a:p>
            <a:pPr marL="342900" indent="-342900" algn="l">
              <a:lnSpc>
                <a:spcPts val="13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Pre-download image sandboxing is a novel contribution not found in existing email security tools</a:t>
            </a:r>
            <a:endParaRPr lang="en-US" sz="900" dirty="0">
              <a:latin typeface="Times New Roman" panose="02020603050405020304" pitchFamily="18" charset="0"/>
              <a:cs typeface="Times New Roman" panose="02020603050405020304" pitchFamily="18" charset="0"/>
            </a:endParaRPr>
          </a:p>
        </p:txBody>
      </p:sp>
      <p:sp>
        <p:nvSpPr>
          <p:cNvPr id="7" name="Text 5"/>
          <p:cNvSpPr/>
          <p:nvPr/>
        </p:nvSpPr>
        <p:spPr>
          <a:xfrm>
            <a:off x="4723805" y="903833"/>
            <a:ext cx="1339453" cy="167432"/>
          </a:xfrm>
          <a:prstGeom prst="rect">
            <a:avLst/>
          </a:prstGeom>
          <a:noFill/>
          <a:ln/>
        </p:spPr>
        <p:txBody>
          <a:bodyPr wrap="none" lIns="0" tIns="0" rIns="0" bIns="0" rtlCol="0" anchor="t"/>
          <a:lstStyle/>
          <a:p>
            <a:pPr marL="0" indent="0" algn="l">
              <a:lnSpc>
                <a:spcPts val="1300"/>
              </a:lnSpc>
              <a:buNone/>
            </a:pPr>
            <a:r>
              <a:rPr lang="en-US" sz="1050" dirty="0">
                <a:solidFill>
                  <a:srgbClr val="C6BFEE"/>
                </a:solidFill>
                <a:latin typeface="Times New Roman" panose="02020603050405020304" pitchFamily="18" charset="0"/>
                <a:ea typeface="Prompt Medium" pitchFamily="34" charset="-122"/>
                <a:cs typeface="Times New Roman" panose="02020603050405020304" pitchFamily="18" charset="0"/>
              </a:rPr>
              <a:t>Market Size</a:t>
            </a:r>
            <a:endParaRPr lang="en-US" sz="1050" dirty="0">
              <a:latin typeface="Times New Roman" panose="02020603050405020304" pitchFamily="18" charset="0"/>
              <a:cs typeface="Times New Roman" panose="02020603050405020304" pitchFamily="18" charset="0"/>
            </a:endParaRPr>
          </a:p>
        </p:txBody>
      </p:sp>
      <p:sp>
        <p:nvSpPr>
          <p:cNvPr id="8" name="Text 6"/>
          <p:cNvSpPr/>
          <p:nvPr/>
        </p:nvSpPr>
        <p:spPr>
          <a:xfrm>
            <a:off x="4723805" y="1165399"/>
            <a:ext cx="3549848" cy="1096268"/>
          </a:xfrm>
          <a:prstGeom prst="rect">
            <a:avLst/>
          </a:prstGeom>
          <a:noFill/>
          <a:ln/>
        </p:spPr>
        <p:txBody>
          <a:bodyPr wrap="square" lIns="0" tIns="0" rIns="0" bIns="0" rtlCol="0" anchor="t"/>
          <a:lstStyle/>
          <a:p>
            <a:pPr marL="342900" indent="-342900" algn="l">
              <a:lnSpc>
                <a:spcPts val="13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Global email security market valued at </a:t>
            </a:r>
            <a:r>
              <a:rPr lang="en-US" sz="900" b="1" dirty="0">
                <a:solidFill>
                  <a:srgbClr val="DAD8E9"/>
                </a:solidFill>
                <a:latin typeface="Times New Roman" panose="02020603050405020304" pitchFamily="18" charset="0"/>
                <a:ea typeface="Mukta Light" pitchFamily="34" charset="-122"/>
                <a:cs typeface="Times New Roman" panose="02020603050405020304" pitchFamily="18" charset="0"/>
              </a:rPr>
              <a:t>$4.25 Billion in 2022</a:t>
            </a: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 projected to reach </a:t>
            </a:r>
            <a:r>
              <a:rPr lang="en-US" sz="900" b="1" dirty="0">
                <a:solidFill>
                  <a:srgbClr val="DAD8E9"/>
                </a:solidFill>
                <a:latin typeface="Times New Roman" panose="02020603050405020304" pitchFamily="18" charset="0"/>
                <a:ea typeface="Mukta Light" pitchFamily="34" charset="-122"/>
                <a:cs typeface="Times New Roman" panose="02020603050405020304" pitchFamily="18" charset="0"/>
              </a:rPr>
              <a:t>$10.9 Billion by 2032</a:t>
            </a: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 (Allied Market Research)</a:t>
            </a:r>
            <a:endParaRPr lang="en-US" sz="900" dirty="0">
              <a:latin typeface="Times New Roman" panose="02020603050405020304" pitchFamily="18" charset="0"/>
              <a:cs typeface="Times New Roman" panose="02020603050405020304" pitchFamily="18" charset="0"/>
            </a:endParaRPr>
          </a:p>
          <a:p>
            <a:pPr marL="342900" indent="-342900" algn="l">
              <a:lnSpc>
                <a:spcPts val="13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Global cybersecurity awareness training market valued at </a:t>
            </a:r>
            <a:r>
              <a:rPr lang="en-US" sz="900" b="1" dirty="0">
                <a:solidFill>
                  <a:srgbClr val="DAD8E9"/>
                </a:solidFill>
                <a:latin typeface="Times New Roman" panose="02020603050405020304" pitchFamily="18" charset="0"/>
                <a:ea typeface="Mukta Light" pitchFamily="34" charset="-122"/>
                <a:cs typeface="Times New Roman" panose="02020603050405020304" pitchFamily="18" charset="0"/>
              </a:rPr>
              <a:t>$1.96 Billion in 2023</a:t>
            </a: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 growing at </a:t>
            </a:r>
            <a:r>
              <a:rPr lang="en-US" sz="900" b="1" dirty="0">
                <a:solidFill>
                  <a:srgbClr val="DAD8E9"/>
                </a:solidFill>
                <a:latin typeface="Times New Roman" panose="02020603050405020304" pitchFamily="18" charset="0"/>
                <a:ea typeface="Mukta Light" pitchFamily="34" charset="-122"/>
                <a:cs typeface="Times New Roman" panose="02020603050405020304" pitchFamily="18" charset="0"/>
              </a:rPr>
              <a:t>31.5% CAGR</a:t>
            </a: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 (MarketsandMarkets)</a:t>
            </a:r>
            <a:endParaRPr lang="en-US" sz="900" dirty="0">
              <a:latin typeface="Times New Roman" panose="02020603050405020304" pitchFamily="18" charset="0"/>
              <a:cs typeface="Times New Roman" panose="02020603050405020304" pitchFamily="18" charset="0"/>
            </a:endParaRPr>
          </a:p>
          <a:p>
            <a:pPr marL="342900" indent="-342900" algn="l">
              <a:lnSpc>
                <a:spcPts val="1350"/>
              </a:lnSpc>
              <a:buSzPct val="100000"/>
              <a:buChar char="•"/>
            </a:pP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Over </a:t>
            </a:r>
            <a:r>
              <a:rPr lang="en-US" sz="900" b="1" dirty="0">
                <a:solidFill>
                  <a:srgbClr val="DAD8E9"/>
                </a:solidFill>
                <a:latin typeface="Times New Roman" panose="02020603050405020304" pitchFamily="18" charset="0"/>
                <a:ea typeface="Mukta Light" pitchFamily="34" charset="-122"/>
                <a:cs typeface="Times New Roman" panose="02020603050405020304" pitchFamily="18" charset="0"/>
              </a:rPr>
              <a:t>4 billion email users worldwide</a:t>
            </a: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 — the addressable market is practically every internet user</a:t>
            </a:r>
            <a:endParaRPr lang="en-US" sz="900" dirty="0">
              <a:latin typeface="Times New Roman" panose="02020603050405020304" pitchFamily="18" charset="0"/>
              <a:cs typeface="Times New Roman" panose="02020603050405020304" pitchFamily="18" charset="0"/>
            </a:endParaRPr>
          </a:p>
        </p:txBody>
      </p:sp>
      <p:sp>
        <p:nvSpPr>
          <p:cNvPr id="9" name="Text 7"/>
          <p:cNvSpPr/>
          <p:nvPr/>
        </p:nvSpPr>
        <p:spPr>
          <a:xfrm>
            <a:off x="4723805" y="2355800"/>
            <a:ext cx="2115071" cy="167432"/>
          </a:xfrm>
          <a:prstGeom prst="rect">
            <a:avLst/>
          </a:prstGeom>
          <a:noFill/>
          <a:ln/>
        </p:spPr>
        <p:txBody>
          <a:bodyPr wrap="none" lIns="0" tIns="0" rIns="0" bIns="0" rtlCol="0" anchor="t"/>
          <a:lstStyle/>
          <a:p>
            <a:pPr marL="0" indent="0" algn="l">
              <a:lnSpc>
                <a:spcPts val="1300"/>
              </a:lnSpc>
              <a:buNone/>
            </a:pPr>
            <a:r>
              <a:rPr lang="en-US" sz="1050" dirty="0">
                <a:solidFill>
                  <a:srgbClr val="C6BFEE"/>
                </a:solidFill>
                <a:latin typeface="Times New Roman" panose="02020603050405020304" pitchFamily="18" charset="0"/>
                <a:ea typeface="Prompt Medium" pitchFamily="34" charset="-122"/>
                <a:cs typeface="Times New Roman" panose="02020603050405020304" pitchFamily="18" charset="0"/>
              </a:rPr>
              <a:t>How Will the Cost Be Recovered</a:t>
            </a:r>
            <a:endParaRPr lang="en-US" sz="1050" dirty="0">
              <a:latin typeface="Times New Roman" panose="02020603050405020304" pitchFamily="18" charset="0"/>
              <a:cs typeface="Times New Roman" panose="02020603050405020304" pitchFamily="18" charset="0"/>
            </a:endParaRPr>
          </a:p>
        </p:txBody>
      </p:sp>
      <p:sp>
        <p:nvSpPr>
          <p:cNvPr id="10" name="Text 8"/>
          <p:cNvSpPr/>
          <p:nvPr/>
        </p:nvSpPr>
        <p:spPr>
          <a:xfrm>
            <a:off x="4723805" y="2617366"/>
            <a:ext cx="3549848" cy="2159645"/>
          </a:xfrm>
          <a:prstGeom prst="rect">
            <a:avLst/>
          </a:prstGeom>
          <a:noFill/>
          <a:ln/>
        </p:spPr>
        <p:txBody>
          <a:bodyPr wrap="square" lIns="0" tIns="0" rIns="0" bIns="0" rtlCol="0" anchor="t"/>
          <a:lstStyle/>
          <a:p>
            <a:pPr marL="342900" indent="-342900" algn="l">
              <a:lnSpc>
                <a:spcPts val="1350"/>
              </a:lnSpc>
              <a:buSzPct val="100000"/>
              <a:buChar char="•"/>
            </a:pPr>
            <a:r>
              <a:rPr lang="en-US" sz="900" b="1" dirty="0">
                <a:solidFill>
                  <a:srgbClr val="DAD8E9"/>
                </a:solidFill>
                <a:latin typeface="Times New Roman" panose="02020603050405020304" pitchFamily="18" charset="0"/>
                <a:ea typeface="Mukta Light" pitchFamily="34" charset="-122"/>
                <a:cs typeface="Times New Roman" panose="02020603050405020304" pitchFamily="18" charset="0"/>
              </a:rPr>
              <a:t>Freemium SaaS model</a:t>
            </a: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 — Free basic tier for individuals; paid subscription for SMBs with advanced analytics dashboard and multi-user management</a:t>
            </a:r>
            <a:endParaRPr lang="en-US" sz="900" dirty="0">
              <a:latin typeface="Times New Roman" panose="02020603050405020304" pitchFamily="18" charset="0"/>
              <a:cs typeface="Times New Roman" panose="02020603050405020304" pitchFamily="18" charset="0"/>
            </a:endParaRPr>
          </a:p>
          <a:p>
            <a:pPr marL="342900" indent="-342900" algn="l">
              <a:lnSpc>
                <a:spcPts val="1350"/>
              </a:lnSpc>
              <a:buSzPct val="100000"/>
              <a:buChar char="•"/>
            </a:pPr>
            <a:r>
              <a:rPr lang="en-US" sz="900" b="1" dirty="0">
                <a:solidFill>
                  <a:srgbClr val="DAD8E9"/>
                </a:solidFill>
                <a:latin typeface="Times New Roman" panose="02020603050405020304" pitchFamily="18" charset="0"/>
                <a:ea typeface="Mukta Light" pitchFamily="34" charset="-122"/>
                <a:cs typeface="Times New Roman" panose="02020603050405020304" pitchFamily="18" charset="0"/>
              </a:rPr>
              <a:t>Enterprise licensing</a:t>
            </a: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 — One-time or annual license for organizations to deploy on-premise with custom integration support</a:t>
            </a:r>
            <a:endParaRPr lang="en-US" sz="900" dirty="0">
              <a:latin typeface="Times New Roman" panose="02020603050405020304" pitchFamily="18" charset="0"/>
              <a:cs typeface="Times New Roman" panose="02020603050405020304" pitchFamily="18" charset="0"/>
            </a:endParaRPr>
          </a:p>
          <a:p>
            <a:pPr marL="342900" indent="-342900" algn="l">
              <a:lnSpc>
                <a:spcPts val="1350"/>
              </a:lnSpc>
              <a:buSzPct val="100000"/>
              <a:buChar char="•"/>
            </a:pPr>
            <a:r>
              <a:rPr lang="en-US" sz="900" b="1" dirty="0">
                <a:solidFill>
                  <a:srgbClr val="DAD8E9"/>
                </a:solidFill>
                <a:latin typeface="Times New Roman" panose="02020603050405020304" pitchFamily="18" charset="0"/>
                <a:ea typeface="Mukta Light" pitchFamily="34" charset="-122"/>
                <a:cs typeface="Times New Roman" panose="02020603050405020304" pitchFamily="18" charset="0"/>
              </a:rPr>
              <a:t>API / Plugin marketplace</a:t>
            </a: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 — Sell detection and image analysis as a plugin for Gmail and Outlook, or as an API service for ISPs and email service providers</a:t>
            </a:r>
            <a:endParaRPr lang="en-US" sz="900" dirty="0">
              <a:latin typeface="Times New Roman" panose="02020603050405020304" pitchFamily="18" charset="0"/>
              <a:cs typeface="Times New Roman" panose="02020603050405020304" pitchFamily="18" charset="0"/>
            </a:endParaRPr>
          </a:p>
          <a:p>
            <a:pPr marL="342900" indent="-342900" algn="l">
              <a:lnSpc>
                <a:spcPts val="1350"/>
              </a:lnSpc>
              <a:buSzPct val="100000"/>
              <a:buChar char="•"/>
            </a:pPr>
            <a:r>
              <a:rPr lang="en-US" sz="900" b="1" dirty="0">
                <a:solidFill>
                  <a:srgbClr val="DAD8E9"/>
                </a:solidFill>
                <a:latin typeface="Times New Roman" panose="02020603050405020304" pitchFamily="18" charset="0"/>
                <a:ea typeface="Mukta Light" pitchFamily="34" charset="-122"/>
                <a:cs typeface="Times New Roman" panose="02020603050405020304" pitchFamily="18" charset="0"/>
              </a:rPr>
              <a:t>Government &amp; NGO grants</a:t>
            </a:r>
            <a:r>
              <a:rPr lang="en-US" sz="900" dirty="0">
                <a:solidFill>
                  <a:srgbClr val="DAD8E9"/>
                </a:solidFill>
                <a:latin typeface="Times New Roman" panose="02020603050405020304" pitchFamily="18" charset="0"/>
                <a:ea typeface="Mukta Light" pitchFamily="34" charset="-122"/>
                <a:cs typeface="Times New Roman" panose="02020603050405020304" pitchFamily="18" charset="0"/>
              </a:rPr>
              <a:t> — Cybersecurity awareness funding available through ICTA (Sri Lanka), NITF, and international bodies such as ITU and ENISA</a:t>
            </a:r>
            <a:endParaRPr lang="en-US" sz="9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26C80ED-54F0-2011-2C8A-7C649F8F7775}"/>
              </a:ext>
            </a:extLst>
          </p:cNvPr>
          <p:cNvSpPr txBox="1"/>
          <p:nvPr/>
        </p:nvSpPr>
        <p:spPr>
          <a:xfrm>
            <a:off x="8016241" y="4755758"/>
            <a:ext cx="1112520" cy="369332"/>
          </a:xfrm>
          <a:prstGeom prst="rect">
            <a:avLst/>
          </a:prstGeom>
          <a:solidFill>
            <a:srgbClr val="0A0B21"/>
          </a:solidFill>
        </p:spPr>
        <p:txBody>
          <a:bodyPr wrap="square" rtlCol="0">
            <a:spAutoFit/>
          </a:bodyPr>
          <a:lstStyle/>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74083" y="287134"/>
            <a:ext cx="2357438" cy="294680"/>
          </a:xfrm>
          <a:prstGeom prst="rect">
            <a:avLst/>
          </a:prstGeom>
          <a:noFill/>
          <a:ln/>
        </p:spPr>
        <p:txBody>
          <a:bodyPr wrap="none" lIns="0" tIns="0" rIns="0" bIns="0" rtlCol="0" anchor="t"/>
          <a:lstStyle/>
          <a:p>
            <a:pPr marL="0" indent="0" algn="l">
              <a:lnSpc>
                <a:spcPts val="2300"/>
              </a:lnSpc>
              <a:buNone/>
            </a:pPr>
            <a:r>
              <a:rPr lang="en-US" sz="2350" b="1" dirty="0">
                <a:solidFill>
                  <a:srgbClr val="C6BFEE"/>
                </a:solidFill>
                <a:effectLst>
                  <a:outerShdw blurRad="38100" dist="38100" dir="2700000" algn="tl">
                    <a:srgbClr val="000000">
                      <a:alpha val="43137"/>
                    </a:srgbClr>
                  </a:outerShdw>
                </a:effectLst>
                <a:latin typeface="Times New Roman" panose="02020603050405020304" pitchFamily="18" charset="0"/>
                <a:ea typeface="Prompt Medium" pitchFamily="34" charset="-122"/>
                <a:cs typeface="Times New Roman" panose="02020603050405020304" pitchFamily="18" charset="0"/>
              </a:rPr>
              <a:t>Conclusion</a:t>
            </a:r>
            <a:endParaRPr lang="en-US" sz="23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 1"/>
          <p:cNvSpPr/>
          <p:nvPr/>
        </p:nvSpPr>
        <p:spPr>
          <a:xfrm>
            <a:off x="831086" y="629209"/>
            <a:ext cx="7695694" cy="536784"/>
          </a:xfrm>
          <a:prstGeom prst="rect">
            <a:avLst/>
          </a:prstGeom>
          <a:noFill/>
          <a:ln/>
        </p:spPr>
        <p:txBody>
          <a:bodyPr wrap="square" lIns="0" tIns="0" rIns="0" bIns="0" rtlCol="0" anchor="t"/>
          <a:lstStyle/>
          <a:p>
            <a:pPr marL="0" indent="0" algn="l">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AI-driven scams are evolving faster than existing defenses can keep up. The three critical gaps — accurate detection of AI-generated phishing, lack of personalized user awareness, and absence of pre-download image threat analysis — remain unaddressed by any current lightweight, affordable solution. This research directly targets all three gaps in a single integrated system.</a:t>
            </a:r>
            <a:endParaRPr lang="en-US" sz="1000" dirty="0">
              <a:latin typeface="Times New Roman" panose="02020603050405020304" pitchFamily="18" charset="0"/>
              <a:cs typeface="Times New Roman" panose="02020603050405020304" pitchFamily="18" charset="0"/>
            </a:endParaRPr>
          </a:p>
        </p:txBody>
      </p:sp>
      <p:sp>
        <p:nvSpPr>
          <p:cNvPr id="4" name="Shape 2"/>
          <p:cNvSpPr/>
          <p:nvPr/>
        </p:nvSpPr>
        <p:spPr>
          <a:xfrm>
            <a:off x="815846" y="1249114"/>
            <a:ext cx="238646" cy="238646"/>
          </a:xfrm>
          <a:prstGeom prst="roundRect">
            <a:avLst>
              <a:gd name="adj" fmla="val 18670"/>
            </a:avLst>
          </a:prstGeom>
          <a:solidFill>
            <a:srgbClr val="542C49"/>
          </a:solidFill>
          <a:ln w="4763">
            <a:solidFill>
              <a:srgbClr val="6D4562"/>
            </a:solidFill>
            <a:prstDash val="solid"/>
          </a:ln>
        </p:spPr>
        <p:txBody>
          <a:bodyPr/>
          <a:lstStyle/>
          <a:p>
            <a:endParaRPr lang="en-US" sz="2400">
              <a:latin typeface="Times New Roman" panose="02020603050405020304" pitchFamily="18" charset="0"/>
              <a:cs typeface="Times New Roman" panose="02020603050405020304" pitchFamily="18" charset="0"/>
            </a:endParaRPr>
          </a:p>
        </p:txBody>
      </p:sp>
      <p:sp>
        <p:nvSpPr>
          <p:cNvPr id="5" name="Text 3"/>
          <p:cNvSpPr/>
          <p:nvPr/>
        </p:nvSpPr>
        <p:spPr>
          <a:xfrm>
            <a:off x="864438" y="1279995"/>
            <a:ext cx="141387" cy="176808"/>
          </a:xfrm>
          <a:prstGeom prst="rect">
            <a:avLst/>
          </a:prstGeom>
          <a:noFill/>
          <a:ln/>
        </p:spPr>
        <p:txBody>
          <a:bodyPr wrap="none" lIns="0" tIns="0" rIns="0" bIns="0" rtlCol="0" anchor="ctr"/>
          <a:lstStyle/>
          <a:p>
            <a:pPr marL="0" indent="0" algn="ctr">
              <a:buNone/>
            </a:pPr>
            <a:r>
              <a:rPr lang="en-US" sz="1400" dirty="0">
                <a:solidFill>
                  <a:srgbClr val="DAD8E9"/>
                </a:solidFill>
                <a:latin typeface="Times New Roman" panose="02020603050405020304" pitchFamily="18" charset="0"/>
                <a:ea typeface="Prompt Medium" pitchFamily="34" charset="-122"/>
                <a:cs typeface="Times New Roman" panose="02020603050405020304" pitchFamily="18" charset="0"/>
              </a:rPr>
              <a:t>1</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1127418" y="1239290"/>
            <a:ext cx="3700239" cy="147340"/>
          </a:xfrm>
          <a:prstGeom prst="rect">
            <a:avLst/>
          </a:prstGeom>
          <a:noFill/>
          <a:ln/>
        </p:spPr>
        <p:txBody>
          <a:bodyPr wrap="none" lIns="0" tIns="0" rIns="0" bIns="0" rtlCol="0" anchor="t"/>
          <a:lstStyle/>
          <a:p>
            <a:pPr marL="0" indent="0" algn="l">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The problem is real, growing, and backed by credible evidence</a:t>
            </a:r>
            <a:endParaRPr lang="en-US" sz="1050" dirty="0">
              <a:latin typeface="Times New Roman" panose="02020603050405020304" pitchFamily="18" charset="0"/>
              <a:cs typeface="Times New Roman" panose="02020603050405020304" pitchFamily="18" charset="0"/>
            </a:endParaRPr>
          </a:p>
        </p:txBody>
      </p:sp>
      <p:sp>
        <p:nvSpPr>
          <p:cNvPr id="7" name="Text 5"/>
          <p:cNvSpPr/>
          <p:nvPr/>
        </p:nvSpPr>
        <p:spPr>
          <a:xfrm>
            <a:off x="1127418" y="1429829"/>
            <a:ext cx="6194896" cy="143247"/>
          </a:xfrm>
          <a:prstGeom prst="rect">
            <a:avLst/>
          </a:prstGeom>
          <a:noFill/>
          <a:ln/>
        </p:spPr>
        <p:txBody>
          <a:bodyPr wrap="none" lIns="0" tIns="0" rIns="0" bIns="0" rtlCol="0" anchor="t"/>
          <a:lstStyle/>
          <a:p>
            <a:pPr marL="0" indent="0" algn="l">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Over </a:t>
            </a:r>
            <a:r>
              <a:rPr lang="en-US" sz="1000" b="1" dirty="0">
                <a:solidFill>
                  <a:srgbClr val="DAD8E9"/>
                </a:solidFill>
                <a:latin typeface="Times New Roman" panose="02020603050405020304" pitchFamily="18" charset="0"/>
                <a:ea typeface="Mukta Light" pitchFamily="34" charset="-122"/>
                <a:cs typeface="Times New Roman" panose="02020603050405020304" pitchFamily="18" charset="0"/>
              </a:rPr>
              <a:t>$12.5 billion lost to cybercrime in 2023 alone</a:t>
            </a: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 with AI making attacks harder to identify than ever before.</a:t>
            </a:r>
            <a:endParaRPr lang="en-US" sz="1000" dirty="0">
              <a:latin typeface="Times New Roman" panose="02020603050405020304" pitchFamily="18" charset="0"/>
              <a:cs typeface="Times New Roman" panose="02020603050405020304" pitchFamily="18" charset="0"/>
            </a:endParaRPr>
          </a:p>
        </p:txBody>
      </p:sp>
      <p:sp>
        <p:nvSpPr>
          <p:cNvPr id="8" name="Shape 6"/>
          <p:cNvSpPr/>
          <p:nvPr/>
        </p:nvSpPr>
        <p:spPr>
          <a:xfrm>
            <a:off x="831086" y="1834083"/>
            <a:ext cx="238646" cy="238646"/>
          </a:xfrm>
          <a:prstGeom prst="roundRect">
            <a:avLst>
              <a:gd name="adj" fmla="val 18670"/>
            </a:avLst>
          </a:prstGeom>
          <a:solidFill>
            <a:srgbClr val="542C49"/>
          </a:solidFill>
          <a:ln w="4763">
            <a:solidFill>
              <a:srgbClr val="6D4562"/>
            </a:solidFill>
            <a:prstDash val="solid"/>
          </a:ln>
        </p:spPr>
        <p:txBody>
          <a:bodyPr/>
          <a:lstStyle/>
          <a:p>
            <a:endParaRPr lang="en-US" sz="2400">
              <a:latin typeface="Times New Roman" panose="02020603050405020304" pitchFamily="18" charset="0"/>
              <a:cs typeface="Times New Roman" panose="02020603050405020304" pitchFamily="18" charset="0"/>
            </a:endParaRPr>
          </a:p>
        </p:txBody>
      </p:sp>
      <p:sp>
        <p:nvSpPr>
          <p:cNvPr id="9" name="Text 7"/>
          <p:cNvSpPr/>
          <p:nvPr/>
        </p:nvSpPr>
        <p:spPr>
          <a:xfrm>
            <a:off x="879678" y="1864965"/>
            <a:ext cx="141387" cy="176808"/>
          </a:xfrm>
          <a:prstGeom prst="rect">
            <a:avLst/>
          </a:prstGeom>
          <a:noFill/>
          <a:ln/>
        </p:spPr>
        <p:txBody>
          <a:bodyPr wrap="none" lIns="0" tIns="0" rIns="0" bIns="0" rtlCol="0" anchor="ctr"/>
          <a:lstStyle/>
          <a:p>
            <a:pPr marL="0" indent="0" algn="ctr">
              <a:buNone/>
            </a:pPr>
            <a:r>
              <a:rPr lang="en-US" sz="1400" dirty="0">
                <a:solidFill>
                  <a:srgbClr val="DAD8E9"/>
                </a:solidFill>
                <a:latin typeface="Times New Roman" panose="02020603050405020304" pitchFamily="18" charset="0"/>
                <a:ea typeface="Prompt Medium" pitchFamily="34" charset="-122"/>
                <a:cs typeface="Times New Roman" panose="02020603050405020304" pitchFamily="18" charset="0"/>
              </a:rPr>
              <a:t>2</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1142658" y="1801267"/>
            <a:ext cx="1931491" cy="147340"/>
          </a:xfrm>
          <a:prstGeom prst="rect">
            <a:avLst/>
          </a:prstGeom>
          <a:noFill/>
          <a:ln/>
        </p:spPr>
        <p:txBody>
          <a:bodyPr wrap="none" lIns="0" tIns="0" rIns="0" bIns="0" rtlCol="0" anchor="t"/>
          <a:lstStyle/>
          <a:p>
            <a:pPr marL="0" indent="0" algn="l">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Existing solutions are inadequate</a:t>
            </a:r>
            <a:endParaRPr lang="en-US" sz="1050" dirty="0">
              <a:latin typeface="Times New Roman" panose="02020603050405020304" pitchFamily="18" charset="0"/>
              <a:cs typeface="Times New Roman" panose="02020603050405020304" pitchFamily="18" charset="0"/>
            </a:endParaRPr>
          </a:p>
        </p:txBody>
      </p:sp>
      <p:sp>
        <p:nvSpPr>
          <p:cNvPr id="11" name="Text 9"/>
          <p:cNvSpPr/>
          <p:nvPr/>
        </p:nvSpPr>
        <p:spPr>
          <a:xfrm>
            <a:off x="1142658" y="1968473"/>
            <a:ext cx="7269822" cy="286494"/>
          </a:xfrm>
          <a:prstGeom prst="rect">
            <a:avLst/>
          </a:prstGeom>
          <a:noFill/>
          <a:ln/>
        </p:spPr>
        <p:txBody>
          <a:bodyPr wrap="square" lIns="0" tIns="0" rIns="0" bIns="0" rtlCol="0" anchor="t"/>
          <a:lstStyle/>
          <a:p>
            <a:pPr marL="0" indent="0" algn="l">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Too expensive for SMBs and individuals, too resource-heavy for standard hardware, or too generic to provide meaningful personalized protection.</a:t>
            </a:r>
            <a:endParaRPr lang="en-US" sz="1000" dirty="0">
              <a:latin typeface="Times New Roman" panose="02020603050405020304" pitchFamily="18" charset="0"/>
              <a:cs typeface="Times New Roman" panose="02020603050405020304" pitchFamily="18" charset="0"/>
            </a:endParaRPr>
          </a:p>
        </p:txBody>
      </p:sp>
      <p:sp>
        <p:nvSpPr>
          <p:cNvPr id="12" name="Shape 10"/>
          <p:cNvSpPr/>
          <p:nvPr/>
        </p:nvSpPr>
        <p:spPr>
          <a:xfrm>
            <a:off x="831086" y="2493987"/>
            <a:ext cx="238646" cy="238646"/>
          </a:xfrm>
          <a:prstGeom prst="roundRect">
            <a:avLst>
              <a:gd name="adj" fmla="val 18670"/>
            </a:avLst>
          </a:prstGeom>
          <a:solidFill>
            <a:srgbClr val="542C49"/>
          </a:solidFill>
          <a:ln w="4763">
            <a:solidFill>
              <a:srgbClr val="6D4562"/>
            </a:solidFill>
            <a:prstDash val="solid"/>
          </a:ln>
        </p:spPr>
        <p:txBody>
          <a:bodyPr/>
          <a:lstStyle/>
          <a:p>
            <a:endParaRPr lang="en-US" sz="2400">
              <a:latin typeface="Times New Roman" panose="02020603050405020304" pitchFamily="18" charset="0"/>
              <a:cs typeface="Times New Roman" panose="02020603050405020304" pitchFamily="18" charset="0"/>
            </a:endParaRPr>
          </a:p>
        </p:txBody>
      </p:sp>
      <p:sp>
        <p:nvSpPr>
          <p:cNvPr id="13" name="Text 11"/>
          <p:cNvSpPr/>
          <p:nvPr/>
        </p:nvSpPr>
        <p:spPr>
          <a:xfrm>
            <a:off x="879678" y="2524869"/>
            <a:ext cx="141387" cy="176808"/>
          </a:xfrm>
          <a:prstGeom prst="rect">
            <a:avLst/>
          </a:prstGeom>
          <a:noFill/>
          <a:ln/>
        </p:spPr>
        <p:txBody>
          <a:bodyPr wrap="none" lIns="0" tIns="0" rIns="0" bIns="0" rtlCol="0" anchor="ctr"/>
          <a:lstStyle/>
          <a:p>
            <a:pPr marL="0" indent="0" algn="ctr">
              <a:buNone/>
            </a:pPr>
            <a:r>
              <a:rPr lang="en-US" sz="1400" dirty="0">
                <a:solidFill>
                  <a:srgbClr val="DAD8E9"/>
                </a:solidFill>
                <a:latin typeface="Times New Roman" panose="02020603050405020304" pitchFamily="18" charset="0"/>
                <a:ea typeface="Prompt Medium" pitchFamily="34" charset="-122"/>
                <a:cs typeface="Times New Roman" panose="02020603050405020304" pitchFamily="18" charset="0"/>
              </a:rPr>
              <a:t>3</a:t>
            </a:r>
            <a:endParaRPr lang="en-US" sz="1400" dirty="0">
              <a:latin typeface="Times New Roman" panose="02020603050405020304" pitchFamily="18" charset="0"/>
              <a:cs typeface="Times New Roman" panose="02020603050405020304" pitchFamily="18" charset="0"/>
            </a:endParaRPr>
          </a:p>
        </p:txBody>
      </p:sp>
      <p:sp>
        <p:nvSpPr>
          <p:cNvPr id="14" name="Text 12"/>
          <p:cNvSpPr/>
          <p:nvPr/>
        </p:nvSpPr>
        <p:spPr>
          <a:xfrm>
            <a:off x="1142658" y="2451199"/>
            <a:ext cx="2717676" cy="147340"/>
          </a:xfrm>
          <a:prstGeom prst="rect">
            <a:avLst/>
          </a:prstGeom>
          <a:noFill/>
          <a:ln/>
        </p:spPr>
        <p:txBody>
          <a:bodyPr wrap="none" lIns="0" tIns="0" rIns="0" bIns="0" rtlCol="0" anchor="t"/>
          <a:lstStyle/>
          <a:p>
            <a:pPr marL="0" indent="0" algn="l">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Our system addresses all three identified gaps</a:t>
            </a:r>
            <a:endParaRPr lang="en-US" sz="1050" dirty="0">
              <a:latin typeface="Times New Roman" panose="02020603050405020304" pitchFamily="18" charset="0"/>
              <a:cs typeface="Times New Roman" panose="02020603050405020304" pitchFamily="18" charset="0"/>
            </a:endParaRPr>
          </a:p>
        </p:txBody>
      </p:sp>
      <p:sp>
        <p:nvSpPr>
          <p:cNvPr id="15" name="Text 13"/>
          <p:cNvSpPr/>
          <p:nvPr/>
        </p:nvSpPr>
        <p:spPr>
          <a:xfrm>
            <a:off x="1142658" y="2613273"/>
            <a:ext cx="7025982" cy="286494"/>
          </a:xfrm>
          <a:prstGeom prst="rect">
            <a:avLst/>
          </a:prstGeom>
          <a:noFill/>
          <a:ln/>
        </p:spPr>
        <p:txBody>
          <a:bodyPr wrap="square" lIns="0" tIns="0" rIns="0" bIns="0" rtlCol="0" anchor="t"/>
          <a:lstStyle/>
          <a:p>
            <a:pPr marL="0" indent="0" algn="l">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Technically justified, lightweight architecture — DistilBERT for detection, adaptive profiling for awareness, and a sandboxed CNN pipeline for image analysis.</a:t>
            </a:r>
            <a:endParaRPr lang="en-US" sz="1000" dirty="0">
              <a:latin typeface="Times New Roman" panose="02020603050405020304" pitchFamily="18" charset="0"/>
              <a:cs typeface="Times New Roman" panose="02020603050405020304" pitchFamily="18" charset="0"/>
            </a:endParaRPr>
          </a:p>
        </p:txBody>
      </p:sp>
      <p:sp>
        <p:nvSpPr>
          <p:cNvPr id="16" name="Shape 14"/>
          <p:cNvSpPr/>
          <p:nvPr/>
        </p:nvSpPr>
        <p:spPr>
          <a:xfrm>
            <a:off x="831086" y="3153891"/>
            <a:ext cx="238646" cy="238646"/>
          </a:xfrm>
          <a:prstGeom prst="roundRect">
            <a:avLst>
              <a:gd name="adj" fmla="val 18670"/>
            </a:avLst>
          </a:prstGeom>
          <a:solidFill>
            <a:srgbClr val="542C49"/>
          </a:solidFill>
          <a:ln w="4763">
            <a:solidFill>
              <a:srgbClr val="6D4562"/>
            </a:solidFill>
            <a:prstDash val="solid"/>
          </a:ln>
        </p:spPr>
        <p:txBody>
          <a:bodyPr/>
          <a:lstStyle/>
          <a:p>
            <a:endParaRPr lang="en-US" sz="2400">
              <a:latin typeface="Times New Roman" panose="02020603050405020304" pitchFamily="18" charset="0"/>
              <a:cs typeface="Times New Roman" panose="02020603050405020304" pitchFamily="18" charset="0"/>
            </a:endParaRPr>
          </a:p>
        </p:txBody>
      </p:sp>
      <p:sp>
        <p:nvSpPr>
          <p:cNvPr id="17" name="Text 15"/>
          <p:cNvSpPr/>
          <p:nvPr/>
        </p:nvSpPr>
        <p:spPr>
          <a:xfrm>
            <a:off x="879678" y="3184773"/>
            <a:ext cx="141387" cy="176808"/>
          </a:xfrm>
          <a:prstGeom prst="rect">
            <a:avLst/>
          </a:prstGeom>
          <a:noFill/>
          <a:ln/>
        </p:spPr>
        <p:txBody>
          <a:bodyPr wrap="none" lIns="0" tIns="0" rIns="0" bIns="0" rtlCol="0" anchor="ctr"/>
          <a:lstStyle/>
          <a:p>
            <a:pPr marL="0" indent="0" algn="ctr">
              <a:buNone/>
            </a:pPr>
            <a:r>
              <a:rPr lang="en-US" sz="1400" dirty="0">
                <a:solidFill>
                  <a:srgbClr val="DAD8E9"/>
                </a:solidFill>
                <a:latin typeface="Times New Roman" panose="02020603050405020304" pitchFamily="18" charset="0"/>
                <a:ea typeface="Prompt Medium" pitchFamily="34" charset="-122"/>
                <a:cs typeface="Times New Roman" panose="02020603050405020304" pitchFamily="18" charset="0"/>
              </a:rPr>
              <a:t>4</a:t>
            </a:r>
            <a:endParaRPr lang="en-US" sz="1400" dirty="0">
              <a:latin typeface="Times New Roman" panose="02020603050405020304" pitchFamily="18" charset="0"/>
              <a:cs typeface="Times New Roman" panose="02020603050405020304" pitchFamily="18" charset="0"/>
            </a:endParaRPr>
          </a:p>
        </p:txBody>
      </p:sp>
      <p:sp>
        <p:nvSpPr>
          <p:cNvPr id="18" name="Text 16"/>
          <p:cNvSpPr/>
          <p:nvPr/>
        </p:nvSpPr>
        <p:spPr>
          <a:xfrm>
            <a:off x="1142658" y="3082082"/>
            <a:ext cx="1758107" cy="147340"/>
          </a:xfrm>
          <a:prstGeom prst="rect">
            <a:avLst/>
          </a:prstGeom>
          <a:noFill/>
          <a:ln/>
        </p:spPr>
        <p:txBody>
          <a:bodyPr wrap="none" lIns="0" tIns="0" rIns="0" bIns="0" rtlCol="0" anchor="t"/>
          <a:lstStyle/>
          <a:p>
            <a:pPr marL="0" indent="0" algn="l">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Designed for the underserved</a:t>
            </a:r>
            <a:endParaRPr lang="en-US" sz="1050" dirty="0">
              <a:latin typeface="Times New Roman" panose="02020603050405020304" pitchFamily="18" charset="0"/>
              <a:cs typeface="Times New Roman" panose="02020603050405020304" pitchFamily="18" charset="0"/>
            </a:endParaRPr>
          </a:p>
        </p:txBody>
      </p:sp>
      <p:sp>
        <p:nvSpPr>
          <p:cNvPr id="19" name="Text 17"/>
          <p:cNvSpPr/>
          <p:nvPr/>
        </p:nvSpPr>
        <p:spPr>
          <a:xfrm>
            <a:off x="1142658" y="3267223"/>
            <a:ext cx="6194896" cy="143247"/>
          </a:xfrm>
          <a:prstGeom prst="rect">
            <a:avLst/>
          </a:prstGeom>
          <a:noFill/>
          <a:ln/>
        </p:spPr>
        <p:txBody>
          <a:bodyPr wrap="none" lIns="0" tIns="0" rIns="0" bIns="0" rtlCol="0" anchor="t"/>
          <a:lstStyle/>
          <a:p>
            <a:pPr marL="0" indent="0" algn="l">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Individuals, SMBs, and non-technical users — who are most affected and least protected.</a:t>
            </a:r>
            <a:endParaRPr lang="en-US" sz="1000" dirty="0">
              <a:latin typeface="Times New Roman" panose="02020603050405020304" pitchFamily="18" charset="0"/>
              <a:cs typeface="Times New Roman" panose="02020603050405020304" pitchFamily="18" charset="0"/>
            </a:endParaRPr>
          </a:p>
        </p:txBody>
      </p:sp>
      <p:sp>
        <p:nvSpPr>
          <p:cNvPr id="20" name="Shape 18"/>
          <p:cNvSpPr/>
          <p:nvPr/>
        </p:nvSpPr>
        <p:spPr>
          <a:xfrm>
            <a:off x="831086" y="3670548"/>
            <a:ext cx="238646" cy="238646"/>
          </a:xfrm>
          <a:prstGeom prst="roundRect">
            <a:avLst>
              <a:gd name="adj" fmla="val 18670"/>
            </a:avLst>
          </a:prstGeom>
          <a:solidFill>
            <a:srgbClr val="542C49"/>
          </a:solidFill>
          <a:ln w="4763">
            <a:solidFill>
              <a:srgbClr val="6D4562"/>
            </a:solidFill>
            <a:prstDash val="solid"/>
          </a:ln>
        </p:spPr>
        <p:txBody>
          <a:bodyPr/>
          <a:lstStyle/>
          <a:p>
            <a:endParaRPr lang="en-US" sz="2400">
              <a:latin typeface="Times New Roman" panose="02020603050405020304" pitchFamily="18" charset="0"/>
              <a:cs typeface="Times New Roman" panose="02020603050405020304" pitchFamily="18" charset="0"/>
            </a:endParaRPr>
          </a:p>
        </p:txBody>
      </p:sp>
      <p:sp>
        <p:nvSpPr>
          <p:cNvPr id="21" name="Text 19"/>
          <p:cNvSpPr/>
          <p:nvPr/>
        </p:nvSpPr>
        <p:spPr>
          <a:xfrm>
            <a:off x="879678" y="3701430"/>
            <a:ext cx="141387" cy="176808"/>
          </a:xfrm>
          <a:prstGeom prst="rect">
            <a:avLst/>
          </a:prstGeom>
          <a:noFill/>
          <a:ln/>
        </p:spPr>
        <p:txBody>
          <a:bodyPr wrap="none" lIns="0" tIns="0" rIns="0" bIns="0" rtlCol="0" anchor="ctr"/>
          <a:lstStyle/>
          <a:p>
            <a:pPr marL="0" indent="0" algn="ctr">
              <a:buNone/>
            </a:pPr>
            <a:r>
              <a:rPr lang="en-US" sz="1400" dirty="0">
                <a:solidFill>
                  <a:srgbClr val="DAD8E9"/>
                </a:solidFill>
                <a:latin typeface="Times New Roman" panose="02020603050405020304" pitchFamily="18" charset="0"/>
                <a:ea typeface="Prompt Medium" pitchFamily="34" charset="-122"/>
                <a:cs typeface="Times New Roman" panose="02020603050405020304" pitchFamily="18" charset="0"/>
              </a:rPr>
              <a:t>5</a:t>
            </a:r>
            <a:endParaRPr lang="en-US" sz="1400" dirty="0">
              <a:latin typeface="Times New Roman" panose="02020603050405020304" pitchFamily="18" charset="0"/>
              <a:cs typeface="Times New Roman" panose="02020603050405020304" pitchFamily="18" charset="0"/>
            </a:endParaRPr>
          </a:p>
        </p:txBody>
      </p:sp>
      <p:sp>
        <p:nvSpPr>
          <p:cNvPr id="22" name="Text 20"/>
          <p:cNvSpPr/>
          <p:nvPr/>
        </p:nvSpPr>
        <p:spPr>
          <a:xfrm>
            <a:off x="1142658" y="3617712"/>
            <a:ext cx="1178719" cy="147340"/>
          </a:xfrm>
          <a:prstGeom prst="rect">
            <a:avLst/>
          </a:prstGeom>
          <a:noFill/>
          <a:ln/>
        </p:spPr>
        <p:txBody>
          <a:bodyPr wrap="none" lIns="0" tIns="0" rIns="0" bIns="0" rtlCol="0" anchor="t"/>
          <a:lstStyle/>
          <a:p>
            <a:pPr marL="0" indent="0" algn="l">
              <a:buNone/>
            </a:pPr>
            <a:r>
              <a:rPr lang="en-US" sz="1050" dirty="0">
                <a:solidFill>
                  <a:srgbClr val="DAD8E9"/>
                </a:solidFill>
                <a:latin typeface="Times New Roman" panose="02020603050405020304" pitchFamily="18" charset="0"/>
                <a:ea typeface="Prompt Medium" pitchFamily="34" charset="-122"/>
                <a:cs typeface="Times New Roman" panose="02020603050405020304" pitchFamily="18" charset="0"/>
              </a:rPr>
              <a:t>Novel contributions</a:t>
            </a:r>
            <a:endParaRPr lang="en-US" sz="1050" dirty="0">
              <a:latin typeface="Times New Roman" panose="02020603050405020304" pitchFamily="18" charset="0"/>
              <a:cs typeface="Times New Roman" panose="02020603050405020304" pitchFamily="18" charset="0"/>
            </a:endParaRPr>
          </a:p>
        </p:txBody>
      </p:sp>
      <p:sp>
        <p:nvSpPr>
          <p:cNvPr id="23" name="Text 21"/>
          <p:cNvSpPr/>
          <p:nvPr/>
        </p:nvSpPr>
        <p:spPr>
          <a:xfrm>
            <a:off x="1142658" y="3799063"/>
            <a:ext cx="7384122" cy="429741"/>
          </a:xfrm>
          <a:prstGeom prst="rect">
            <a:avLst/>
          </a:prstGeom>
          <a:noFill/>
          <a:ln/>
        </p:spPr>
        <p:txBody>
          <a:bodyPr wrap="square" lIns="0" tIns="0" rIns="0" bIns="0" rtlCol="0" anchor="t"/>
          <a:lstStyle/>
          <a:p>
            <a:pPr marL="0" indent="0" algn="l">
              <a:buNone/>
            </a:pPr>
            <a:r>
              <a:rPr lang="en-US" sz="1000" dirty="0">
                <a:solidFill>
                  <a:srgbClr val="DAD8E9"/>
                </a:solidFill>
                <a:latin typeface="Times New Roman" panose="02020603050405020304" pitchFamily="18" charset="0"/>
                <a:ea typeface="Mukta Light" pitchFamily="34" charset="-122"/>
                <a:cs typeface="Times New Roman" panose="02020603050405020304" pitchFamily="18" charset="0"/>
              </a:rPr>
              <a:t>The adaptive awareness component is a novel contribution — no comparable lightweight tool personalizes threat education based on individual user behavior history. The pre-download image scanning pipeline is a first-of-its-kind lightweight capability — stopping threats before they reach the endpoint, not after.</a:t>
            </a:r>
            <a:endParaRPr lang="en-US" sz="1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A925752B-DC5B-0031-F419-8647F514185D}"/>
              </a:ext>
            </a:extLst>
          </p:cNvPr>
          <p:cNvSpPr txBox="1"/>
          <p:nvPr/>
        </p:nvSpPr>
        <p:spPr>
          <a:xfrm>
            <a:off x="8016241" y="4755758"/>
            <a:ext cx="1112520" cy="369332"/>
          </a:xfrm>
          <a:prstGeom prst="rect">
            <a:avLst/>
          </a:prstGeom>
          <a:solidFill>
            <a:srgbClr val="0A0B21"/>
          </a:solidFill>
        </p:spPr>
        <p:txBody>
          <a:bodyPr wrap="square" rtlCol="0">
            <a:spAutoFit/>
          </a:bodyPr>
          <a:lstStyle/>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A905E0-5FAC-127E-BF1D-5FF3AE164AA3}"/>
              </a:ext>
            </a:extLst>
          </p:cNvPr>
          <p:cNvSpPr txBox="1"/>
          <p:nvPr/>
        </p:nvSpPr>
        <p:spPr>
          <a:xfrm>
            <a:off x="8016241" y="4755758"/>
            <a:ext cx="1112520" cy="369332"/>
          </a:xfrm>
          <a:prstGeom prst="rect">
            <a:avLst/>
          </a:prstGeom>
          <a:solidFill>
            <a:srgbClr val="0A0B21"/>
          </a:solidFill>
        </p:spPr>
        <p:txBody>
          <a:bodyPr wrap="square" rtlCol="0">
            <a:spAutoFit/>
          </a:bodyPr>
          <a:lstStyle/>
          <a:p>
            <a:endParaRPr lang="en-US" dirty="0"/>
          </a:p>
        </p:txBody>
      </p:sp>
      <p:sp>
        <p:nvSpPr>
          <p:cNvPr id="4" name="TextBox 3">
            <a:extLst>
              <a:ext uri="{FF2B5EF4-FFF2-40B4-BE49-F238E27FC236}">
                <a16:creationId xmlns:a16="http://schemas.microsoft.com/office/drawing/2014/main" id="{C16FB4CD-79D2-8177-5B1C-420BC449D10E}"/>
              </a:ext>
            </a:extLst>
          </p:cNvPr>
          <p:cNvSpPr txBox="1"/>
          <p:nvPr/>
        </p:nvSpPr>
        <p:spPr>
          <a:xfrm>
            <a:off x="2541270" y="1920240"/>
            <a:ext cx="4061460" cy="923330"/>
          </a:xfrm>
          <a:prstGeom prst="rect">
            <a:avLst/>
          </a:prstGeom>
          <a:noFill/>
        </p:spPr>
        <p:txBody>
          <a:bodyPr wrap="square" rtlCol="0">
            <a:spAutoFit/>
          </a:bodyPr>
          <a:lstStyle/>
          <a:p>
            <a:r>
              <a:rPr lang="en-US" sz="5400" dirty="0">
                <a:solidFill>
                  <a:schemeClr val="bg1"/>
                </a:solidFill>
                <a:latin typeface="Times New Roman" panose="02020603050405020304" pitchFamily="18" charset="0"/>
                <a:cs typeface="Times New Roman" panose="02020603050405020304" pitchFamily="18" charset="0"/>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C351CF19874D54390B54B723E8A2D43" ma:contentTypeVersion="12" ma:contentTypeDescription="Create a new document." ma:contentTypeScope="" ma:versionID="1b463a5cf12690795c70ca22925accb2">
  <xsd:schema xmlns:xsd="http://www.w3.org/2001/XMLSchema" xmlns:xs="http://www.w3.org/2001/XMLSchema" xmlns:p="http://schemas.microsoft.com/office/2006/metadata/properties" xmlns:ns2="5aad1aa7-8ede-435c-b3a7-ac11bacaeb50" xmlns:ns3="db72c12f-87a4-44ab-bbc5-4cc8306b158a" targetNamespace="http://schemas.microsoft.com/office/2006/metadata/properties" ma:root="true" ma:fieldsID="8257c98c4c60cf9cc366d29f7e570d5e" ns2:_="" ns3:_="">
    <xsd:import namespace="5aad1aa7-8ede-435c-b3a7-ac11bacaeb50"/>
    <xsd:import namespace="db72c12f-87a4-44ab-bbc5-4cc8306b158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ad1aa7-8ede-435c-b3a7-ac11bacaeb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c8a686f-bba2-44f2-819b-edf0b3003fb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b72c12f-87a4-44ab-bbc5-4cc8306b158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a90b710-f748-4220-b362-4102ae550bf9}" ma:internalName="TaxCatchAll" ma:showField="CatchAllData" ma:web="db72c12f-87a4-44ab-bbc5-4cc8306b15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b72c12f-87a4-44ab-bbc5-4cc8306b158a" xsi:nil="true"/>
    <lcf76f155ced4ddcb4097134ff3c332f xmlns="5aad1aa7-8ede-435c-b3a7-ac11bacaeb5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2AB0F00-82AA-4C18-BC4B-EC14A5CEDF0F}">
  <ds:schemaRefs>
    <ds:schemaRef ds:uri="http://schemas.microsoft.com/sharepoint/v3/contenttype/forms"/>
  </ds:schemaRefs>
</ds:datastoreItem>
</file>

<file path=customXml/itemProps2.xml><?xml version="1.0" encoding="utf-8"?>
<ds:datastoreItem xmlns:ds="http://schemas.openxmlformats.org/officeDocument/2006/customXml" ds:itemID="{AA29BF82-F516-4C4F-A136-024AD9191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ad1aa7-8ede-435c-b3a7-ac11bacaeb50"/>
    <ds:schemaRef ds:uri="db72c12f-87a4-44ab-bbc5-4cc8306b15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E41DD4E-3E0F-4D04-98E0-68A8421C15FE}">
  <ds:schemaRefs>
    <ds:schemaRef ds:uri="http://schemas.microsoft.com/office/2006/metadata/properties"/>
    <ds:schemaRef ds:uri="http://schemas.microsoft.com/office/infopath/2007/PartnerControls"/>
    <ds:schemaRef ds:uri="db72c12f-87a4-44ab-bbc5-4cc8306b158a"/>
    <ds:schemaRef ds:uri="5aad1aa7-8ede-435c-b3a7-ac11bacaeb50"/>
  </ds:schemaRefs>
</ds:datastoreItem>
</file>

<file path=docProps/app.xml><?xml version="1.0" encoding="utf-8"?>
<Properties xmlns="http://schemas.openxmlformats.org/officeDocument/2006/extended-properties" xmlns:vt="http://schemas.openxmlformats.org/officeDocument/2006/docPropsVTypes">
  <TotalTime>380</TotalTime>
  <Words>2671</Words>
  <Application>Microsoft Office PowerPoint</Application>
  <PresentationFormat>On-screen Show (16:9)</PresentationFormat>
  <Paragraphs>277</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Visini</dc:creator>
  <cp:lastModifiedBy>VIDARA S V it22299048</cp:lastModifiedBy>
  <cp:revision>49</cp:revision>
  <dcterms:created xsi:type="dcterms:W3CDTF">2026-05-15T09:53:15Z</dcterms:created>
  <dcterms:modified xsi:type="dcterms:W3CDTF">2026-05-15T16:18:17Z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0x0101003C351CF19874D54390B54B723E8A2D43</vt:lpwstr>
  </property>
  <property fmtid="{D5CDD505-2E9C-101B-9397-08002B2CF9AE}" pid="3" name="MediaServiceImageTags">
    <vt:lpwstr/>
  </property>
</Properties>
</file>